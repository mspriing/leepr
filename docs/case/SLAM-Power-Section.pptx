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scale. Phase 1 is 480 MW, about 7% of the capacity PJM could not find in its last auction. The full campus would be 29% of that gap, and households already pay for it, since data centers drove 46% of capacity charges in the last four auctions. So we commit to phase 1 now and build later phases only when PJM adds supply and the clean step is on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supply options the case lists, priced per MWh for phase 1. Grid only is $93.60. The hybrid adds clean energy contracts for the state's 32% clean step and a 4-hour battery for grid emergencies, which brings it to $113.60. The customer asked for reliable power and progress on its carbon goals, so the $84M a year premium sits in its 20-year power contract rather than on households.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Gas is the obvious objection, so we answer it directly. At the forecast gas price, onsite engines cost $67 per MWh. At the price Pennsylvania industrial users actually paid in 2024, the same plant costs $112, about what the hybrid costs. Gas also emits 62% more CO2 than the grid, fails the 2035 clean step, and puts engines next to the homes that asked for emission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settles the case's hardest conflict. PJM wants the campus to cut load in an emergency, and the customer says continuous operation is essential. The battery lets Ironwood drop its grid draw to zero while it keeps running. Last summer PJM's emergencies in this zone lasted 3 to 7 hours. The battery covers the whole campus for 4 hours, or the critical half for 8, so only flexible training jobs ever pause, and that limit goes in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asks who pays if demand projections change. Pennsylvania's model tariff answers most of it: a large load pays for upgrades built because of it, keeps paying 80% of its contracted demand even if it uses less, posts collateral, and pays an exit fee if it leaves. The tariff is only guidance, so utilities do not have to use it. We would have KGE sign those terms with Met-Ed anyway, which keeps the cost off households and the 600-person manufacturer.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if a judge asks how sure we are. Grid price moves grid power and the hybrid by the same amount, so the gap between them does not change. The premium only moves with the wholesale price, the battery cost, the clean contract price and the capacity price, and it stays between about $11 and $25 per MWh.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in the power section traces to this table. The model and its sources are in the leepr repository, so any figure can be checked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229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241280" cy="1280160"/>
          </a:xfrm>
          <a:prstGeom prst="rect">
            <a:avLst/>
          </a:prstGeom>
          <a:noFill/>
          <a:ln/>
        </p:spPr>
        <p:txBody>
          <a:bodyPr wrap="square" rtlCol="0"/>
          <a:lstStyle>
            <a:lvl1pPr algn="l" indent="0" marL="0">
              <a:buNone/>
              <a:defRPr lang="en-US" sz="4400" b="1" dirty="0">
                <a:solidFill>
                  <a:srgbClr val="FFFFFF"/>
                </a:solidFill>
                <a:latin typeface="Arial" pitchFamily="34" charset="0"/>
                <a:ea typeface="Arial" pitchFamily="34" charset="-122"/>
                <a:cs typeface="Arial" pitchFamily="34" charset="-120"/>
              </a:defRPr>
            </a:lvl1pPr>
          </a:lstStyle>
          <a:p>
            <a:pPr algn="l" indent="0" marL="0">
              <a:buNone/>
            </a:pPr>
            <a:r>
              <a:rPr lang="en-US" sz="4400" b="1" dirty="0">
                <a:solidFill>
                  <a:srgbClr val="FFFFFF"/>
                </a:solidFill>
                <a:latin typeface="Arial" pitchFamily="34" charset="0"/>
                <a:ea typeface="Arial" pitchFamily="34" charset="-122"/>
                <a:cs typeface="Arial" pitchFamily="34" charset="-120"/>
              </a:rPr>
              <a:t>Title</a:t>
            </a:r>
            <a:endParaRPr lang="en-US" sz="4400" dirty="0"/>
          </a:p>
        </p:txBody>
      </p:sp>
      <p:sp>
        <p:nvSpPr>
          <p:cNvPr id="3" name="Text 0"/>
          <p:cNvSpPr/>
          <p:nvPr>
            <p:ph idx="101" type="body" hasCustomPrompt="1"/>
          </p:nvPr>
        </p:nvSpPr>
        <p:spPr>
          <a:xfrm>
            <a:off x="731520" y="3611880"/>
            <a:ext cx="10241280" cy="640080"/>
          </a:xfrm>
          <a:prstGeom prst="rect">
            <a:avLst/>
          </a:prstGeom>
          <a:noFill/>
          <a:ln/>
        </p:spPr>
        <p:txBody>
          <a:bodyPr wrap="square" rtlCol="0"/>
          <a:lstStyle>
            <a:lvl1pPr algn="l" indent="0" marL="0">
              <a:buNone/>
              <a:defRPr lang="en-US" sz="2000" dirty="0">
                <a:solidFill>
                  <a:srgbClr val="B8C4D3"/>
                </a:solidFill>
                <a:latin typeface="Arial" pitchFamily="34" charset="0"/>
                <a:ea typeface="Arial" pitchFamily="34" charset="-122"/>
                <a:cs typeface="Arial" pitchFamily="34" charset="-120"/>
              </a:defRPr>
            </a:lvl1pPr>
          </a:lstStyle>
          <a:p>
            <a:pPr algn="l" indent="0" marL="0">
              <a:buNone/>
            </a:pPr>
            <a:r>
              <a:rPr lang="en-US" sz="2000" dirty="0">
                <a:solidFill>
                  <a:srgbClr val="B8C4D3"/>
                </a:solidFill>
                <a:latin typeface="Arial" pitchFamily="34" charset="0"/>
                <a:ea typeface="Arial" pitchFamily="34" charset="-122"/>
                <a:cs typeface="Arial" pitchFamily="34" charset="-120"/>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294A"/>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rtlCol="0"/>
          <a:lstStyle>
            <a:lvl1pPr algn="l" indent="0" marL="0">
              <a:buNone/>
              <a:defRPr lang="en-US" sz="2200" b="1" dirty="0">
                <a:solidFill>
                  <a:srgbClr val="1E2329"/>
                </a:solidFill>
                <a:latin typeface="Arial" pitchFamily="34" charset="0"/>
                <a:ea typeface="Arial" pitchFamily="34" charset="-122"/>
                <a:cs typeface="Arial" pitchFamily="34" charset="-120"/>
              </a:defRPr>
            </a:lvl1pPr>
          </a:lstStyle>
          <a:p>
            <a:pPr algn="l" indent="0" marL="0">
              <a:buNone/>
            </a:pPr>
            <a:r>
              <a:rPr lang="en-US" sz="2200" b="1" dirty="0">
                <a:solidFill>
                  <a:srgbClr val="1E2329"/>
                </a:solidFill>
                <a:latin typeface="Arial" pitchFamily="34" charset="0"/>
                <a:ea typeface="Arial" pitchFamily="34" charset="-122"/>
                <a:cs typeface="Arial" pitchFamily="34" charset="-120"/>
              </a:rPr>
              <a:t>Action title</a:t>
            </a:r>
            <a:endParaRPr lang="en-US" sz="2200" dirty="0"/>
          </a:p>
        </p:txBody>
      </p:sp>
      <p:sp>
        <p:nvSpPr>
          <p:cNvPr id="3" name="Text 0"/>
          <p:cNvSpPr/>
          <p:nvPr/>
        </p:nvSpPr>
        <p:spPr>
          <a:xfrm>
            <a:off x="548640" y="6419088"/>
            <a:ext cx="3657600" cy="228600"/>
          </a:xfrm>
          <a:prstGeom prst="rect">
            <a:avLst/>
          </a:prstGeom>
          <a:noFill/>
          <a:ln/>
        </p:spPr>
        <p:txBody>
          <a:bodyPr wrap="square" lIns="0" tIns="0" rIns="0" bIns="0" rtlCol="0" anchor="ctr"/>
          <a:lstStyle/>
          <a:p>
            <a:pPr indent="0" marL="0">
              <a:buNone/>
            </a:pPr>
            <a:r>
              <a:rPr lang="en-US" sz="900" b="1" dirty="0">
                <a:solidFill>
                  <a:srgbClr val="8B939B"/>
                </a:solidFill>
                <a:latin typeface="Arial" pitchFamily="34" charset="0"/>
                <a:ea typeface="Arial" pitchFamily="34" charset="-122"/>
                <a:cs typeface="Arial" pitchFamily="34" charset="-120"/>
              </a:rPr>
              <a:t>SLAM Consulting</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Phase 1 equals 7% of PJM's capacity shortfall and the full campus 29%, so Ironwood should connect in phases</a:t>
            </a:r>
            <a:endParaRPr lang="en-US" sz="2200" dirty="0"/>
          </a:p>
        </p:txBody>
      </p:sp>
      <p:sp>
        <p:nvSpPr>
          <p:cNvPr id="3" name="Unit line"/>
          <p:cNvSpPr txBox="1"/>
          <p:nvPr/>
        </p:nvSpPr>
        <p:spPr>
          <a:xfrm>
            <a:off x="548640" y="1600200"/>
            <a:ext cx="7223760" cy="274320"/>
          </a:xfrm>
          <a:prstGeom prst="rect">
            <a:avLst/>
          </a:prstGeom>
          <a:noFill/>
          <a:ln/>
        </p:spPr>
        <p:txBody>
          <a:bodyPr wrap="square" lIns="0" tIns="0" rIns="0" bIns="0" rtlCol="0" anchor="t"/>
          <a:lstStyle/>
          <a:p>
            <a:pPr indent="0" marL="0">
              <a:buNone/>
            </a:pPr>
            <a:r>
              <a:rPr lang="en-US" sz="1200" dirty="0">
                <a:solidFill>
                  <a:srgbClr val="56606B"/>
                </a:solidFill>
                <a:latin typeface="Arial" pitchFamily="34" charset="0"/>
                <a:ea typeface="Arial" pitchFamily="34" charset="-122"/>
                <a:cs typeface="Arial" pitchFamily="34" charset="-120"/>
              </a:rPr>
              <a:t>Megawatts, PJM 2028/29 capacity auction</a:t>
            </a:r>
            <a:endParaRPr lang="en-US" sz="1200" dirty="0"/>
          </a:p>
        </p:txBody>
      </p:sp>
      <p:sp>
        <p:nvSpPr>
          <p:cNvPr id="4" name="Text 2"/>
          <p:cNvSpPr txBox="1"/>
          <p:nvPr/>
        </p:nvSpPr>
        <p:spPr>
          <a:xfrm>
            <a:off x="548640" y="2331720"/>
            <a:ext cx="2286000" cy="365760"/>
          </a:xfrm>
          <a:prstGeom prst="rect">
            <a:avLst/>
          </a:prstGeom>
          <a:noFill/>
          <a:ln/>
        </p:spPr>
        <p:txBody>
          <a:bodyPr wrap="square" lIns="0" tIns="0" rIns="0" bIns="0" rtlCol="0" anchor="t"/>
          <a:lstStyle/>
          <a:p>
            <a:pPr indent="0" marL="0">
              <a:buNone/>
            </a:pPr>
            <a:r>
              <a:rPr lang="en-US" sz="1400" dirty="0">
                <a:solidFill>
                  <a:srgbClr val="1E2329"/>
                </a:solidFill>
                <a:latin typeface="Arial" pitchFamily="34" charset="0"/>
                <a:ea typeface="Arial" pitchFamily="34" charset="-122"/>
                <a:cs typeface="Arial" pitchFamily="34" charset="-120"/>
              </a:rPr>
              <a:t>PJM shortfall, 2028/29</a:t>
            </a:r>
            <a:endParaRPr lang="en-US" sz="1400" dirty="0"/>
          </a:p>
        </p:txBody>
      </p:sp>
      <p:sp>
        <p:nvSpPr>
          <p:cNvPr id="5" name="Bar PJM shortfall, 2028/29"/>
          <p:cNvSpPr/>
          <p:nvPr/>
        </p:nvSpPr>
        <p:spPr>
          <a:xfrm>
            <a:off x="2971800" y="2240280"/>
            <a:ext cx="3566160" cy="548640"/>
          </a:xfrm>
          <a:prstGeom prst="rect">
            <a:avLst/>
          </a:prstGeom>
          <a:solidFill>
            <a:srgbClr val="BAC1C8"/>
          </a:solidFill>
          <a:ln/>
        </p:spPr>
      </p:sp>
      <p:sp>
        <p:nvSpPr>
          <p:cNvPr id="6" name="Text 4"/>
          <p:cNvSpPr txBox="1"/>
          <p:nvPr/>
        </p:nvSpPr>
        <p:spPr>
          <a:xfrm>
            <a:off x="6647688" y="2359152"/>
            <a:ext cx="1280160" cy="320040"/>
          </a:xfrm>
          <a:prstGeom prst="rect">
            <a:avLst/>
          </a:prstGeom>
          <a:noFill/>
          <a:ln/>
        </p:spPr>
        <p:txBody>
          <a:bodyPr wrap="square" lIns="0" tIns="0" rIns="0" bIns="0" rtlCol="0" anchor="t"/>
          <a:lstStyle/>
          <a:p>
            <a:pPr indent="0" marL="0">
              <a:buNone/>
            </a:pPr>
            <a:r>
              <a:rPr lang="en-US" sz="1400" b="1" dirty="0">
                <a:solidFill>
                  <a:srgbClr val="1E2329"/>
                </a:solidFill>
                <a:latin typeface="Arial" pitchFamily="34" charset="0"/>
                <a:ea typeface="Arial" pitchFamily="34" charset="-122"/>
                <a:cs typeface="Arial" pitchFamily="34" charset="-120"/>
              </a:rPr>
              <a:t>6,831 MW</a:t>
            </a:r>
            <a:endParaRPr lang="en-US" sz="1400" dirty="0"/>
          </a:p>
        </p:txBody>
      </p:sp>
      <p:sp>
        <p:nvSpPr>
          <p:cNvPr id="7" name="Text 5"/>
          <p:cNvSpPr txBox="1"/>
          <p:nvPr/>
        </p:nvSpPr>
        <p:spPr>
          <a:xfrm>
            <a:off x="548640" y="3429000"/>
            <a:ext cx="2286000" cy="365760"/>
          </a:xfrm>
          <a:prstGeom prst="rect">
            <a:avLst/>
          </a:prstGeom>
          <a:noFill/>
          <a:ln/>
        </p:spPr>
        <p:txBody>
          <a:bodyPr wrap="square" lIns="0" tIns="0" rIns="0" bIns="0" rtlCol="0" anchor="t"/>
          <a:lstStyle/>
          <a:p>
            <a:pPr indent="0" marL="0">
              <a:buNone/>
            </a:pPr>
            <a:r>
              <a:rPr lang="en-US" sz="1400" dirty="0">
                <a:solidFill>
                  <a:srgbClr val="1E2329"/>
                </a:solidFill>
                <a:latin typeface="Arial" pitchFamily="34" charset="0"/>
                <a:ea typeface="Arial" pitchFamily="34" charset="-122"/>
                <a:cs typeface="Arial" pitchFamily="34" charset="-120"/>
              </a:rPr>
              <a:t>Full Ironwood campus</a:t>
            </a:r>
            <a:endParaRPr lang="en-US" sz="1400" dirty="0"/>
          </a:p>
        </p:txBody>
      </p:sp>
      <p:sp>
        <p:nvSpPr>
          <p:cNvPr id="8" name="Bar Full Ironwood campus"/>
          <p:cNvSpPr/>
          <p:nvPr/>
        </p:nvSpPr>
        <p:spPr>
          <a:xfrm>
            <a:off x="2971800" y="3337560"/>
            <a:ext cx="1044111" cy="548640"/>
          </a:xfrm>
          <a:prstGeom prst="rect">
            <a:avLst/>
          </a:prstGeom>
          <a:solidFill>
            <a:srgbClr val="4A78AD"/>
          </a:solidFill>
          <a:ln/>
        </p:spPr>
      </p:sp>
      <p:sp>
        <p:nvSpPr>
          <p:cNvPr id="9" name="Text 7"/>
          <p:cNvSpPr txBox="1"/>
          <p:nvPr/>
        </p:nvSpPr>
        <p:spPr>
          <a:xfrm>
            <a:off x="4125639" y="3456432"/>
            <a:ext cx="1280160" cy="320040"/>
          </a:xfrm>
          <a:prstGeom prst="rect">
            <a:avLst/>
          </a:prstGeom>
          <a:noFill/>
          <a:ln/>
        </p:spPr>
        <p:txBody>
          <a:bodyPr wrap="square" lIns="0" tIns="0" rIns="0" bIns="0" rtlCol="0" anchor="t"/>
          <a:lstStyle/>
          <a:p>
            <a:pPr indent="0" marL="0">
              <a:buNone/>
            </a:pPr>
            <a:r>
              <a:rPr lang="en-US" sz="1400" b="1" dirty="0">
                <a:solidFill>
                  <a:srgbClr val="1E2329"/>
                </a:solidFill>
                <a:latin typeface="Arial" pitchFamily="34" charset="0"/>
                <a:ea typeface="Arial" pitchFamily="34" charset="-122"/>
                <a:cs typeface="Arial" pitchFamily="34" charset="-120"/>
              </a:rPr>
              <a:t>2,000 MW</a:t>
            </a:r>
            <a:endParaRPr lang="en-US" sz="1400" dirty="0"/>
          </a:p>
        </p:txBody>
      </p:sp>
      <p:sp>
        <p:nvSpPr>
          <p:cNvPr id="10" name="Text 8"/>
          <p:cNvSpPr txBox="1"/>
          <p:nvPr/>
        </p:nvSpPr>
        <p:spPr>
          <a:xfrm>
            <a:off x="548640" y="4526280"/>
            <a:ext cx="2286000" cy="365760"/>
          </a:xfrm>
          <a:prstGeom prst="rect">
            <a:avLst/>
          </a:prstGeom>
          <a:noFill/>
          <a:ln/>
        </p:spPr>
        <p:txBody>
          <a:bodyPr wrap="square" lIns="0" tIns="0" rIns="0" bIns="0" rtlCol="0" anchor="t"/>
          <a:lstStyle/>
          <a:p>
            <a:pPr indent="0" marL="0">
              <a:buNone/>
            </a:pPr>
            <a:r>
              <a:rPr lang="en-US" sz="1400" b="1" dirty="0">
                <a:solidFill>
                  <a:srgbClr val="1E2329"/>
                </a:solidFill>
                <a:latin typeface="Arial" pitchFamily="34" charset="0"/>
                <a:ea typeface="Arial" pitchFamily="34" charset="-122"/>
                <a:cs typeface="Arial" pitchFamily="34" charset="-120"/>
              </a:rPr>
              <a:t>Phase 1</a:t>
            </a:r>
            <a:endParaRPr lang="en-US" sz="1400" dirty="0"/>
          </a:p>
        </p:txBody>
      </p:sp>
      <p:sp>
        <p:nvSpPr>
          <p:cNvPr id="11" name="Bar Phase 1"/>
          <p:cNvSpPr/>
          <p:nvPr/>
        </p:nvSpPr>
        <p:spPr>
          <a:xfrm>
            <a:off x="2971800" y="4434840"/>
            <a:ext cx="250587" cy="548640"/>
          </a:xfrm>
          <a:prstGeom prst="rect">
            <a:avLst/>
          </a:prstGeom>
          <a:solidFill>
            <a:srgbClr val="12294A"/>
          </a:solidFill>
          <a:ln/>
        </p:spPr>
      </p:sp>
      <p:sp>
        <p:nvSpPr>
          <p:cNvPr id="12" name="Text 10"/>
          <p:cNvSpPr txBox="1"/>
          <p:nvPr/>
        </p:nvSpPr>
        <p:spPr>
          <a:xfrm>
            <a:off x="3332115" y="4553712"/>
            <a:ext cx="1280160" cy="320040"/>
          </a:xfrm>
          <a:prstGeom prst="rect">
            <a:avLst/>
          </a:prstGeom>
          <a:noFill/>
          <a:ln/>
        </p:spPr>
        <p:txBody>
          <a:bodyPr wrap="square" lIns="0" tIns="0" rIns="0" bIns="0" rtlCol="0" anchor="t"/>
          <a:lstStyle/>
          <a:p>
            <a:pPr indent="0" marL="0">
              <a:buNone/>
            </a:pPr>
            <a:r>
              <a:rPr lang="en-US" sz="1400" b="1" dirty="0">
                <a:solidFill>
                  <a:srgbClr val="1E2329"/>
                </a:solidFill>
                <a:latin typeface="Arial" pitchFamily="34" charset="0"/>
                <a:ea typeface="Arial" pitchFamily="34" charset="-122"/>
                <a:cs typeface="Arial" pitchFamily="34" charset="-120"/>
              </a:rPr>
              <a:t>480 MW</a:t>
            </a:r>
            <a:endParaRPr lang="en-US" sz="1400" dirty="0"/>
          </a:p>
        </p:txBody>
      </p:sp>
      <p:sp>
        <p:nvSpPr>
          <p:cNvPr id="13" name="Shape 11"/>
          <p:cNvSpPr/>
          <p:nvPr/>
        </p:nvSpPr>
        <p:spPr>
          <a:xfrm>
            <a:off x="2971800" y="2103120"/>
            <a:ext cx="0" cy="3246120"/>
          </a:xfrm>
          <a:prstGeom prst="line">
            <a:avLst/>
          </a:prstGeom>
          <a:noFill/>
          <a:ln w="12700">
            <a:solidFill>
              <a:srgbClr val="BAC1C8"/>
            </a:solidFill>
            <a:prstDash val="solid"/>
          </a:ln>
        </p:spPr>
      </p:sp>
      <p:sp>
        <p:nvSpPr>
          <p:cNvPr id="14" name="Takeaway panel"/>
          <p:cNvSpPr/>
          <p:nvPr/>
        </p:nvSpPr>
        <p:spPr>
          <a:xfrm>
            <a:off x="8001000" y="1600200"/>
            <a:ext cx="3639312" cy="4251960"/>
          </a:xfrm>
          <a:prstGeom prst="rect">
            <a:avLst/>
          </a:prstGeom>
          <a:solidFill>
            <a:srgbClr val="EEF2F7"/>
          </a:solidFill>
          <a:ln/>
        </p:spPr>
      </p:sp>
      <p:sp>
        <p:nvSpPr>
          <p:cNvPr id="15" name="Text 13"/>
          <p:cNvSpPr txBox="1"/>
          <p:nvPr/>
        </p:nvSpPr>
        <p:spPr>
          <a:xfrm>
            <a:off x="8275320" y="1920240"/>
            <a:ext cx="3090672" cy="37033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Phase 1 alone adds about $57M a year in capacity charges at today's auction price</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Data centers drove $29.4B, or 46%, of PJM capacity charges over the last four auctions</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KGE can serve 480 MW after upgrades but cannot yet time or price 2,000 MW</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Each later phase waits for new PJM supply and a clean step on track</a:t>
            </a:r>
            <a:endParaRPr lang="en-US" sz="1400" dirty="0"/>
          </a:p>
        </p:txBody>
      </p:sp>
      <p:sp>
        <p:nvSpPr>
          <p:cNvPr id="16"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B939B"/>
                </a:solidFill>
                <a:latin typeface="Arial" pitchFamily="34" charset="0"/>
                <a:ea typeface="Arial" pitchFamily="34" charset="-122"/>
                <a:cs typeface="Arial" pitchFamily="34" charset="-120"/>
              </a:rPr>
              <a:t>Source: PJM 2028/29 Base Residual Auction report; PJM Independent Market Monitor, 27 July 2026; case packet; SLAM analysis (leepr)</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The hybrid is the only option that meets the 2035 clean step and rides through PJM emergencies, for $20 more per MWh</a:t>
            </a:r>
            <a:endParaRPr lang="en-US" sz="2200" dirty="0"/>
          </a:p>
        </p:txBody>
      </p:sp>
      <p:sp>
        <p:nvSpPr>
          <p:cNvPr id="3" name="Unit line"/>
          <p:cNvSpPr txBox="1"/>
          <p:nvPr/>
        </p:nvSpPr>
        <p:spPr>
          <a:xfrm>
            <a:off x="548640" y="1600200"/>
            <a:ext cx="7223760" cy="274320"/>
          </a:xfrm>
          <a:prstGeom prst="rect">
            <a:avLst/>
          </a:prstGeom>
          <a:noFill/>
          <a:ln/>
        </p:spPr>
        <p:txBody>
          <a:bodyPr wrap="square" lIns="0" tIns="0" rIns="0" bIns="0" rtlCol="0" anchor="t"/>
          <a:lstStyle/>
          <a:p>
            <a:pPr indent="0" marL="0">
              <a:buNone/>
            </a:pPr>
            <a:r>
              <a:rPr lang="en-US" sz="1200" dirty="0">
                <a:solidFill>
                  <a:srgbClr val="56606B"/>
                </a:solidFill>
                <a:latin typeface="Arial" pitchFamily="34" charset="0"/>
                <a:ea typeface="Arial" pitchFamily="34" charset="-122"/>
                <a:cs typeface="Arial" pitchFamily="34" charset="-120"/>
              </a:rPr>
              <a:t>Phase 1 energy cost, $ per MWh, 480 MW</a:t>
            </a:r>
            <a:endParaRPr lang="en-US" sz="1200" dirty="0"/>
          </a:p>
        </p:txBody>
      </p:sp>
      <p:sp>
        <p:nvSpPr>
          <p:cNvPr id="4" name="Bar Grid only"/>
          <p:cNvSpPr/>
          <p:nvPr/>
        </p:nvSpPr>
        <p:spPr>
          <a:xfrm>
            <a:off x="822960" y="2995574"/>
            <a:ext cx="914400" cy="2353666"/>
          </a:xfrm>
          <a:prstGeom prst="rect">
            <a:avLst/>
          </a:prstGeom>
          <a:solidFill>
            <a:srgbClr val="BAC1C8"/>
          </a:solidFill>
          <a:ln/>
        </p:spPr>
      </p:sp>
      <p:sp>
        <p:nvSpPr>
          <p:cNvPr id="5" name="Text 3"/>
          <p:cNvSpPr txBox="1"/>
          <p:nvPr/>
        </p:nvSpPr>
        <p:spPr>
          <a:xfrm>
            <a:off x="594360" y="2648102"/>
            <a:ext cx="1371600"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$93.6</a:t>
            </a:r>
            <a:endParaRPr lang="en-US" sz="1400" dirty="0"/>
          </a:p>
        </p:txBody>
      </p:sp>
      <p:sp>
        <p:nvSpPr>
          <p:cNvPr id="6" name="Text 4"/>
          <p:cNvSpPr txBox="1"/>
          <p:nvPr/>
        </p:nvSpPr>
        <p:spPr>
          <a:xfrm>
            <a:off x="548640" y="5440680"/>
            <a:ext cx="146304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Grid only</a:t>
            </a:r>
            <a:endParaRPr lang="en-US" sz="1200" dirty="0"/>
          </a:p>
        </p:txBody>
      </p:sp>
      <p:sp>
        <p:nvSpPr>
          <p:cNvPr id="7" name="Bar Onsite gas"/>
          <p:cNvSpPr/>
          <p:nvPr/>
        </p:nvSpPr>
        <p:spPr>
          <a:xfrm>
            <a:off x="2240280" y="3661943"/>
            <a:ext cx="914400" cy="1687297"/>
          </a:xfrm>
          <a:prstGeom prst="rect">
            <a:avLst/>
          </a:prstGeom>
          <a:solidFill>
            <a:srgbClr val="BAC1C8"/>
          </a:solidFill>
          <a:ln/>
        </p:spPr>
      </p:sp>
      <p:sp>
        <p:nvSpPr>
          <p:cNvPr id="8" name="Text 6"/>
          <p:cNvSpPr txBox="1"/>
          <p:nvPr/>
        </p:nvSpPr>
        <p:spPr>
          <a:xfrm>
            <a:off x="2011680" y="3314471"/>
            <a:ext cx="1371600"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$67.1</a:t>
            </a:r>
            <a:endParaRPr lang="en-US" sz="1400" dirty="0"/>
          </a:p>
        </p:txBody>
      </p:sp>
      <p:sp>
        <p:nvSpPr>
          <p:cNvPr id="9" name="Text 7"/>
          <p:cNvSpPr txBox="1"/>
          <p:nvPr/>
        </p:nvSpPr>
        <p:spPr>
          <a:xfrm>
            <a:off x="1965960" y="5440680"/>
            <a:ext cx="146304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Onsite gas</a:t>
            </a:r>
            <a:endParaRPr lang="en-US" sz="1200" dirty="0"/>
          </a:p>
        </p:txBody>
      </p:sp>
      <p:sp>
        <p:nvSpPr>
          <p:cNvPr id="10" name="Bar Clean contracts only"/>
          <p:cNvSpPr/>
          <p:nvPr/>
        </p:nvSpPr>
        <p:spPr>
          <a:xfrm>
            <a:off x="3657600" y="2751658"/>
            <a:ext cx="914400" cy="2597582"/>
          </a:xfrm>
          <a:prstGeom prst="rect">
            <a:avLst/>
          </a:prstGeom>
          <a:solidFill>
            <a:srgbClr val="BAC1C8"/>
          </a:solidFill>
          <a:ln/>
        </p:spPr>
      </p:sp>
      <p:sp>
        <p:nvSpPr>
          <p:cNvPr id="11" name="Text 9"/>
          <p:cNvSpPr txBox="1"/>
          <p:nvPr/>
        </p:nvSpPr>
        <p:spPr>
          <a:xfrm>
            <a:off x="3429000" y="2404186"/>
            <a:ext cx="1371600"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$103.3</a:t>
            </a:r>
            <a:endParaRPr lang="en-US" sz="1400" dirty="0"/>
          </a:p>
        </p:txBody>
      </p:sp>
      <p:sp>
        <p:nvSpPr>
          <p:cNvPr id="12" name="Text 10"/>
          <p:cNvSpPr txBox="1"/>
          <p:nvPr/>
        </p:nvSpPr>
        <p:spPr>
          <a:xfrm>
            <a:off x="3383280" y="5440680"/>
            <a:ext cx="146304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Clean contracts only</a:t>
            </a:r>
            <a:endParaRPr lang="en-US" sz="1200" dirty="0"/>
          </a:p>
        </p:txBody>
      </p:sp>
      <p:sp>
        <p:nvSpPr>
          <p:cNvPr id="13" name="Bar Grid + battery only"/>
          <p:cNvSpPr/>
          <p:nvPr/>
        </p:nvSpPr>
        <p:spPr>
          <a:xfrm>
            <a:off x="5074920" y="2736571"/>
            <a:ext cx="914400" cy="2612669"/>
          </a:xfrm>
          <a:prstGeom prst="rect">
            <a:avLst/>
          </a:prstGeom>
          <a:solidFill>
            <a:srgbClr val="BAC1C8"/>
          </a:solidFill>
          <a:ln/>
        </p:spPr>
      </p:sp>
      <p:sp>
        <p:nvSpPr>
          <p:cNvPr id="14" name="Text 12"/>
          <p:cNvSpPr txBox="1"/>
          <p:nvPr/>
        </p:nvSpPr>
        <p:spPr>
          <a:xfrm>
            <a:off x="4846320" y="2389099"/>
            <a:ext cx="1371600"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$103.9</a:t>
            </a:r>
            <a:endParaRPr lang="en-US" sz="1400" dirty="0"/>
          </a:p>
        </p:txBody>
      </p:sp>
      <p:sp>
        <p:nvSpPr>
          <p:cNvPr id="15" name="Text 13"/>
          <p:cNvSpPr txBox="1"/>
          <p:nvPr/>
        </p:nvSpPr>
        <p:spPr>
          <a:xfrm>
            <a:off x="4800600" y="5440680"/>
            <a:ext cx="146304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Grid + battery only</a:t>
            </a:r>
            <a:endParaRPr lang="en-US" sz="1200" dirty="0"/>
          </a:p>
        </p:txBody>
      </p:sp>
      <p:sp>
        <p:nvSpPr>
          <p:cNvPr id="16" name="Bar Hybrid: battery + clean contracts"/>
          <p:cNvSpPr/>
          <p:nvPr/>
        </p:nvSpPr>
        <p:spPr>
          <a:xfrm>
            <a:off x="6492240" y="2492654"/>
            <a:ext cx="914400" cy="2856586"/>
          </a:xfrm>
          <a:prstGeom prst="rect">
            <a:avLst/>
          </a:prstGeom>
          <a:solidFill>
            <a:srgbClr val="12294A"/>
          </a:solidFill>
          <a:ln/>
        </p:spPr>
      </p:sp>
      <p:sp>
        <p:nvSpPr>
          <p:cNvPr id="17" name="Text 15"/>
          <p:cNvSpPr txBox="1"/>
          <p:nvPr/>
        </p:nvSpPr>
        <p:spPr>
          <a:xfrm>
            <a:off x="6263640" y="2145182"/>
            <a:ext cx="1371600"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$113.6</a:t>
            </a:r>
            <a:endParaRPr lang="en-US" sz="1400" dirty="0"/>
          </a:p>
        </p:txBody>
      </p:sp>
      <p:sp>
        <p:nvSpPr>
          <p:cNvPr id="18" name="Text 16"/>
          <p:cNvSpPr txBox="1"/>
          <p:nvPr/>
        </p:nvSpPr>
        <p:spPr>
          <a:xfrm>
            <a:off x="6217920" y="5440680"/>
            <a:ext cx="1463040" cy="457200"/>
          </a:xfrm>
          <a:prstGeom prst="rect">
            <a:avLst/>
          </a:prstGeom>
          <a:noFill/>
          <a:ln/>
        </p:spPr>
        <p:txBody>
          <a:bodyPr wrap="square" lIns="0" tIns="0" rIns="0" bIns="0" rtlCol="0" anchor="t"/>
          <a:lstStyle/>
          <a:p>
            <a:pPr algn="ctr" indent="0" marL="0">
              <a:buNone/>
            </a:pPr>
            <a:r>
              <a:rPr lang="en-US" sz="1200" b="1" dirty="0">
                <a:solidFill>
                  <a:srgbClr val="1E2329"/>
                </a:solidFill>
                <a:latin typeface="Arial" pitchFamily="34" charset="0"/>
                <a:ea typeface="Arial" pitchFamily="34" charset="-122"/>
                <a:cs typeface="Arial" pitchFamily="34" charset="-120"/>
              </a:rPr>
              <a:t>Hybrid: battery + clean contracts</a:t>
            </a:r>
            <a:endParaRPr lang="en-US" sz="1200" dirty="0"/>
          </a:p>
        </p:txBody>
      </p:sp>
      <p:sp>
        <p:nvSpPr>
          <p:cNvPr id="19" name="Shape 17"/>
          <p:cNvSpPr/>
          <p:nvPr/>
        </p:nvSpPr>
        <p:spPr>
          <a:xfrm>
            <a:off x="548640" y="5349240"/>
            <a:ext cx="7223760" cy="0"/>
          </a:xfrm>
          <a:prstGeom prst="line">
            <a:avLst/>
          </a:prstGeom>
          <a:noFill/>
          <a:ln w="12700">
            <a:solidFill>
              <a:srgbClr val="BAC1C8"/>
            </a:solidFill>
            <a:prstDash val="solid"/>
          </a:ln>
        </p:spPr>
      </p:sp>
      <p:sp>
        <p:nvSpPr>
          <p:cNvPr id="20" name="Takeaway panel"/>
          <p:cNvSpPr/>
          <p:nvPr/>
        </p:nvSpPr>
        <p:spPr>
          <a:xfrm>
            <a:off x="8001000" y="1600200"/>
            <a:ext cx="3639312" cy="4251960"/>
          </a:xfrm>
          <a:prstGeom prst="rect">
            <a:avLst/>
          </a:prstGeom>
          <a:solidFill>
            <a:srgbClr val="EEF2F7"/>
          </a:solidFill>
          <a:ln/>
        </p:spPr>
      </p:sp>
      <p:sp>
        <p:nvSpPr>
          <p:cNvPr id="21" name="Text 19"/>
          <p:cNvSpPr txBox="1"/>
          <p:nvPr/>
        </p:nvSpPr>
        <p:spPr>
          <a:xfrm>
            <a:off x="8275320" y="1920240"/>
            <a:ext cx="3090672" cy="37033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Costs about $84M a year more than grid only, paid by the customer under its 20-year contract</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Cuts CO2 by 32%, about 365,000 t a year</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Meets the 32% clean firm step the state sets for 2035</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Battery income from PJM's energy and reserve markets is upside we did not count</a:t>
            </a:r>
            <a:endParaRPr lang="en-US" sz="1400" dirty="0"/>
          </a:p>
        </p:txBody>
      </p:sp>
      <p:sp>
        <p:nvSpPr>
          <p:cNvPr id="22"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B939B"/>
                </a:solidFill>
                <a:latin typeface="Arial" pitchFamily="34" charset="0"/>
                <a:ea typeface="Arial" pitchFamily="34" charset="-122"/>
                <a:cs typeface="Arial" pitchFamily="34" charset="-120"/>
              </a:rPr>
              <a:t>Source: EIA; PJM 2028/29 auction and 2025 State of the Market; LevelTen PPA index; NREL 2025 battery costs; EPA eGRID2023; PA GRID Standards; SLAM analysis (leepr)</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Onsite gas looks cheapest, yet it emits 62% more CO2 than the grid and loses its edge if gas prices climb</a:t>
            </a:r>
            <a:endParaRPr lang="en-US" sz="2200" dirty="0"/>
          </a:p>
        </p:txBody>
      </p:sp>
      <p:sp>
        <p:nvSpPr>
          <p:cNvPr id="3" name="Unit line"/>
          <p:cNvSpPr txBox="1"/>
          <p:nvPr/>
        </p:nvSpPr>
        <p:spPr>
          <a:xfrm>
            <a:off x="548640" y="1600200"/>
            <a:ext cx="6035040" cy="274320"/>
          </a:xfrm>
          <a:prstGeom prst="rect">
            <a:avLst/>
          </a:prstGeom>
          <a:noFill/>
          <a:ln/>
        </p:spPr>
        <p:txBody>
          <a:bodyPr wrap="square" lIns="0" tIns="0" rIns="0" bIns="0" rtlCol="0" anchor="t"/>
          <a:lstStyle/>
          <a:p>
            <a:pPr indent="0" marL="0">
              <a:buNone/>
            </a:pPr>
            <a:r>
              <a:rPr lang="en-US" sz="1200" dirty="0">
                <a:solidFill>
                  <a:srgbClr val="56606B"/>
                </a:solidFill>
                <a:latin typeface="Arial" pitchFamily="34" charset="0"/>
                <a:ea typeface="Arial" pitchFamily="34" charset="-122"/>
                <a:cs typeface="Arial" pitchFamily="34" charset="-120"/>
              </a:rPr>
              <a:t>Phase 1 energy cost, $ per MWh</a:t>
            </a:r>
            <a:endParaRPr lang="en-US" sz="1200" dirty="0"/>
          </a:p>
        </p:txBody>
      </p:sp>
      <p:sp>
        <p:nvSpPr>
          <p:cNvPr id="4" name="Bar Gas at forecast price"/>
          <p:cNvSpPr/>
          <p:nvPr/>
        </p:nvSpPr>
        <p:spPr>
          <a:xfrm>
            <a:off x="850392" y="3496483"/>
            <a:ext cx="905256" cy="1349837"/>
          </a:xfrm>
          <a:prstGeom prst="rect">
            <a:avLst/>
          </a:prstGeom>
          <a:solidFill>
            <a:srgbClr val="BAC1C8"/>
          </a:solidFill>
          <a:ln/>
        </p:spPr>
      </p:sp>
      <p:sp>
        <p:nvSpPr>
          <p:cNvPr id="5" name="Text 3"/>
          <p:cNvSpPr txBox="1"/>
          <p:nvPr/>
        </p:nvSpPr>
        <p:spPr>
          <a:xfrm>
            <a:off x="576072" y="3149011"/>
            <a:ext cx="1453896"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$67.1</a:t>
            </a:r>
            <a:endParaRPr lang="en-US" sz="1400" dirty="0"/>
          </a:p>
        </p:txBody>
      </p:sp>
      <p:sp>
        <p:nvSpPr>
          <p:cNvPr id="6" name="Text 4"/>
          <p:cNvSpPr txBox="1"/>
          <p:nvPr/>
        </p:nvSpPr>
        <p:spPr>
          <a:xfrm>
            <a:off x="594360" y="4937760"/>
            <a:ext cx="141732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Gas at forecast price</a:t>
            </a:r>
            <a:endParaRPr lang="en-US" sz="1200" dirty="0"/>
          </a:p>
        </p:txBody>
      </p:sp>
      <p:sp>
        <p:nvSpPr>
          <p:cNvPr id="7" name="Bar Gas at 2024 PA industrial price"/>
          <p:cNvSpPr/>
          <p:nvPr/>
        </p:nvSpPr>
        <p:spPr>
          <a:xfrm>
            <a:off x="2359152" y="2599273"/>
            <a:ext cx="905256" cy="2247047"/>
          </a:xfrm>
          <a:prstGeom prst="rect">
            <a:avLst/>
          </a:prstGeom>
          <a:solidFill>
            <a:srgbClr val="12294A"/>
          </a:solidFill>
          <a:ln/>
        </p:spPr>
      </p:sp>
      <p:sp>
        <p:nvSpPr>
          <p:cNvPr id="8" name="Text 6"/>
          <p:cNvSpPr txBox="1"/>
          <p:nvPr/>
        </p:nvSpPr>
        <p:spPr>
          <a:xfrm>
            <a:off x="2084832" y="2251801"/>
            <a:ext cx="1453896"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$111.7</a:t>
            </a:r>
            <a:endParaRPr lang="en-US" sz="1400" dirty="0"/>
          </a:p>
        </p:txBody>
      </p:sp>
      <p:sp>
        <p:nvSpPr>
          <p:cNvPr id="9" name="Text 7"/>
          <p:cNvSpPr txBox="1"/>
          <p:nvPr/>
        </p:nvSpPr>
        <p:spPr>
          <a:xfrm>
            <a:off x="2103120" y="4937760"/>
            <a:ext cx="141732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Gas at 2024 PA industrial price</a:t>
            </a:r>
            <a:endParaRPr lang="en-US" sz="1200" dirty="0"/>
          </a:p>
        </p:txBody>
      </p:sp>
      <p:sp>
        <p:nvSpPr>
          <p:cNvPr id="10" name="Bar Grid only"/>
          <p:cNvSpPr/>
          <p:nvPr/>
        </p:nvSpPr>
        <p:spPr>
          <a:xfrm>
            <a:off x="3867912" y="2963388"/>
            <a:ext cx="905256" cy="1882932"/>
          </a:xfrm>
          <a:prstGeom prst="rect">
            <a:avLst/>
          </a:prstGeom>
          <a:solidFill>
            <a:srgbClr val="BAC1C8"/>
          </a:solidFill>
          <a:ln/>
        </p:spPr>
      </p:sp>
      <p:sp>
        <p:nvSpPr>
          <p:cNvPr id="11" name="Text 9"/>
          <p:cNvSpPr txBox="1"/>
          <p:nvPr/>
        </p:nvSpPr>
        <p:spPr>
          <a:xfrm>
            <a:off x="3593592" y="2615916"/>
            <a:ext cx="1453896"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$93.6</a:t>
            </a:r>
            <a:endParaRPr lang="en-US" sz="1400" dirty="0"/>
          </a:p>
        </p:txBody>
      </p:sp>
      <p:sp>
        <p:nvSpPr>
          <p:cNvPr id="12" name="Text 10"/>
          <p:cNvSpPr txBox="1"/>
          <p:nvPr/>
        </p:nvSpPr>
        <p:spPr>
          <a:xfrm>
            <a:off x="3611880" y="4937760"/>
            <a:ext cx="141732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Grid only</a:t>
            </a:r>
            <a:endParaRPr lang="en-US" sz="1200" dirty="0"/>
          </a:p>
        </p:txBody>
      </p:sp>
      <p:sp>
        <p:nvSpPr>
          <p:cNvPr id="13" name="Bar Hybrid"/>
          <p:cNvSpPr/>
          <p:nvPr/>
        </p:nvSpPr>
        <p:spPr>
          <a:xfrm>
            <a:off x="5376672" y="2561052"/>
            <a:ext cx="905256" cy="2285268"/>
          </a:xfrm>
          <a:prstGeom prst="rect">
            <a:avLst/>
          </a:prstGeom>
          <a:solidFill>
            <a:srgbClr val="BAC1C8"/>
          </a:solidFill>
          <a:ln/>
        </p:spPr>
      </p:sp>
      <p:sp>
        <p:nvSpPr>
          <p:cNvPr id="14" name="Text 12"/>
          <p:cNvSpPr txBox="1"/>
          <p:nvPr/>
        </p:nvSpPr>
        <p:spPr>
          <a:xfrm>
            <a:off x="5102352" y="2213580"/>
            <a:ext cx="1453896"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$113.6</a:t>
            </a:r>
            <a:endParaRPr lang="en-US" sz="1400" dirty="0"/>
          </a:p>
        </p:txBody>
      </p:sp>
      <p:sp>
        <p:nvSpPr>
          <p:cNvPr id="15" name="Text 13"/>
          <p:cNvSpPr txBox="1"/>
          <p:nvPr/>
        </p:nvSpPr>
        <p:spPr>
          <a:xfrm>
            <a:off x="5120640" y="4937760"/>
            <a:ext cx="1417320"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Hybrid</a:t>
            </a:r>
            <a:endParaRPr lang="en-US" sz="1200" dirty="0"/>
          </a:p>
        </p:txBody>
      </p:sp>
      <p:sp>
        <p:nvSpPr>
          <p:cNvPr id="16" name="Shape 14"/>
          <p:cNvSpPr/>
          <p:nvPr/>
        </p:nvSpPr>
        <p:spPr>
          <a:xfrm>
            <a:off x="548640" y="4846320"/>
            <a:ext cx="6035040" cy="0"/>
          </a:xfrm>
          <a:prstGeom prst="line">
            <a:avLst/>
          </a:prstGeom>
          <a:noFill/>
          <a:ln w="12700">
            <a:solidFill>
              <a:srgbClr val="BAC1C8"/>
            </a:solidFill>
            <a:prstDash val="solid"/>
          </a:ln>
        </p:spPr>
      </p:sp>
      <p:sp>
        <p:nvSpPr>
          <p:cNvPr id="17" name="Unit line"/>
          <p:cNvSpPr txBox="1"/>
          <p:nvPr/>
        </p:nvSpPr>
        <p:spPr>
          <a:xfrm>
            <a:off x="7086600" y="1600200"/>
            <a:ext cx="4553712" cy="274320"/>
          </a:xfrm>
          <a:prstGeom prst="rect">
            <a:avLst/>
          </a:prstGeom>
          <a:noFill/>
          <a:ln/>
        </p:spPr>
        <p:txBody>
          <a:bodyPr wrap="square" lIns="0" tIns="0" rIns="0" bIns="0" rtlCol="0" anchor="t"/>
          <a:lstStyle/>
          <a:p>
            <a:pPr indent="0" marL="0">
              <a:buNone/>
            </a:pPr>
            <a:r>
              <a:rPr lang="en-US" sz="1200" dirty="0">
                <a:solidFill>
                  <a:srgbClr val="56606B"/>
                </a:solidFill>
                <a:latin typeface="Arial" pitchFamily="34" charset="0"/>
                <a:ea typeface="Arial" pitchFamily="34" charset="-122"/>
                <a:cs typeface="Arial" pitchFamily="34" charset="-120"/>
              </a:rPr>
              <a:t>CO2, million t a year</a:t>
            </a:r>
            <a:endParaRPr lang="en-US" sz="1200" dirty="0"/>
          </a:p>
        </p:txBody>
      </p:sp>
      <p:sp>
        <p:nvSpPr>
          <p:cNvPr id="18" name="Bar Onsite gas"/>
          <p:cNvSpPr/>
          <p:nvPr/>
        </p:nvSpPr>
        <p:spPr>
          <a:xfrm>
            <a:off x="7390181" y="2520315"/>
            <a:ext cx="910742" cy="2326005"/>
          </a:xfrm>
          <a:prstGeom prst="rect">
            <a:avLst/>
          </a:prstGeom>
          <a:solidFill>
            <a:srgbClr val="12294A"/>
          </a:solidFill>
          <a:ln/>
        </p:spPr>
      </p:sp>
      <p:sp>
        <p:nvSpPr>
          <p:cNvPr id="19" name="Text 17"/>
          <p:cNvSpPr txBox="1"/>
          <p:nvPr/>
        </p:nvSpPr>
        <p:spPr>
          <a:xfrm>
            <a:off x="7115861" y="2172843"/>
            <a:ext cx="1459382"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1.85</a:t>
            </a:r>
            <a:endParaRPr lang="en-US" sz="1400" dirty="0"/>
          </a:p>
        </p:txBody>
      </p:sp>
      <p:sp>
        <p:nvSpPr>
          <p:cNvPr id="20" name="Text 18"/>
          <p:cNvSpPr txBox="1"/>
          <p:nvPr/>
        </p:nvSpPr>
        <p:spPr>
          <a:xfrm>
            <a:off x="7132320" y="4937760"/>
            <a:ext cx="1426464"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Onsite gas</a:t>
            </a:r>
            <a:endParaRPr lang="en-US" sz="1200" dirty="0"/>
          </a:p>
        </p:txBody>
      </p:sp>
      <p:sp>
        <p:nvSpPr>
          <p:cNvPr id="21" name="Bar Grid only"/>
          <p:cNvSpPr/>
          <p:nvPr/>
        </p:nvSpPr>
        <p:spPr>
          <a:xfrm>
            <a:off x="8908085" y="3412998"/>
            <a:ext cx="910742" cy="1433322"/>
          </a:xfrm>
          <a:prstGeom prst="rect">
            <a:avLst/>
          </a:prstGeom>
          <a:solidFill>
            <a:srgbClr val="BAC1C8"/>
          </a:solidFill>
          <a:ln/>
        </p:spPr>
      </p:sp>
      <p:sp>
        <p:nvSpPr>
          <p:cNvPr id="22" name="Text 20"/>
          <p:cNvSpPr txBox="1"/>
          <p:nvPr/>
        </p:nvSpPr>
        <p:spPr>
          <a:xfrm>
            <a:off x="8633765" y="3065526"/>
            <a:ext cx="1459382"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1.14</a:t>
            </a:r>
            <a:endParaRPr lang="en-US" sz="1400" dirty="0"/>
          </a:p>
        </p:txBody>
      </p:sp>
      <p:sp>
        <p:nvSpPr>
          <p:cNvPr id="23" name="Text 21"/>
          <p:cNvSpPr txBox="1"/>
          <p:nvPr/>
        </p:nvSpPr>
        <p:spPr>
          <a:xfrm>
            <a:off x="8650224" y="4937760"/>
            <a:ext cx="1426464"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Grid only</a:t>
            </a:r>
            <a:endParaRPr lang="en-US" sz="1200" dirty="0"/>
          </a:p>
        </p:txBody>
      </p:sp>
      <p:sp>
        <p:nvSpPr>
          <p:cNvPr id="24" name="Bar Hybrid"/>
          <p:cNvSpPr/>
          <p:nvPr/>
        </p:nvSpPr>
        <p:spPr>
          <a:xfrm>
            <a:off x="10425989" y="3878199"/>
            <a:ext cx="910742" cy="968121"/>
          </a:xfrm>
          <a:prstGeom prst="rect">
            <a:avLst/>
          </a:prstGeom>
          <a:solidFill>
            <a:srgbClr val="BAC1C8"/>
          </a:solidFill>
          <a:ln/>
        </p:spPr>
      </p:sp>
      <p:sp>
        <p:nvSpPr>
          <p:cNvPr id="25" name="Text 23"/>
          <p:cNvSpPr txBox="1"/>
          <p:nvPr/>
        </p:nvSpPr>
        <p:spPr>
          <a:xfrm>
            <a:off x="10151669" y="3530727"/>
            <a:ext cx="1459382" cy="292608"/>
          </a:xfrm>
          <a:prstGeom prst="rect">
            <a:avLst/>
          </a:prstGeom>
          <a:noFill/>
          <a:ln/>
        </p:spPr>
        <p:txBody>
          <a:bodyPr wrap="square" lIns="0" tIns="0" rIns="0" bIns="0" rtlCol="0" anchor="t"/>
          <a:lstStyle/>
          <a:p>
            <a:pPr algn="ctr" indent="0" marL="0">
              <a:buNone/>
            </a:pPr>
            <a:r>
              <a:rPr lang="en-US" sz="1400" b="1" dirty="0">
                <a:solidFill>
                  <a:srgbClr val="1E2329"/>
                </a:solidFill>
                <a:latin typeface="Arial" pitchFamily="34" charset="0"/>
                <a:ea typeface="Arial" pitchFamily="34" charset="-122"/>
                <a:cs typeface="Arial" pitchFamily="34" charset="-120"/>
              </a:rPr>
              <a:t>0.77</a:t>
            </a:r>
            <a:endParaRPr lang="en-US" sz="1400" dirty="0"/>
          </a:p>
        </p:txBody>
      </p:sp>
      <p:sp>
        <p:nvSpPr>
          <p:cNvPr id="26" name="Text 24"/>
          <p:cNvSpPr txBox="1"/>
          <p:nvPr/>
        </p:nvSpPr>
        <p:spPr>
          <a:xfrm>
            <a:off x="10168128" y="4937760"/>
            <a:ext cx="1426464" cy="457200"/>
          </a:xfrm>
          <a:prstGeom prst="rect">
            <a:avLst/>
          </a:prstGeom>
          <a:noFill/>
          <a:ln/>
        </p:spPr>
        <p:txBody>
          <a:bodyPr wrap="square" lIns="0" tIns="0" rIns="0" bIns="0" rtlCol="0" anchor="t"/>
          <a:lstStyle/>
          <a:p>
            <a:pPr algn="ctr" indent="0" marL="0">
              <a:buNone/>
            </a:pPr>
            <a:r>
              <a:rPr lang="en-US" sz="1200" dirty="0">
                <a:solidFill>
                  <a:srgbClr val="56606B"/>
                </a:solidFill>
                <a:latin typeface="Arial" pitchFamily="34" charset="0"/>
                <a:ea typeface="Arial" pitchFamily="34" charset="-122"/>
                <a:cs typeface="Arial" pitchFamily="34" charset="-120"/>
              </a:rPr>
              <a:t>Hybrid</a:t>
            </a:r>
            <a:endParaRPr lang="en-US" sz="1200" dirty="0"/>
          </a:p>
        </p:txBody>
      </p:sp>
      <p:sp>
        <p:nvSpPr>
          <p:cNvPr id="27" name="Shape 25"/>
          <p:cNvSpPr/>
          <p:nvPr/>
        </p:nvSpPr>
        <p:spPr>
          <a:xfrm>
            <a:off x="7086600" y="4846320"/>
            <a:ext cx="4553712" cy="0"/>
          </a:xfrm>
          <a:prstGeom prst="line">
            <a:avLst/>
          </a:prstGeom>
          <a:noFill/>
          <a:ln w="12700">
            <a:solidFill>
              <a:srgbClr val="BAC1C8"/>
            </a:solidFill>
            <a:prstDash val="solid"/>
          </a:ln>
        </p:spPr>
      </p:sp>
      <p:sp>
        <p:nvSpPr>
          <p:cNvPr id="28" name="Shape 26"/>
          <p:cNvSpPr/>
          <p:nvPr/>
        </p:nvSpPr>
        <p:spPr>
          <a:xfrm>
            <a:off x="6812280" y="1645920"/>
            <a:ext cx="0" cy="3840480"/>
          </a:xfrm>
          <a:prstGeom prst="line">
            <a:avLst/>
          </a:prstGeom>
          <a:noFill/>
          <a:ln w="9525">
            <a:solidFill>
              <a:srgbClr val="DADEE2"/>
            </a:solidFill>
            <a:prstDash val="solid"/>
          </a:ln>
        </p:spPr>
      </p:sp>
      <p:sp>
        <p:nvSpPr>
          <p:cNvPr id="29" name="Text 27"/>
          <p:cNvSpPr txBox="1"/>
          <p:nvPr/>
        </p:nvSpPr>
        <p:spPr>
          <a:xfrm>
            <a:off x="548640" y="5596128"/>
            <a:ext cx="11064240" cy="365760"/>
          </a:xfrm>
          <a:prstGeom prst="rect">
            <a:avLst/>
          </a:prstGeom>
          <a:noFill/>
          <a:ln/>
        </p:spPr>
        <p:txBody>
          <a:bodyPr wrap="square" lIns="0" tIns="0" rIns="0" bIns="0" rtlCol="0" anchor="t"/>
          <a:lstStyle/>
          <a:p>
            <a:pPr indent="0" marL="0">
              <a:buNone/>
            </a:pPr>
            <a:r>
              <a:rPr lang="en-US" sz="1400" dirty="0">
                <a:solidFill>
                  <a:srgbClr val="1E2329"/>
                </a:solidFill>
                <a:latin typeface="Arial" pitchFamily="34" charset="0"/>
                <a:ea typeface="Arial" pitchFamily="34" charset="-122"/>
                <a:cs typeface="Arial" pitchFamily="34" charset="-120"/>
              </a:rPr>
              <a:t>Residents near the site asked for enforceable limits on generator emissions, and gas engines would run every hour of every day.</a:t>
            </a:r>
            <a:endParaRPr lang="en-US" sz="1400" dirty="0"/>
          </a:p>
        </p:txBody>
      </p:sp>
      <p:sp>
        <p:nvSpPr>
          <p:cNvPr id="30"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B939B"/>
                </a:solidFill>
                <a:latin typeface="Arial" pitchFamily="34" charset="0"/>
                <a:ea typeface="Arial" pitchFamily="34" charset="-122"/>
                <a:cs typeface="Arial" pitchFamily="34" charset="-120"/>
              </a:rPr>
              <a:t>Source: EIA capital cost report (AEO2020) and Short-Term Energy Outlook; EIA Pennsylvania industrial gas price, 2024; EPA eGRID2023 RFC East; case packet; SLAM analysis (leepr)</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A 4-hour battery keeps Ironwood's critical servers running through every PJM emergency its zone saw last summer</a:t>
            </a:r>
            <a:endParaRPr lang="en-US" sz="2200" dirty="0"/>
          </a:p>
        </p:txBody>
      </p:sp>
      <p:sp>
        <p:nvSpPr>
          <p:cNvPr id="3" name="Text 1"/>
          <p:cNvSpPr txBox="1"/>
          <p:nvPr/>
        </p:nvSpPr>
        <p:spPr>
          <a:xfrm>
            <a:off x="548640" y="1600200"/>
            <a:ext cx="2331720" cy="502920"/>
          </a:xfrm>
          <a:prstGeom prst="rect">
            <a:avLst/>
          </a:prstGeom>
          <a:noFill/>
          <a:ln/>
        </p:spPr>
        <p:txBody>
          <a:bodyPr wrap="square" lIns="0" tIns="0" rIns="0" bIns="0" rtlCol="0" anchor="b"/>
          <a:lstStyle/>
          <a:p>
            <a:pPr algn="ctr" indent="0" marL="0">
              <a:buNone/>
            </a:pPr>
            <a:r>
              <a:rPr lang="en-US" sz="1400" b="1" dirty="0">
                <a:solidFill>
                  <a:srgbClr val="1E2329"/>
                </a:solidFill>
                <a:latin typeface="Arial" pitchFamily="34" charset="0"/>
                <a:ea typeface="Arial" pitchFamily="34" charset="-122"/>
                <a:cs typeface="Arial" pitchFamily="34" charset="-120"/>
              </a:rPr>
              <a:t>Normal hours</a:t>
            </a:r>
            <a:endParaRPr lang="en-US" sz="1400" dirty="0"/>
          </a:p>
        </p:txBody>
      </p:sp>
      <p:sp>
        <p:nvSpPr>
          <p:cNvPr id="4" name="PJM grid"/>
          <p:cNvSpPr/>
          <p:nvPr/>
        </p:nvSpPr>
        <p:spPr>
          <a:xfrm>
            <a:off x="685800" y="2240280"/>
            <a:ext cx="2057400" cy="594360"/>
          </a:xfrm>
          <a:prstGeom prst="rect">
            <a:avLst/>
          </a:prstGeom>
          <a:solidFill>
            <a:srgbClr val="EEF2F7"/>
          </a:solidFill>
          <a:ln/>
        </p:spPr>
      </p:sp>
      <p:sp>
        <p:nvSpPr>
          <p:cNvPr id="5" name="Text 3"/>
          <p:cNvSpPr txBox="1"/>
          <p:nvPr/>
        </p:nvSpPr>
        <p:spPr>
          <a:xfrm>
            <a:off x="758952" y="2240280"/>
            <a:ext cx="1911096" cy="594360"/>
          </a:xfrm>
          <a:prstGeom prst="rect">
            <a:avLst/>
          </a:prstGeom>
          <a:noFill/>
          <a:ln/>
        </p:spPr>
        <p:txBody>
          <a:bodyPr wrap="square" lIns="0" tIns="0" rIns="0" bIns="0" rtlCol="0" anchor="ctr"/>
          <a:lstStyle/>
          <a:p>
            <a:pPr algn="ctr" indent="0" marL="0">
              <a:buNone/>
            </a:pPr>
            <a:r>
              <a:rPr lang="en-US" sz="1300" b="1" dirty="0">
                <a:solidFill>
                  <a:srgbClr val="1E2329"/>
                </a:solidFill>
                <a:latin typeface="Arial" pitchFamily="34" charset="0"/>
                <a:ea typeface="Arial" pitchFamily="34" charset="-122"/>
                <a:cs typeface="Arial" pitchFamily="34" charset="-120"/>
              </a:rPr>
              <a:t>PJM grid</a:t>
            </a:r>
            <a:endParaRPr lang="en-US" sz="1300" dirty="0"/>
          </a:p>
        </p:txBody>
      </p:sp>
      <p:sp>
        <p:nvSpPr>
          <p:cNvPr id="6" name="Shape 4"/>
          <p:cNvSpPr/>
          <p:nvPr/>
        </p:nvSpPr>
        <p:spPr>
          <a:xfrm>
            <a:off x="1714500" y="2834640"/>
            <a:ext cx="0" cy="640080"/>
          </a:xfrm>
          <a:prstGeom prst="line">
            <a:avLst/>
          </a:prstGeom>
          <a:noFill/>
          <a:ln w="25400">
            <a:solidFill>
              <a:srgbClr val="12294A"/>
            </a:solidFill>
            <a:prstDash val="solid"/>
            <a:tailEnd type="triangle"/>
          </a:ln>
        </p:spPr>
      </p:sp>
      <p:sp>
        <p:nvSpPr>
          <p:cNvPr id="7" name="Text 5"/>
          <p:cNvSpPr txBox="1"/>
          <p:nvPr/>
        </p:nvSpPr>
        <p:spPr>
          <a:xfrm>
            <a:off x="1824228" y="2999232"/>
            <a:ext cx="1005840" cy="292608"/>
          </a:xfrm>
          <a:prstGeom prst="rect">
            <a:avLst/>
          </a:prstGeom>
          <a:noFill/>
          <a:ln/>
        </p:spPr>
        <p:txBody>
          <a:bodyPr wrap="square" lIns="0" tIns="0" rIns="0" bIns="0" rtlCol="0" anchor="t"/>
          <a:lstStyle/>
          <a:p>
            <a:pPr indent="0" marL="0">
              <a:buNone/>
            </a:pPr>
            <a:r>
              <a:rPr lang="en-US" sz="1300" b="1" dirty="0">
                <a:solidFill>
                  <a:srgbClr val="12294A"/>
                </a:solidFill>
                <a:latin typeface="Arial" pitchFamily="34" charset="0"/>
                <a:ea typeface="Arial" pitchFamily="34" charset="-122"/>
                <a:cs typeface="Arial" pitchFamily="34" charset="-120"/>
              </a:rPr>
              <a:t>480 MW</a:t>
            </a:r>
            <a:endParaRPr lang="en-US" sz="1300" dirty="0"/>
          </a:p>
        </p:txBody>
      </p:sp>
      <p:sp>
        <p:nvSpPr>
          <p:cNvPr id="8" name="All servers, 480 MW"/>
          <p:cNvSpPr/>
          <p:nvPr/>
        </p:nvSpPr>
        <p:spPr>
          <a:xfrm>
            <a:off x="685800" y="3474720"/>
            <a:ext cx="2057400" cy="685800"/>
          </a:xfrm>
          <a:prstGeom prst="rect">
            <a:avLst/>
          </a:prstGeom>
          <a:solidFill>
            <a:srgbClr val="12294A"/>
          </a:solidFill>
          <a:ln/>
        </p:spPr>
      </p:sp>
      <p:sp>
        <p:nvSpPr>
          <p:cNvPr id="9" name="Text 7"/>
          <p:cNvSpPr txBox="1"/>
          <p:nvPr/>
        </p:nvSpPr>
        <p:spPr>
          <a:xfrm>
            <a:off x="758952" y="3474720"/>
            <a:ext cx="1911096"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All servers, 480 MW</a:t>
            </a:r>
            <a:endParaRPr lang="en-US" sz="1200" dirty="0"/>
          </a:p>
        </p:txBody>
      </p:sp>
      <p:sp>
        <p:nvSpPr>
          <p:cNvPr id="10" name="Shape 8"/>
          <p:cNvSpPr/>
          <p:nvPr/>
        </p:nvSpPr>
        <p:spPr>
          <a:xfrm>
            <a:off x="1714500" y="4160520"/>
            <a:ext cx="0" cy="640080"/>
          </a:xfrm>
          <a:prstGeom prst="line">
            <a:avLst/>
          </a:prstGeom>
          <a:noFill/>
          <a:ln w="25400">
            <a:solidFill>
              <a:srgbClr val="BAC1C8"/>
            </a:solidFill>
            <a:prstDash val="dash"/>
            <a:headEnd type="triangle"/>
          </a:ln>
        </p:spPr>
      </p:sp>
      <p:sp>
        <p:nvSpPr>
          <p:cNvPr id="11" name="Text 9"/>
          <p:cNvSpPr txBox="1"/>
          <p:nvPr/>
        </p:nvSpPr>
        <p:spPr>
          <a:xfrm>
            <a:off x="1824228" y="4325112"/>
            <a:ext cx="1097280" cy="292608"/>
          </a:xfrm>
          <a:prstGeom prst="rect">
            <a:avLst/>
          </a:prstGeom>
          <a:noFill/>
          <a:ln/>
        </p:spPr>
        <p:txBody>
          <a:bodyPr wrap="square" lIns="0" tIns="0" rIns="0" bIns="0" rtlCol="0" anchor="t"/>
          <a:lstStyle/>
          <a:p>
            <a:pPr indent="0" marL="0">
              <a:buNone/>
            </a:pPr>
            <a:r>
              <a:rPr lang="en-US" sz="1300" b="1" dirty="0">
                <a:solidFill>
                  <a:srgbClr val="8B939B"/>
                </a:solidFill>
                <a:latin typeface="Arial" pitchFamily="34" charset="0"/>
                <a:ea typeface="Arial" pitchFamily="34" charset="-122"/>
                <a:cs typeface="Arial" pitchFamily="34" charset="-120"/>
              </a:rPr>
              <a:t>Idle</a:t>
            </a:r>
            <a:endParaRPr lang="en-US" sz="1300" dirty="0"/>
          </a:p>
        </p:txBody>
      </p:sp>
      <p:sp>
        <p:nvSpPr>
          <p:cNvPr id="12" name="Battery, 1,920 MWh"/>
          <p:cNvSpPr/>
          <p:nvPr/>
        </p:nvSpPr>
        <p:spPr>
          <a:xfrm>
            <a:off x="685800" y="4800600"/>
            <a:ext cx="2057400" cy="594360"/>
          </a:xfrm>
          <a:prstGeom prst="rect">
            <a:avLst/>
          </a:prstGeom>
          <a:solidFill>
            <a:srgbClr val="F4F6F8"/>
          </a:solidFill>
          <a:ln/>
        </p:spPr>
      </p:sp>
      <p:sp>
        <p:nvSpPr>
          <p:cNvPr id="13" name="Text 11"/>
          <p:cNvSpPr txBox="1"/>
          <p:nvPr/>
        </p:nvSpPr>
        <p:spPr>
          <a:xfrm>
            <a:off x="758952" y="4800600"/>
            <a:ext cx="1911096" cy="594360"/>
          </a:xfrm>
          <a:prstGeom prst="rect">
            <a:avLst/>
          </a:prstGeom>
          <a:noFill/>
          <a:ln/>
        </p:spPr>
        <p:txBody>
          <a:bodyPr wrap="square" lIns="0" tIns="0" rIns="0" bIns="0" rtlCol="0" anchor="ctr"/>
          <a:lstStyle/>
          <a:p>
            <a:pPr algn="ctr" indent="0" marL="0">
              <a:buNone/>
            </a:pPr>
            <a:r>
              <a:rPr lang="en-US" sz="1300" b="1" dirty="0">
                <a:solidFill>
                  <a:srgbClr val="8B939B"/>
                </a:solidFill>
                <a:latin typeface="Arial" pitchFamily="34" charset="0"/>
                <a:ea typeface="Arial" pitchFamily="34" charset="-122"/>
                <a:cs typeface="Arial" pitchFamily="34" charset="-120"/>
              </a:rPr>
              <a:t>Battery, 1,920 MWh</a:t>
            </a:r>
            <a:endParaRPr lang="en-US" sz="1300" dirty="0"/>
          </a:p>
        </p:txBody>
      </p:sp>
      <p:sp>
        <p:nvSpPr>
          <p:cNvPr id="14" name="Text 12"/>
          <p:cNvSpPr txBox="1"/>
          <p:nvPr/>
        </p:nvSpPr>
        <p:spPr>
          <a:xfrm>
            <a:off x="2971800" y="1600200"/>
            <a:ext cx="2331720" cy="502920"/>
          </a:xfrm>
          <a:prstGeom prst="rect">
            <a:avLst/>
          </a:prstGeom>
          <a:noFill/>
          <a:ln/>
        </p:spPr>
        <p:txBody>
          <a:bodyPr wrap="square" lIns="0" tIns="0" rIns="0" bIns="0" rtlCol="0" anchor="b"/>
          <a:lstStyle/>
          <a:p>
            <a:pPr algn="ctr" indent="0" marL="0">
              <a:buNone/>
            </a:pPr>
            <a:r>
              <a:rPr lang="en-US" sz="1400" b="1" dirty="0">
                <a:solidFill>
                  <a:srgbClr val="1E2329"/>
                </a:solidFill>
                <a:latin typeface="Arial" pitchFamily="34" charset="0"/>
                <a:ea typeface="Arial" pitchFamily="34" charset="-122"/>
                <a:cs typeface="Arial" pitchFamily="34" charset="-120"/>
              </a:rPr>
              <a:t>Emergency, first 4 hours</a:t>
            </a:r>
            <a:endParaRPr lang="en-US" sz="1400" dirty="0"/>
          </a:p>
        </p:txBody>
      </p:sp>
      <p:sp>
        <p:nvSpPr>
          <p:cNvPr id="15" name="PJM grid"/>
          <p:cNvSpPr/>
          <p:nvPr/>
        </p:nvSpPr>
        <p:spPr>
          <a:xfrm>
            <a:off x="3108960" y="2240280"/>
            <a:ext cx="2057400" cy="594360"/>
          </a:xfrm>
          <a:prstGeom prst="rect">
            <a:avLst/>
          </a:prstGeom>
          <a:solidFill>
            <a:srgbClr val="F4F6F8"/>
          </a:solidFill>
          <a:ln/>
        </p:spPr>
      </p:sp>
      <p:sp>
        <p:nvSpPr>
          <p:cNvPr id="16" name="Text 14"/>
          <p:cNvSpPr txBox="1"/>
          <p:nvPr/>
        </p:nvSpPr>
        <p:spPr>
          <a:xfrm>
            <a:off x="3182112" y="2240280"/>
            <a:ext cx="1911096" cy="594360"/>
          </a:xfrm>
          <a:prstGeom prst="rect">
            <a:avLst/>
          </a:prstGeom>
          <a:noFill/>
          <a:ln/>
        </p:spPr>
        <p:txBody>
          <a:bodyPr wrap="square" lIns="0" tIns="0" rIns="0" bIns="0" rtlCol="0" anchor="ctr"/>
          <a:lstStyle/>
          <a:p>
            <a:pPr algn="ctr" indent="0" marL="0">
              <a:buNone/>
            </a:pPr>
            <a:r>
              <a:rPr lang="en-US" sz="1300" b="1" dirty="0">
                <a:solidFill>
                  <a:srgbClr val="8B939B"/>
                </a:solidFill>
                <a:latin typeface="Arial" pitchFamily="34" charset="0"/>
                <a:ea typeface="Arial" pitchFamily="34" charset="-122"/>
                <a:cs typeface="Arial" pitchFamily="34" charset="-120"/>
              </a:rPr>
              <a:t>PJM grid</a:t>
            </a:r>
            <a:endParaRPr lang="en-US" sz="1300" dirty="0"/>
          </a:p>
        </p:txBody>
      </p:sp>
      <p:sp>
        <p:nvSpPr>
          <p:cNvPr id="17" name="Shape 15"/>
          <p:cNvSpPr/>
          <p:nvPr/>
        </p:nvSpPr>
        <p:spPr>
          <a:xfrm>
            <a:off x="4137660" y="2834640"/>
            <a:ext cx="0" cy="640080"/>
          </a:xfrm>
          <a:prstGeom prst="line">
            <a:avLst/>
          </a:prstGeom>
          <a:noFill/>
          <a:ln w="25400">
            <a:solidFill>
              <a:srgbClr val="BAC1C8"/>
            </a:solidFill>
            <a:prstDash val="dash"/>
            <a:tailEnd type="triangle"/>
          </a:ln>
        </p:spPr>
      </p:sp>
      <p:sp>
        <p:nvSpPr>
          <p:cNvPr id="18" name="Text 16"/>
          <p:cNvSpPr txBox="1"/>
          <p:nvPr/>
        </p:nvSpPr>
        <p:spPr>
          <a:xfrm>
            <a:off x="4247388" y="2999232"/>
            <a:ext cx="1005840" cy="292608"/>
          </a:xfrm>
          <a:prstGeom prst="rect">
            <a:avLst/>
          </a:prstGeom>
          <a:noFill/>
          <a:ln/>
        </p:spPr>
        <p:txBody>
          <a:bodyPr wrap="square" lIns="0" tIns="0" rIns="0" bIns="0" rtlCol="0" anchor="t"/>
          <a:lstStyle/>
          <a:p>
            <a:pPr indent="0" marL="0">
              <a:buNone/>
            </a:pPr>
            <a:r>
              <a:rPr lang="en-US" sz="1300" b="1" dirty="0">
                <a:solidFill>
                  <a:srgbClr val="8B939B"/>
                </a:solidFill>
                <a:latin typeface="Arial" pitchFamily="34" charset="0"/>
                <a:ea typeface="Arial" pitchFamily="34" charset="-122"/>
                <a:cs typeface="Arial" pitchFamily="34" charset="-120"/>
              </a:rPr>
              <a:t>0 MW</a:t>
            </a:r>
            <a:endParaRPr lang="en-US" sz="1300" dirty="0"/>
          </a:p>
        </p:txBody>
      </p:sp>
      <p:sp>
        <p:nvSpPr>
          <p:cNvPr id="19" name="All servers, 480 MW"/>
          <p:cNvSpPr/>
          <p:nvPr/>
        </p:nvSpPr>
        <p:spPr>
          <a:xfrm>
            <a:off x="3108960" y="3474720"/>
            <a:ext cx="2057400" cy="685800"/>
          </a:xfrm>
          <a:prstGeom prst="rect">
            <a:avLst/>
          </a:prstGeom>
          <a:solidFill>
            <a:srgbClr val="12294A"/>
          </a:solidFill>
          <a:ln/>
        </p:spPr>
      </p:sp>
      <p:sp>
        <p:nvSpPr>
          <p:cNvPr id="20" name="Text 18"/>
          <p:cNvSpPr txBox="1"/>
          <p:nvPr/>
        </p:nvSpPr>
        <p:spPr>
          <a:xfrm>
            <a:off x="3182112" y="3474720"/>
            <a:ext cx="1911096"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All servers, 480 MW</a:t>
            </a:r>
            <a:endParaRPr lang="en-US" sz="1200" dirty="0"/>
          </a:p>
        </p:txBody>
      </p:sp>
      <p:sp>
        <p:nvSpPr>
          <p:cNvPr id="21" name="Shape 19"/>
          <p:cNvSpPr/>
          <p:nvPr/>
        </p:nvSpPr>
        <p:spPr>
          <a:xfrm>
            <a:off x="4137660" y="4160520"/>
            <a:ext cx="0" cy="640080"/>
          </a:xfrm>
          <a:prstGeom prst="line">
            <a:avLst/>
          </a:prstGeom>
          <a:noFill/>
          <a:ln w="25400">
            <a:solidFill>
              <a:srgbClr val="4A78AD"/>
            </a:solidFill>
            <a:prstDash val="solid"/>
            <a:headEnd type="triangle"/>
          </a:ln>
        </p:spPr>
      </p:sp>
      <p:sp>
        <p:nvSpPr>
          <p:cNvPr id="22" name="Text 20"/>
          <p:cNvSpPr txBox="1"/>
          <p:nvPr/>
        </p:nvSpPr>
        <p:spPr>
          <a:xfrm>
            <a:off x="4247388" y="4325112"/>
            <a:ext cx="1097280" cy="292608"/>
          </a:xfrm>
          <a:prstGeom prst="rect">
            <a:avLst/>
          </a:prstGeom>
          <a:noFill/>
          <a:ln/>
        </p:spPr>
        <p:txBody>
          <a:bodyPr wrap="square" lIns="0" tIns="0" rIns="0" bIns="0" rtlCol="0" anchor="t"/>
          <a:lstStyle/>
          <a:p>
            <a:pPr indent="0" marL="0">
              <a:buNone/>
            </a:pPr>
            <a:r>
              <a:rPr lang="en-US" sz="1300" b="1" dirty="0">
                <a:solidFill>
                  <a:srgbClr val="4A78AD"/>
                </a:solidFill>
                <a:latin typeface="Arial" pitchFamily="34" charset="0"/>
                <a:ea typeface="Arial" pitchFamily="34" charset="-122"/>
                <a:cs typeface="Arial" pitchFamily="34" charset="-120"/>
              </a:rPr>
              <a:t>480 MW</a:t>
            </a:r>
            <a:endParaRPr lang="en-US" sz="1300" dirty="0"/>
          </a:p>
        </p:txBody>
      </p:sp>
      <p:sp>
        <p:nvSpPr>
          <p:cNvPr id="23" name="Battery, 1,920 MWh"/>
          <p:cNvSpPr/>
          <p:nvPr/>
        </p:nvSpPr>
        <p:spPr>
          <a:xfrm>
            <a:off x="3108960" y="4800600"/>
            <a:ext cx="2057400" cy="594360"/>
          </a:xfrm>
          <a:prstGeom prst="rect">
            <a:avLst/>
          </a:prstGeom>
          <a:solidFill>
            <a:srgbClr val="DCE6F1"/>
          </a:solidFill>
          <a:ln/>
        </p:spPr>
      </p:sp>
      <p:sp>
        <p:nvSpPr>
          <p:cNvPr id="24" name="Text 22"/>
          <p:cNvSpPr txBox="1"/>
          <p:nvPr/>
        </p:nvSpPr>
        <p:spPr>
          <a:xfrm>
            <a:off x="3182112" y="4800600"/>
            <a:ext cx="1911096" cy="594360"/>
          </a:xfrm>
          <a:prstGeom prst="rect">
            <a:avLst/>
          </a:prstGeom>
          <a:noFill/>
          <a:ln/>
        </p:spPr>
        <p:txBody>
          <a:bodyPr wrap="square" lIns="0" tIns="0" rIns="0" bIns="0" rtlCol="0" anchor="ctr"/>
          <a:lstStyle/>
          <a:p>
            <a:pPr algn="ctr" indent="0" marL="0">
              <a:buNone/>
            </a:pPr>
            <a:r>
              <a:rPr lang="en-US" sz="1300" b="1" dirty="0">
                <a:solidFill>
                  <a:srgbClr val="1E2329"/>
                </a:solidFill>
                <a:latin typeface="Arial" pitchFamily="34" charset="0"/>
                <a:ea typeface="Arial" pitchFamily="34" charset="-122"/>
                <a:cs typeface="Arial" pitchFamily="34" charset="-120"/>
              </a:rPr>
              <a:t>Battery, 1,920 MWh</a:t>
            </a:r>
            <a:endParaRPr lang="en-US" sz="1300" dirty="0"/>
          </a:p>
        </p:txBody>
      </p:sp>
      <p:sp>
        <p:nvSpPr>
          <p:cNvPr id="25" name="Text 23"/>
          <p:cNvSpPr txBox="1"/>
          <p:nvPr/>
        </p:nvSpPr>
        <p:spPr>
          <a:xfrm>
            <a:off x="5394960" y="1600200"/>
            <a:ext cx="2331720" cy="502920"/>
          </a:xfrm>
          <a:prstGeom prst="rect">
            <a:avLst/>
          </a:prstGeom>
          <a:noFill/>
          <a:ln/>
        </p:spPr>
        <p:txBody>
          <a:bodyPr wrap="square" lIns="0" tIns="0" rIns="0" bIns="0" rtlCol="0" anchor="b"/>
          <a:lstStyle/>
          <a:p>
            <a:pPr algn="ctr" indent="0" marL="0">
              <a:buNone/>
            </a:pPr>
            <a:r>
              <a:rPr lang="en-US" sz="1400" b="1" dirty="0">
                <a:solidFill>
                  <a:srgbClr val="1E2329"/>
                </a:solidFill>
                <a:latin typeface="Arial" pitchFamily="34" charset="0"/>
                <a:ea typeface="Arial" pitchFamily="34" charset="-122"/>
                <a:cs typeface="Arial" pitchFamily="34" charset="-120"/>
              </a:rPr>
              <a:t>Emergency, hours 5 to 8</a:t>
            </a:r>
            <a:endParaRPr lang="en-US" sz="1400" dirty="0"/>
          </a:p>
        </p:txBody>
      </p:sp>
      <p:sp>
        <p:nvSpPr>
          <p:cNvPr id="26" name="PJM grid"/>
          <p:cNvSpPr/>
          <p:nvPr/>
        </p:nvSpPr>
        <p:spPr>
          <a:xfrm>
            <a:off x="5532120" y="2240280"/>
            <a:ext cx="2057400" cy="594360"/>
          </a:xfrm>
          <a:prstGeom prst="rect">
            <a:avLst/>
          </a:prstGeom>
          <a:solidFill>
            <a:srgbClr val="F4F6F8"/>
          </a:solidFill>
          <a:ln/>
        </p:spPr>
      </p:sp>
      <p:sp>
        <p:nvSpPr>
          <p:cNvPr id="27" name="Text 25"/>
          <p:cNvSpPr txBox="1"/>
          <p:nvPr/>
        </p:nvSpPr>
        <p:spPr>
          <a:xfrm>
            <a:off x="5605272" y="2240280"/>
            <a:ext cx="1911096" cy="594360"/>
          </a:xfrm>
          <a:prstGeom prst="rect">
            <a:avLst/>
          </a:prstGeom>
          <a:noFill/>
          <a:ln/>
        </p:spPr>
        <p:txBody>
          <a:bodyPr wrap="square" lIns="0" tIns="0" rIns="0" bIns="0" rtlCol="0" anchor="ctr"/>
          <a:lstStyle/>
          <a:p>
            <a:pPr algn="ctr" indent="0" marL="0">
              <a:buNone/>
            </a:pPr>
            <a:r>
              <a:rPr lang="en-US" sz="1300" b="1" dirty="0">
                <a:solidFill>
                  <a:srgbClr val="8B939B"/>
                </a:solidFill>
                <a:latin typeface="Arial" pitchFamily="34" charset="0"/>
                <a:ea typeface="Arial" pitchFamily="34" charset="-122"/>
                <a:cs typeface="Arial" pitchFamily="34" charset="-120"/>
              </a:rPr>
              <a:t>PJM grid</a:t>
            </a:r>
            <a:endParaRPr lang="en-US" sz="1300" dirty="0"/>
          </a:p>
        </p:txBody>
      </p:sp>
      <p:sp>
        <p:nvSpPr>
          <p:cNvPr id="28" name="Shape 26"/>
          <p:cNvSpPr/>
          <p:nvPr/>
        </p:nvSpPr>
        <p:spPr>
          <a:xfrm>
            <a:off x="6560820" y="2834640"/>
            <a:ext cx="0" cy="640080"/>
          </a:xfrm>
          <a:prstGeom prst="line">
            <a:avLst/>
          </a:prstGeom>
          <a:noFill/>
          <a:ln w="25400">
            <a:solidFill>
              <a:srgbClr val="BAC1C8"/>
            </a:solidFill>
            <a:prstDash val="dash"/>
            <a:tailEnd type="triangle"/>
          </a:ln>
        </p:spPr>
      </p:sp>
      <p:sp>
        <p:nvSpPr>
          <p:cNvPr id="29" name="Text 27"/>
          <p:cNvSpPr txBox="1"/>
          <p:nvPr/>
        </p:nvSpPr>
        <p:spPr>
          <a:xfrm>
            <a:off x="6670548" y="2999232"/>
            <a:ext cx="1005840" cy="292608"/>
          </a:xfrm>
          <a:prstGeom prst="rect">
            <a:avLst/>
          </a:prstGeom>
          <a:noFill/>
          <a:ln/>
        </p:spPr>
        <p:txBody>
          <a:bodyPr wrap="square" lIns="0" tIns="0" rIns="0" bIns="0" rtlCol="0" anchor="t"/>
          <a:lstStyle/>
          <a:p>
            <a:pPr indent="0" marL="0">
              <a:buNone/>
            </a:pPr>
            <a:r>
              <a:rPr lang="en-US" sz="1300" b="1" dirty="0">
                <a:solidFill>
                  <a:srgbClr val="8B939B"/>
                </a:solidFill>
                <a:latin typeface="Arial" pitchFamily="34" charset="0"/>
                <a:ea typeface="Arial" pitchFamily="34" charset="-122"/>
                <a:cs typeface="Arial" pitchFamily="34" charset="-120"/>
              </a:rPr>
              <a:t>0 MW</a:t>
            </a:r>
            <a:endParaRPr lang="en-US" sz="1300" dirty="0"/>
          </a:p>
        </p:txBody>
      </p:sp>
      <p:sp>
        <p:nvSpPr>
          <p:cNvPr id="30" name="Critical servers, 240 MW"/>
          <p:cNvSpPr/>
          <p:nvPr/>
        </p:nvSpPr>
        <p:spPr>
          <a:xfrm>
            <a:off x="5532120" y="3474720"/>
            <a:ext cx="2057400" cy="685800"/>
          </a:xfrm>
          <a:prstGeom prst="rect">
            <a:avLst/>
          </a:prstGeom>
          <a:solidFill>
            <a:srgbClr val="12294A"/>
          </a:solidFill>
          <a:ln/>
        </p:spPr>
      </p:sp>
      <p:sp>
        <p:nvSpPr>
          <p:cNvPr id="31" name="Text 29"/>
          <p:cNvSpPr txBox="1"/>
          <p:nvPr/>
        </p:nvSpPr>
        <p:spPr>
          <a:xfrm>
            <a:off x="5605272" y="3474720"/>
            <a:ext cx="1911096"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Critical servers, 240 MW</a:t>
            </a:r>
            <a:endParaRPr lang="en-US" sz="1200" dirty="0"/>
          </a:p>
        </p:txBody>
      </p:sp>
      <p:sp>
        <p:nvSpPr>
          <p:cNvPr id="32" name="Shape 30"/>
          <p:cNvSpPr/>
          <p:nvPr/>
        </p:nvSpPr>
        <p:spPr>
          <a:xfrm>
            <a:off x="6560820" y="4160520"/>
            <a:ext cx="0" cy="640080"/>
          </a:xfrm>
          <a:prstGeom prst="line">
            <a:avLst/>
          </a:prstGeom>
          <a:noFill/>
          <a:ln w="25400">
            <a:solidFill>
              <a:srgbClr val="4A78AD"/>
            </a:solidFill>
            <a:prstDash val="solid"/>
            <a:headEnd type="triangle"/>
          </a:ln>
        </p:spPr>
      </p:sp>
      <p:sp>
        <p:nvSpPr>
          <p:cNvPr id="33" name="Text 31"/>
          <p:cNvSpPr txBox="1"/>
          <p:nvPr/>
        </p:nvSpPr>
        <p:spPr>
          <a:xfrm>
            <a:off x="6670548" y="4325112"/>
            <a:ext cx="1097280" cy="292608"/>
          </a:xfrm>
          <a:prstGeom prst="rect">
            <a:avLst/>
          </a:prstGeom>
          <a:noFill/>
          <a:ln/>
        </p:spPr>
        <p:txBody>
          <a:bodyPr wrap="square" lIns="0" tIns="0" rIns="0" bIns="0" rtlCol="0" anchor="t"/>
          <a:lstStyle/>
          <a:p>
            <a:pPr indent="0" marL="0">
              <a:buNone/>
            </a:pPr>
            <a:r>
              <a:rPr lang="en-US" sz="1300" b="1" dirty="0">
                <a:solidFill>
                  <a:srgbClr val="4A78AD"/>
                </a:solidFill>
                <a:latin typeface="Arial" pitchFamily="34" charset="0"/>
                <a:ea typeface="Arial" pitchFamily="34" charset="-122"/>
                <a:cs typeface="Arial" pitchFamily="34" charset="-120"/>
              </a:rPr>
              <a:t>240 MW</a:t>
            </a:r>
            <a:endParaRPr lang="en-US" sz="1300" dirty="0"/>
          </a:p>
        </p:txBody>
      </p:sp>
      <p:sp>
        <p:nvSpPr>
          <p:cNvPr id="34" name="Battery, 1,920 MWh"/>
          <p:cNvSpPr/>
          <p:nvPr/>
        </p:nvSpPr>
        <p:spPr>
          <a:xfrm>
            <a:off x="5532120" y="4800600"/>
            <a:ext cx="2057400" cy="594360"/>
          </a:xfrm>
          <a:prstGeom prst="rect">
            <a:avLst/>
          </a:prstGeom>
          <a:solidFill>
            <a:srgbClr val="DCE6F1"/>
          </a:solidFill>
          <a:ln/>
        </p:spPr>
      </p:sp>
      <p:sp>
        <p:nvSpPr>
          <p:cNvPr id="35" name="Text 33"/>
          <p:cNvSpPr txBox="1"/>
          <p:nvPr/>
        </p:nvSpPr>
        <p:spPr>
          <a:xfrm>
            <a:off x="5605272" y="4800600"/>
            <a:ext cx="1911096" cy="594360"/>
          </a:xfrm>
          <a:prstGeom prst="rect">
            <a:avLst/>
          </a:prstGeom>
          <a:noFill/>
          <a:ln/>
        </p:spPr>
        <p:txBody>
          <a:bodyPr wrap="square" lIns="0" tIns="0" rIns="0" bIns="0" rtlCol="0" anchor="ctr"/>
          <a:lstStyle/>
          <a:p>
            <a:pPr algn="ctr" indent="0" marL="0">
              <a:buNone/>
            </a:pPr>
            <a:r>
              <a:rPr lang="en-US" sz="1300" b="1" dirty="0">
                <a:solidFill>
                  <a:srgbClr val="1E2329"/>
                </a:solidFill>
                <a:latin typeface="Arial" pitchFamily="34" charset="0"/>
                <a:ea typeface="Arial" pitchFamily="34" charset="-122"/>
                <a:cs typeface="Arial" pitchFamily="34" charset="-120"/>
              </a:rPr>
              <a:t>Battery, 1,920 MWh</a:t>
            </a:r>
            <a:endParaRPr lang="en-US" sz="1300" dirty="0"/>
          </a:p>
        </p:txBody>
      </p:sp>
      <p:sp>
        <p:nvSpPr>
          <p:cNvPr id="36" name="Shape 34"/>
          <p:cNvSpPr/>
          <p:nvPr/>
        </p:nvSpPr>
        <p:spPr>
          <a:xfrm>
            <a:off x="2898648" y="1691640"/>
            <a:ext cx="0" cy="3749040"/>
          </a:xfrm>
          <a:prstGeom prst="line">
            <a:avLst/>
          </a:prstGeom>
          <a:noFill/>
          <a:ln w="9525">
            <a:solidFill>
              <a:srgbClr val="DADEE2"/>
            </a:solidFill>
            <a:prstDash val="solid"/>
          </a:ln>
        </p:spPr>
      </p:sp>
      <p:sp>
        <p:nvSpPr>
          <p:cNvPr id="37" name="Shape 35"/>
          <p:cNvSpPr/>
          <p:nvPr/>
        </p:nvSpPr>
        <p:spPr>
          <a:xfrm>
            <a:off x="5321808" y="1691640"/>
            <a:ext cx="0" cy="3749040"/>
          </a:xfrm>
          <a:prstGeom prst="line">
            <a:avLst/>
          </a:prstGeom>
          <a:noFill/>
          <a:ln w="9525">
            <a:solidFill>
              <a:srgbClr val="DADEE2"/>
            </a:solidFill>
            <a:prstDash val="solid"/>
          </a:ln>
        </p:spPr>
      </p:sp>
      <p:sp>
        <p:nvSpPr>
          <p:cNvPr id="38" name="Takeaway panel"/>
          <p:cNvSpPr/>
          <p:nvPr/>
        </p:nvSpPr>
        <p:spPr>
          <a:xfrm>
            <a:off x="8001000" y="1600200"/>
            <a:ext cx="3639312" cy="4251960"/>
          </a:xfrm>
          <a:prstGeom prst="rect">
            <a:avLst/>
          </a:prstGeom>
          <a:solidFill>
            <a:srgbClr val="EEF2F7"/>
          </a:solidFill>
          <a:ln/>
        </p:spPr>
      </p:sp>
      <p:sp>
        <p:nvSpPr>
          <p:cNvPr id="39" name="Text 37"/>
          <p:cNvSpPr txBox="1"/>
          <p:nvPr/>
        </p:nvSpPr>
        <p:spPr>
          <a:xfrm>
            <a:off x="8275320" y="1920240"/>
            <a:ext cx="3090672" cy="37033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PJM's 2025 emergencies in the Met-Ed zone lasted 3.2 to 7 hours</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The battery carries the whole campus for 4 hours, or the critical half for 8</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Only flexible AI training pauses after hour 4, a limit we write into the contract</a:t>
            </a:r>
            <a:endParaRPr lang="en-US" sz="1400" dirty="0"/>
          </a:p>
          <a:p>
            <a:pPr marL="177800" indent="-177800">
              <a:spcAft>
                <a:spcPts val="1000"/>
              </a:spcAft>
              <a:buSzPct val="100000"/>
              <a:buChar char="•"/>
            </a:pPr>
            <a:r>
              <a:rPr lang="en-US" sz="1400" dirty="0">
                <a:solidFill>
                  <a:srgbClr val="1E2329"/>
                </a:solidFill>
                <a:latin typeface="Arial" pitchFamily="34" charset="0"/>
                <a:ea typeface="Arial" pitchFamily="34" charset="-122"/>
                <a:cs typeface="Arial" pitchFamily="34" charset="-120"/>
              </a:rPr>
              <a:t>PJM gets 480 MW back in the hours it is short</a:t>
            </a:r>
            <a:endParaRPr lang="en-US" sz="1400" dirty="0"/>
          </a:p>
        </p:txBody>
      </p:sp>
      <p:sp>
        <p:nvSpPr>
          <p:cNvPr id="40"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B939B"/>
                </a:solidFill>
                <a:latin typeface="Arial" pitchFamily="34" charset="0"/>
                <a:ea typeface="Arial" pitchFamily="34" charset="-122"/>
                <a:cs typeface="Arial" pitchFamily="34" charset="-120"/>
              </a:rPr>
              <a:t>Source: PJM demand response event report, December 2025; Duke University Nicholas Institute, Rethinking Load Growth (2025); case packet; SLAM analysis (leepr)</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Ironwood pays for every grid upgrade it causes, so Met-Ed households and the 600-person plant do not</a:t>
            </a:r>
            <a:endParaRPr lang="en-US" sz="2200" dirty="0"/>
          </a:p>
        </p:txBody>
      </p:sp>
      <p:graphicFrame>
        <p:nvGraphicFramePr>
          <p:cNvPr id="6" name="Who pays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3566160"/>
                <a:gridCol w="2194560"/>
                <a:gridCol w="5330952"/>
              </a:tblGrid>
              <a:tr h="411480">
                <a:tc>
                  <a:txBody>
                    <a:bodyPr/>
                    <a:lstStyle/>
                    <a:p>
                      <a:pPr indent="0" marL="0">
                        <a:buNone/>
                      </a:pPr>
                      <a:r>
                        <a:rPr lang="en-US" sz="1200" b="1" dirty="0">
                          <a:solidFill>
                            <a:srgbClr val="56606B"/>
                          </a:solidFill>
                          <a:latin typeface="Arial" pitchFamily="34" charset="0"/>
                          <a:ea typeface="Arial" pitchFamily="34" charset="-122"/>
                          <a:cs typeface="Arial" pitchFamily="34" charset="-120"/>
                        </a:rPr>
                        <a:t>Cost or risk</a:t>
                      </a:r>
                      <a:endParaRPr lang="en-US" sz="12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1E2329"/>
                      </a:solidFill>
                      <a:prstDash val="solid"/>
                      <a:round/>
                      <a:headEnd type="none" w="med" len="med"/>
                      <a:tailEnd type="none" w="med" len="med"/>
                    </a:lnB>
                  </a:tcPr>
                </a:tc>
                <a:tc>
                  <a:txBody>
                    <a:bodyPr/>
                    <a:lstStyle/>
                    <a:p>
                      <a:pPr indent="0" marL="0">
                        <a:buNone/>
                      </a:pPr>
                      <a:r>
                        <a:rPr lang="en-US" sz="1200" b="1" dirty="0">
                          <a:solidFill>
                            <a:srgbClr val="56606B"/>
                          </a:solidFill>
                          <a:latin typeface="Arial" pitchFamily="34" charset="0"/>
                          <a:ea typeface="Arial" pitchFamily="34" charset="-122"/>
                          <a:cs typeface="Arial" pitchFamily="34" charset="-120"/>
                        </a:rPr>
                        <a:t>Who pays</a:t>
                      </a:r>
                      <a:endParaRPr lang="en-US" sz="12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1E2329"/>
                      </a:solidFill>
                      <a:prstDash val="solid"/>
                      <a:round/>
                      <a:headEnd type="none" w="med" len="med"/>
                      <a:tailEnd type="none" w="med" len="med"/>
                    </a:lnB>
                  </a:tcPr>
                </a:tc>
                <a:tc>
                  <a:txBody>
                    <a:bodyPr/>
                    <a:lstStyle/>
                    <a:p>
                      <a:pPr indent="0" marL="0">
                        <a:buNone/>
                      </a:pPr>
                      <a:r>
                        <a:rPr lang="en-US" sz="1200" b="1" dirty="0">
                          <a:solidFill>
                            <a:srgbClr val="56606B"/>
                          </a:solidFill>
                          <a:latin typeface="Arial" pitchFamily="34" charset="0"/>
                          <a:ea typeface="Arial" pitchFamily="34" charset="-122"/>
                          <a:cs typeface="Arial" pitchFamily="34" charset="-120"/>
                        </a:rPr>
                        <a:t>How it is enforced</a:t>
                      </a:r>
                      <a:endParaRPr lang="en-US" sz="12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15875" cap="flat" cmpd="sng" algn="ctr">
                      <a:solidFill>
                        <a:srgbClr val="1E2329"/>
                      </a:solidFill>
                      <a:prstDash val="solid"/>
                      <a:round/>
                      <a:headEnd type="none" w="med" len="med"/>
                      <a:tailEnd type="none" w="med" len="med"/>
                    </a:lnB>
                  </a:tcPr>
                </a:tc>
              </a:tr>
              <a:tr h="621792">
                <a:tc>
                  <a:txBody>
                    <a:bodyPr/>
                    <a:lstStyle/>
                    <a:p>
                      <a:pPr indent="0" marL="0">
                        <a:buNone/>
                      </a:pPr>
                      <a:r>
                        <a:rPr lang="en-US" sz="1300" b="1" dirty="0">
                          <a:solidFill>
                            <a:srgbClr val="1E2329"/>
                          </a:solidFill>
                          <a:latin typeface="Arial" pitchFamily="34" charset="0"/>
                          <a:ea typeface="Arial" pitchFamily="34" charset="-122"/>
                          <a:cs typeface="Arial" pitchFamily="34" charset="-120"/>
                        </a:rPr>
                        <a:t>Substation and lines built only for Ironwood</a:t>
                      </a:r>
                      <a:endParaRPr lang="en-US" sz="13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300" dirty="0">
                          <a:solidFill>
                            <a:srgbClr val="1E2329"/>
                          </a:solidFill>
                          <a:latin typeface="Arial" pitchFamily="34" charset="0"/>
                          <a:ea typeface="Arial" pitchFamily="34" charset="-122"/>
                          <a:cs typeface="Arial" pitchFamily="34" charset="-120"/>
                        </a:rPr>
                        <a:t>Slate Ridge, up front</a:t>
                      </a:r>
                      <a:endParaRPr lang="en-US" sz="13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300" dirty="0">
                          <a:solidFill>
                            <a:srgbClr val="1E2329"/>
                          </a:solidFill>
                          <a:latin typeface="Arial" pitchFamily="34" charset="0"/>
                          <a:ea typeface="Arial" pitchFamily="34" charset="-122"/>
                          <a:cs typeface="Arial" pitchFamily="34" charset="-120"/>
                        </a:rPr>
                        <a:t>Paid before construction, under the PUC's "but for" rule</a:t>
                      </a:r>
                      <a:endParaRPr lang="en-US" sz="13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r>
              <a:tr h="621792">
                <a:tc>
                  <a:txBody>
                    <a:bodyPr/>
                    <a:lstStyle/>
                    <a:p>
                      <a:pPr indent="0" marL="0">
                        <a:buNone/>
                      </a:pPr>
                      <a:r>
                        <a:rPr lang="en-US" sz="1300" b="1" dirty="0">
                          <a:solidFill>
                            <a:srgbClr val="1E2329"/>
                          </a:solidFill>
                          <a:latin typeface="Arial" pitchFamily="34" charset="0"/>
                          <a:ea typeface="Arial" pitchFamily="34" charset="-122"/>
                          <a:cs typeface="Arial" pitchFamily="34" charset="-120"/>
                        </a:rPr>
                        <a:t>Risk the load never arrives</a:t>
                      </a:r>
                      <a:endParaRPr lang="en-US" sz="13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300" dirty="0">
                          <a:solidFill>
                            <a:srgbClr val="1E2329"/>
                          </a:solidFill>
                          <a:latin typeface="Arial" pitchFamily="34" charset="0"/>
                          <a:ea typeface="Arial" pitchFamily="34" charset="-122"/>
                          <a:cs typeface="Arial" pitchFamily="34" charset="-120"/>
                        </a:rPr>
                        <a:t>Slate Ridge</a:t>
                      </a:r>
                      <a:endParaRPr lang="en-US" sz="13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300" dirty="0">
                          <a:solidFill>
                            <a:srgbClr val="1E2329"/>
                          </a:solidFill>
                          <a:latin typeface="Arial" pitchFamily="34" charset="0"/>
                          <a:ea typeface="Arial" pitchFamily="34" charset="-122"/>
                          <a:cs typeface="Arial" pitchFamily="34" charset="-120"/>
                        </a:rPr>
                        <a:t>A minimum bill of 80% of contracted demand, backed by collateral</a:t>
                      </a:r>
                      <a:endParaRPr lang="en-US" sz="13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r>
              <a:tr h="621792">
                <a:tc>
                  <a:txBody>
                    <a:bodyPr/>
                    <a:lstStyle/>
                    <a:p>
                      <a:pPr indent="0" marL="0">
                        <a:buNone/>
                      </a:pPr>
                      <a:r>
                        <a:rPr lang="en-US" sz="1300" b="1" dirty="0">
                          <a:solidFill>
                            <a:srgbClr val="1E2329"/>
                          </a:solidFill>
                          <a:latin typeface="Arial" pitchFamily="34" charset="0"/>
                          <a:ea typeface="Arial" pitchFamily="34" charset="-122"/>
                          <a:cs typeface="Arial" pitchFamily="34" charset="-120"/>
                        </a:rPr>
                        <a:t>Leaving early or shrinking</a:t>
                      </a:r>
                      <a:endParaRPr lang="en-US" sz="13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300" dirty="0">
                          <a:solidFill>
                            <a:srgbClr val="1E2329"/>
                          </a:solidFill>
                          <a:latin typeface="Arial" pitchFamily="34" charset="0"/>
                          <a:ea typeface="Arial" pitchFamily="34" charset="-122"/>
                          <a:cs typeface="Arial" pitchFamily="34" charset="-120"/>
                        </a:rPr>
                        <a:t>Slate Ridge</a:t>
                      </a:r>
                      <a:endParaRPr lang="en-US" sz="13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300" dirty="0">
                          <a:solidFill>
                            <a:srgbClr val="1E2329"/>
                          </a:solidFill>
                          <a:latin typeface="Arial" pitchFamily="34" charset="0"/>
                          <a:ea typeface="Arial" pitchFamily="34" charset="-122"/>
                          <a:cs typeface="Arial" pitchFamily="34" charset="-120"/>
                        </a:rPr>
                        <a:t>An exit fee covering unrecovered costs or remaining minimum charges</a:t>
                      </a:r>
                      <a:endParaRPr lang="en-US" sz="13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r>
              <a:tr h="621792">
                <a:tc>
                  <a:txBody>
                    <a:bodyPr/>
                    <a:lstStyle/>
                    <a:p>
                      <a:pPr indent="0" marL="0">
                        <a:buNone/>
                      </a:pPr>
                      <a:r>
                        <a:rPr lang="en-US" sz="1300" b="1" dirty="0">
                          <a:solidFill>
                            <a:srgbClr val="1E2329"/>
                          </a:solidFill>
                          <a:latin typeface="Arial" pitchFamily="34" charset="0"/>
                          <a:ea typeface="Arial" pitchFamily="34" charset="-122"/>
                          <a:cs typeface="Arial" pitchFamily="34" charset="-120"/>
                        </a:rPr>
                        <a:t>Clean energy for the 2035 step</a:t>
                      </a:r>
                      <a:endParaRPr lang="en-US" sz="13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300" dirty="0">
                          <a:solidFill>
                            <a:srgbClr val="1E2329"/>
                          </a:solidFill>
                          <a:latin typeface="Arial" pitchFamily="34" charset="0"/>
                          <a:ea typeface="Arial" pitchFamily="34" charset="-122"/>
                          <a:cs typeface="Arial" pitchFamily="34" charset="-120"/>
                        </a:rPr>
                        <a:t>The anchor customer</a:t>
                      </a:r>
                      <a:endParaRPr lang="en-US" sz="13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300" dirty="0">
                          <a:solidFill>
                            <a:srgbClr val="1E2329"/>
                          </a:solidFill>
                          <a:latin typeface="Arial" pitchFamily="34" charset="0"/>
                          <a:ea typeface="Arial" pitchFamily="34" charset="-122"/>
                          <a:cs typeface="Arial" pitchFamily="34" charset="-120"/>
                        </a:rPr>
                        <a:t>Contracts for 32% clean firm power, 1,346 GWh a year by 2035</a:t>
                      </a:r>
                      <a:endParaRPr lang="en-US" sz="13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r>
              <a:tr h="621792">
                <a:tc>
                  <a:txBody>
                    <a:bodyPr/>
                    <a:lstStyle/>
                    <a:p>
                      <a:pPr indent="0" marL="0">
                        <a:buNone/>
                      </a:pPr>
                      <a:r>
                        <a:rPr lang="en-US" sz="1300" b="1" dirty="0">
                          <a:solidFill>
                            <a:srgbClr val="1E2329"/>
                          </a:solidFill>
                          <a:latin typeface="Arial" pitchFamily="34" charset="0"/>
                          <a:ea typeface="Arial" pitchFamily="34" charset="-122"/>
                          <a:cs typeface="Arial" pitchFamily="34" charset="-120"/>
                        </a:rPr>
                        <a:t>Strain on PJM in emergencies</a:t>
                      </a:r>
                      <a:endParaRPr lang="en-US" sz="13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300" dirty="0">
                          <a:solidFill>
                            <a:srgbClr val="1E2329"/>
                          </a:solidFill>
                          <a:latin typeface="Arial" pitchFamily="34" charset="0"/>
                          <a:ea typeface="Arial" pitchFamily="34" charset="-122"/>
                          <a:cs typeface="Arial" pitchFamily="34" charset="-120"/>
                        </a:rPr>
                        <a:t>Ironwood</a:t>
                      </a:r>
                      <a:endParaRPr lang="en-US" sz="13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300" dirty="0">
                          <a:solidFill>
                            <a:srgbClr val="1E2329"/>
                          </a:solidFill>
                          <a:latin typeface="Arial" pitchFamily="34" charset="0"/>
                          <a:ea typeface="Arial" pitchFamily="34" charset="-122"/>
                          <a:cs typeface="Arial" pitchFamily="34" charset="-120"/>
                        </a:rPr>
                        <a:t>The battery takes 480 MW off the grid in those hours</a:t>
                      </a:r>
                      <a:endParaRPr lang="en-US" sz="1300" dirty="0">
                        <a:latin typeface="Arial" charset="0"/>
                        <a:ea typeface="Arial" charset="0"/>
                        <a:cs typeface="Arial" charset="0"/>
                      </a:endParaRPr>
                    </a:p>
                  </a:txBody>
                  <a:tcPr marL="109728" marR="109728" marT="45720" marB="45720"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r>
            </a:tbl>
          </a:graphicData>
        </a:graphic>
      </p:graphicFrame>
      <p:sp>
        <p:nvSpPr>
          <p:cNvPr id="4" name="Commitment line"/>
          <p:cNvSpPr/>
          <p:nvPr/>
        </p:nvSpPr>
        <p:spPr>
          <a:xfrm>
            <a:off x="548640" y="5257800"/>
            <a:ext cx="11091672" cy="566928"/>
          </a:xfrm>
          <a:prstGeom prst="rect">
            <a:avLst/>
          </a:prstGeom>
          <a:solidFill>
            <a:srgbClr val="EEF2F7"/>
          </a:solidFill>
          <a:ln/>
        </p:spPr>
      </p:sp>
      <p:sp>
        <p:nvSpPr>
          <p:cNvPr id="5" name="Text 2"/>
          <p:cNvSpPr txBox="1"/>
          <p:nvPr/>
        </p:nvSpPr>
        <p:spPr>
          <a:xfrm>
            <a:off x="777240" y="5257800"/>
            <a:ext cx="10698480" cy="566928"/>
          </a:xfrm>
          <a:prstGeom prst="rect">
            <a:avLst/>
          </a:prstGeom>
          <a:noFill/>
          <a:ln/>
        </p:spPr>
        <p:txBody>
          <a:bodyPr wrap="square" lIns="0" tIns="0" rIns="0" bIns="0" rtlCol="0" anchor="ctr"/>
          <a:lstStyle/>
          <a:p>
            <a:pPr indent="0" marL="0">
              <a:buNone/>
            </a:pPr>
            <a:r>
              <a:rPr lang="en-US" sz="1400" b="1" dirty="0">
                <a:solidFill>
                  <a:srgbClr val="12294A"/>
                </a:solidFill>
                <a:latin typeface="Arial" pitchFamily="34" charset="0"/>
                <a:ea typeface="Arial" pitchFamily="34" charset="-122"/>
                <a:cs typeface="Arial" pitchFamily="34" charset="-120"/>
              </a:rPr>
              <a:t>The PUC's model tariff is guidance that utilities may adopt. KGE would sign its terms with Met-Ed anyway, in writing.</a:t>
            </a:r>
            <a:endParaRPr lang="en-US" sz="1400" dirty="0"/>
          </a:p>
        </p:txBody>
      </p:sp>
      <p:sp>
        <p:nvSpPr>
          <p:cNvPr id="6"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B939B"/>
                </a:solidFill>
                <a:latin typeface="Arial" pitchFamily="34" charset="0"/>
                <a:ea typeface="Arial" pitchFamily="34" charset="-122"/>
                <a:cs typeface="Arial" pitchFamily="34" charset="-120"/>
              </a:rPr>
              <a:t>Source: PA PUC Large Load Model Tariff final order, 13 May 2026 (M-2025-3054271); PA GRID Standards; Met-Ed tariff service territory; case packet; SLAM analysis (leepr)</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Across every input range we tested, the hybrid costs between $11 and $25 more per MWh than grid power</a:t>
            </a:r>
            <a:endParaRPr lang="en-US" sz="2200" dirty="0"/>
          </a:p>
        </p:txBody>
      </p:sp>
      <p:sp>
        <p:nvSpPr>
          <p:cNvPr id="3" name="Unit line"/>
          <p:cNvSpPr txBox="1"/>
          <p:nvPr/>
        </p:nvSpPr>
        <p:spPr>
          <a:xfrm>
            <a:off x="548640" y="1600200"/>
            <a:ext cx="10972800" cy="274320"/>
          </a:xfrm>
          <a:prstGeom prst="rect">
            <a:avLst/>
          </a:prstGeom>
          <a:noFill/>
          <a:ln/>
        </p:spPr>
        <p:txBody>
          <a:bodyPr wrap="square" lIns="0" tIns="0" rIns="0" bIns="0" rtlCol="0" anchor="t"/>
          <a:lstStyle/>
          <a:p>
            <a:pPr indent="0" marL="0">
              <a:buNone/>
            </a:pPr>
            <a:r>
              <a:rPr lang="en-US" sz="1200" dirty="0">
                <a:solidFill>
                  <a:srgbClr val="56606B"/>
                </a:solidFill>
                <a:latin typeface="Arial" pitchFamily="34" charset="0"/>
                <a:ea typeface="Arial" pitchFamily="34" charset="-122"/>
                <a:cs typeface="Arial" pitchFamily="34" charset="-120"/>
              </a:rPr>
              <a:t>Hybrid premium over grid only, $ per MWh, when one input moves to its low or high end</a:t>
            </a:r>
            <a:endParaRPr lang="en-US" sz="1200" dirty="0"/>
          </a:p>
        </p:txBody>
      </p:sp>
      <p:sp>
        <p:nvSpPr>
          <p:cNvPr id="4" name="Shape 2"/>
          <p:cNvSpPr/>
          <p:nvPr/>
        </p:nvSpPr>
        <p:spPr>
          <a:xfrm>
            <a:off x="8966606" y="2057400"/>
            <a:ext cx="0" cy="3566160"/>
          </a:xfrm>
          <a:prstGeom prst="line">
            <a:avLst/>
          </a:prstGeom>
          <a:noFill/>
          <a:ln w="15875">
            <a:solidFill>
              <a:srgbClr val="1E2329"/>
            </a:solidFill>
            <a:prstDash val="solid"/>
          </a:ln>
        </p:spPr>
      </p:sp>
      <p:sp>
        <p:nvSpPr>
          <p:cNvPr id="5" name="Text 3"/>
          <p:cNvSpPr txBox="1"/>
          <p:nvPr/>
        </p:nvSpPr>
        <p:spPr>
          <a:xfrm>
            <a:off x="8052206" y="5650992"/>
            <a:ext cx="1828800" cy="228600"/>
          </a:xfrm>
          <a:prstGeom prst="rect">
            <a:avLst/>
          </a:prstGeom>
          <a:noFill/>
          <a:ln/>
        </p:spPr>
        <p:txBody>
          <a:bodyPr wrap="square" lIns="0" tIns="0" rIns="0" bIns="0" rtlCol="0" anchor="t"/>
          <a:lstStyle/>
          <a:p>
            <a:pPr algn="ctr" indent="0" marL="0">
              <a:buNone/>
            </a:pPr>
            <a:r>
              <a:rPr lang="en-US" sz="1100" b="1" dirty="0">
                <a:solidFill>
                  <a:srgbClr val="1E2329"/>
                </a:solidFill>
                <a:latin typeface="Arial" pitchFamily="34" charset="0"/>
                <a:ea typeface="Arial" pitchFamily="34" charset="-122"/>
                <a:cs typeface="Arial" pitchFamily="34" charset="-120"/>
              </a:rPr>
              <a:t>Base case $20.02</a:t>
            </a:r>
            <a:endParaRPr lang="en-US" sz="1100" dirty="0"/>
          </a:p>
        </p:txBody>
      </p:sp>
      <p:sp>
        <p:nvSpPr>
          <p:cNvPr id="6" name="Text 4"/>
          <p:cNvSpPr txBox="1"/>
          <p:nvPr/>
        </p:nvSpPr>
        <p:spPr>
          <a:xfrm>
            <a:off x="548640" y="2130552"/>
            <a:ext cx="4389120" cy="502920"/>
          </a:xfrm>
          <a:prstGeom prst="rect">
            <a:avLst/>
          </a:prstGeom>
          <a:noFill/>
          <a:ln/>
        </p:spPr>
        <p:txBody>
          <a:bodyPr wrap="square" lIns="0" tIns="0" rIns="0" bIns="0" rtlCol="0" anchor="t"/>
          <a:lstStyle/>
          <a:p>
            <a:pPr indent="0" marL="0">
              <a:buNone/>
            </a:pPr>
            <a:r>
              <a:rPr lang="en-US" sz="1300" b="1" dirty="0">
                <a:solidFill>
                  <a:srgbClr val="1E2329"/>
                </a:solidFill>
                <a:latin typeface="Arial" pitchFamily="34" charset="0"/>
                <a:ea typeface="Arial" pitchFamily="34" charset="-122"/>
                <a:cs typeface="Arial" pitchFamily="34" charset="-120"/>
              </a:rPr>
              <a:t>Wholesale power price</a:t>
            </a:r>
            <a:endParaRPr lang="en-US" sz="1300" dirty="0"/>
          </a:p>
          <a:p>
            <a:pPr indent="0" marL="0">
              <a:buNone/>
            </a:pPr>
            <a:r>
              <a:rPr lang="en-US" sz="1100" dirty="0">
                <a:solidFill>
                  <a:srgbClr val="56606B"/>
                </a:solidFill>
                <a:latin typeface="Arial" pitchFamily="34" charset="0"/>
                <a:ea typeface="Arial" pitchFamily="34" charset="-122"/>
                <a:cs typeface="Arial" pitchFamily="34" charset="-120"/>
              </a:rPr>
              <a:t>$33.74 to $74.06 per MWh</a:t>
            </a:r>
            <a:endParaRPr lang="en-US" sz="1300" dirty="0"/>
          </a:p>
        </p:txBody>
      </p:sp>
      <p:sp>
        <p:nvSpPr>
          <p:cNvPr id="7" name="Lower 1"/>
          <p:cNvSpPr/>
          <p:nvPr/>
        </p:nvSpPr>
        <p:spPr>
          <a:xfrm>
            <a:off x="6917436" y="2194560"/>
            <a:ext cx="2049170" cy="365760"/>
          </a:xfrm>
          <a:prstGeom prst="rect">
            <a:avLst/>
          </a:prstGeom>
          <a:solidFill>
            <a:srgbClr val="4A78AD"/>
          </a:solidFill>
          <a:ln/>
        </p:spPr>
      </p:sp>
      <p:sp>
        <p:nvSpPr>
          <p:cNvPr id="8" name="Higher 1"/>
          <p:cNvSpPr/>
          <p:nvPr/>
        </p:nvSpPr>
        <p:spPr>
          <a:xfrm>
            <a:off x="8966606" y="2194560"/>
            <a:ext cx="1492301" cy="365760"/>
          </a:xfrm>
          <a:prstGeom prst="rect">
            <a:avLst/>
          </a:prstGeom>
          <a:solidFill>
            <a:srgbClr val="12294A"/>
          </a:solidFill>
          <a:ln/>
        </p:spPr>
      </p:sp>
      <p:sp>
        <p:nvSpPr>
          <p:cNvPr id="9" name="Text 7"/>
          <p:cNvSpPr txBox="1"/>
          <p:nvPr/>
        </p:nvSpPr>
        <p:spPr>
          <a:xfrm>
            <a:off x="5957316" y="2240280"/>
            <a:ext cx="914400" cy="274320"/>
          </a:xfrm>
          <a:prstGeom prst="rect">
            <a:avLst/>
          </a:prstGeom>
          <a:noFill/>
          <a:ln/>
        </p:spPr>
        <p:txBody>
          <a:bodyPr wrap="square" lIns="0" tIns="0" rIns="0" bIns="0" rtlCol="0" anchor="t"/>
          <a:lstStyle/>
          <a:p>
            <a:pPr algn="r" indent="0" marL="0">
              <a:buNone/>
            </a:pPr>
            <a:r>
              <a:rPr lang="en-US" sz="1200" b="1" dirty="0">
                <a:solidFill>
                  <a:srgbClr val="1E2329"/>
                </a:solidFill>
                <a:latin typeface="Arial" pitchFamily="34" charset="0"/>
                <a:ea typeface="Arial" pitchFamily="34" charset="-122"/>
                <a:cs typeface="Arial" pitchFamily="34" charset="-120"/>
              </a:rPr>
              <a:t>$12.55</a:t>
            </a:r>
            <a:endParaRPr lang="en-US" sz="1200" dirty="0"/>
          </a:p>
        </p:txBody>
      </p:sp>
      <p:sp>
        <p:nvSpPr>
          <p:cNvPr id="10" name="Text 8"/>
          <p:cNvSpPr txBox="1"/>
          <p:nvPr/>
        </p:nvSpPr>
        <p:spPr>
          <a:xfrm>
            <a:off x="10532059" y="2240280"/>
            <a:ext cx="914400" cy="274320"/>
          </a:xfrm>
          <a:prstGeom prst="rect">
            <a:avLst/>
          </a:prstGeom>
          <a:noFill/>
          <a:ln/>
        </p:spPr>
        <p:txBody>
          <a:bodyPr wrap="square" lIns="0" tIns="0" rIns="0" bIns="0" rtlCol="0" anchor="t"/>
          <a:lstStyle/>
          <a:p>
            <a:pPr indent="0" marL="0">
              <a:buNone/>
            </a:pPr>
            <a:r>
              <a:rPr lang="en-US" sz="1200" b="1" dirty="0">
                <a:solidFill>
                  <a:srgbClr val="1E2329"/>
                </a:solidFill>
                <a:latin typeface="Arial" pitchFamily="34" charset="0"/>
                <a:ea typeface="Arial" pitchFamily="34" charset="-122"/>
                <a:cs typeface="Arial" pitchFamily="34" charset="-120"/>
              </a:rPr>
              <a:t>$25.46</a:t>
            </a:r>
            <a:endParaRPr lang="en-US" sz="1200" dirty="0"/>
          </a:p>
        </p:txBody>
      </p:sp>
      <p:sp>
        <p:nvSpPr>
          <p:cNvPr id="11" name="Text 9"/>
          <p:cNvSpPr txBox="1"/>
          <p:nvPr/>
        </p:nvSpPr>
        <p:spPr>
          <a:xfrm>
            <a:off x="548640" y="2807208"/>
            <a:ext cx="4389120" cy="502920"/>
          </a:xfrm>
          <a:prstGeom prst="rect">
            <a:avLst/>
          </a:prstGeom>
          <a:noFill/>
          <a:ln/>
        </p:spPr>
        <p:txBody>
          <a:bodyPr wrap="square" lIns="0" tIns="0" rIns="0" bIns="0" rtlCol="0" anchor="t"/>
          <a:lstStyle/>
          <a:p>
            <a:pPr indent="0" marL="0">
              <a:buNone/>
            </a:pPr>
            <a:r>
              <a:rPr lang="en-US" sz="1300" b="1" dirty="0">
                <a:solidFill>
                  <a:srgbClr val="1E2329"/>
                </a:solidFill>
                <a:latin typeface="Arial" pitchFamily="34" charset="0"/>
                <a:ea typeface="Arial" pitchFamily="34" charset="-122"/>
                <a:cs typeface="Arial" pitchFamily="34" charset="-120"/>
              </a:rPr>
              <a:t>Battery cost</a:t>
            </a:r>
            <a:endParaRPr lang="en-US" sz="1300" dirty="0"/>
          </a:p>
          <a:p>
            <a:pPr indent="0" marL="0">
              <a:buNone/>
            </a:pPr>
            <a:r>
              <a:rPr lang="en-US" sz="1100" dirty="0">
                <a:solidFill>
                  <a:srgbClr val="56606B"/>
                </a:solidFill>
                <a:latin typeface="Arial" pitchFamily="34" charset="0"/>
                <a:ea typeface="Arial" pitchFamily="34" charset="-122"/>
                <a:cs typeface="Arial" pitchFamily="34" charset="-120"/>
              </a:rPr>
              <a:t>$207 to $365 per kWh</a:t>
            </a:r>
            <a:endParaRPr lang="en-US" sz="1300" dirty="0"/>
          </a:p>
        </p:txBody>
      </p:sp>
      <p:sp>
        <p:nvSpPr>
          <p:cNvPr id="12" name="Lower 2"/>
          <p:cNvSpPr/>
          <p:nvPr/>
        </p:nvSpPr>
        <p:spPr>
          <a:xfrm>
            <a:off x="6475781" y="2871216"/>
            <a:ext cx="2490826" cy="365760"/>
          </a:xfrm>
          <a:prstGeom prst="rect">
            <a:avLst/>
          </a:prstGeom>
          <a:solidFill>
            <a:srgbClr val="4A78AD"/>
          </a:solidFill>
          <a:ln/>
        </p:spPr>
      </p:sp>
      <p:sp>
        <p:nvSpPr>
          <p:cNvPr id="13" name="Higher 2"/>
          <p:cNvSpPr/>
          <p:nvPr/>
        </p:nvSpPr>
        <p:spPr>
          <a:xfrm>
            <a:off x="8966606" y="2871216"/>
            <a:ext cx="606247" cy="365760"/>
          </a:xfrm>
          <a:prstGeom prst="rect">
            <a:avLst/>
          </a:prstGeom>
          <a:solidFill>
            <a:srgbClr val="12294A"/>
          </a:solidFill>
          <a:ln/>
        </p:spPr>
      </p:sp>
      <p:sp>
        <p:nvSpPr>
          <p:cNvPr id="14" name="Text 12"/>
          <p:cNvSpPr txBox="1"/>
          <p:nvPr/>
        </p:nvSpPr>
        <p:spPr>
          <a:xfrm>
            <a:off x="5515661" y="2916936"/>
            <a:ext cx="914400" cy="274320"/>
          </a:xfrm>
          <a:prstGeom prst="rect">
            <a:avLst/>
          </a:prstGeom>
          <a:noFill/>
          <a:ln/>
        </p:spPr>
        <p:txBody>
          <a:bodyPr wrap="square" lIns="0" tIns="0" rIns="0" bIns="0" rtlCol="0" anchor="t"/>
          <a:lstStyle/>
          <a:p>
            <a:pPr algn="r" indent="0" marL="0">
              <a:buNone/>
            </a:pPr>
            <a:r>
              <a:rPr lang="en-US" sz="1200" b="1" dirty="0">
                <a:solidFill>
                  <a:srgbClr val="1E2329"/>
                </a:solidFill>
                <a:latin typeface="Arial" pitchFamily="34" charset="0"/>
                <a:ea typeface="Arial" pitchFamily="34" charset="-122"/>
                <a:cs typeface="Arial" pitchFamily="34" charset="-120"/>
              </a:rPr>
              <a:t>$10.94</a:t>
            </a:r>
            <a:endParaRPr lang="en-US" sz="1200" dirty="0"/>
          </a:p>
        </p:txBody>
      </p:sp>
      <p:sp>
        <p:nvSpPr>
          <p:cNvPr id="15" name="Text 13"/>
          <p:cNvSpPr txBox="1"/>
          <p:nvPr/>
        </p:nvSpPr>
        <p:spPr>
          <a:xfrm>
            <a:off x="9646006" y="2916936"/>
            <a:ext cx="914400" cy="274320"/>
          </a:xfrm>
          <a:prstGeom prst="rect">
            <a:avLst/>
          </a:prstGeom>
          <a:noFill/>
          <a:ln/>
        </p:spPr>
        <p:txBody>
          <a:bodyPr wrap="square" lIns="0" tIns="0" rIns="0" bIns="0" rtlCol="0" anchor="t"/>
          <a:lstStyle/>
          <a:p>
            <a:pPr indent="0" marL="0">
              <a:buNone/>
            </a:pPr>
            <a:r>
              <a:rPr lang="en-US" sz="1200" b="1" dirty="0">
                <a:solidFill>
                  <a:srgbClr val="1E2329"/>
                </a:solidFill>
                <a:latin typeface="Arial" pitchFamily="34" charset="0"/>
                <a:ea typeface="Arial" pitchFamily="34" charset="-122"/>
                <a:cs typeface="Arial" pitchFamily="34" charset="-120"/>
              </a:rPr>
              <a:t>$22.23</a:t>
            </a:r>
            <a:endParaRPr lang="en-US" sz="1200" dirty="0"/>
          </a:p>
        </p:txBody>
      </p:sp>
      <p:sp>
        <p:nvSpPr>
          <p:cNvPr id="16" name="Text 14"/>
          <p:cNvSpPr txBox="1"/>
          <p:nvPr/>
        </p:nvSpPr>
        <p:spPr>
          <a:xfrm>
            <a:off x="548640" y="3483864"/>
            <a:ext cx="4389120" cy="502920"/>
          </a:xfrm>
          <a:prstGeom prst="rect">
            <a:avLst/>
          </a:prstGeom>
          <a:noFill/>
          <a:ln/>
        </p:spPr>
        <p:txBody>
          <a:bodyPr wrap="square" lIns="0" tIns="0" rIns="0" bIns="0" rtlCol="0" anchor="t"/>
          <a:lstStyle/>
          <a:p>
            <a:pPr indent="0" marL="0">
              <a:buNone/>
            </a:pPr>
            <a:r>
              <a:rPr lang="en-US" sz="1300" b="1" dirty="0">
                <a:solidFill>
                  <a:srgbClr val="1E2329"/>
                </a:solidFill>
                <a:latin typeface="Arial" pitchFamily="34" charset="0"/>
                <a:ea typeface="Arial" pitchFamily="34" charset="-122"/>
                <a:cs typeface="Arial" pitchFamily="34" charset="-120"/>
              </a:rPr>
              <a:t>Solar PPA price</a:t>
            </a:r>
            <a:endParaRPr lang="en-US" sz="1300" dirty="0"/>
          </a:p>
          <a:p>
            <a:pPr indent="0" marL="0">
              <a:buNone/>
            </a:pPr>
            <a:r>
              <a:rPr lang="en-US" sz="1100" dirty="0">
                <a:solidFill>
                  <a:srgbClr val="56606B"/>
                </a:solidFill>
                <a:latin typeface="Arial" pitchFamily="34" charset="0"/>
                <a:ea typeface="Arial" pitchFamily="34" charset="-122"/>
                <a:cs typeface="Arial" pitchFamily="34" charset="-120"/>
              </a:rPr>
              <a:t>$52.65 to $83.79 per MWh</a:t>
            </a:r>
            <a:endParaRPr lang="en-US" sz="1300" dirty="0"/>
          </a:p>
        </p:txBody>
      </p:sp>
      <p:sp>
        <p:nvSpPr>
          <p:cNvPr id="17" name="Lower 3"/>
          <p:cNvSpPr/>
          <p:nvPr/>
        </p:nvSpPr>
        <p:spPr>
          <a:xfrm>
            <a:off x="6475781" y="3547872"/>
            <a:ext cx="2490826" cy="365760"/>
          </a:xfrm>
          <a:prstGeom prst="rect">
            <a:avLst/>
          </a:prstGeom>
          <a:solidFill>
            <a:srgbClr val="4A78AD"/>
          </a:solidFill>
          <a:ln/>
        </p:spPr>
      </p:sp>
      <p:sp>
        <p:nvSpPr>
          <p:cNvPr id="18" name="Higher 3"/>
          <p:cNvSpPr/>
          <p:nvPr/>
        </p:nvSpPr>
        <p:spPr>
          <a:xfrm>
            <a:off x="8966606" y="3547872"/>
            <a:ext cx="241402" cy="365760"/>
          </a:xfrm>
          <a:prstGeom prst="rect">
            <a:avLst/>
          </a:prstGeom>
          <a:solidFill>
            <a:srgbClr val="12294A"/>
          </a:solidFill>
          <a:ln/>
        </p:spPr>
      </p:sp>
      <p:sp>
        <p:nvSpPr>
          <p:cNvPr id="19" name="Text 17"/>
          <p:cNvSpPr txBox="1"/>
          <p:nvPr/>
        </p:nvSpPr>
        <p:spPr>
          <a:xfrm>
            <a:off x="5515661" y="3593592"/>
            <a:ext cx="914400" cy="274320"/>
          </a:xfrm>
          <a:prstGeom prst="rect">
            <a:avLst/>
          </a:prstGeom>
          <a:noFill/>
          <a:ln/>
        </p:spPr>
        <p:txBody>
          <a:bodyPr wrap="square" lIns="0" tIns="0" rIns="0" bIns="0" rtlCol="0" anchor="t"/>
          <a:lstStyle/>
          <a:p>
            <a:pPr algn="r" indent="0" marL="0">
              <a:buNone/>
            </a:pPr>
            <a:r>
              <a:rPr lang="en-US" sz="1200" b="1" dirty="0">
                <a:solidFill>
                  <a:srgbClr val="1E2329"/>
                </a:solidFill>
                <a:latin typeface="Arial" pitchFamily="34" charset="0"/>
                <a:ea typeface="Arial" pitchFamily="34" charset="-122"/>
                <a:cs typeface="Arial" pitchFamily="34" charset="-120"/>
              </a:rPr>
              <a:t>$10.94</a:t>
            </a:r>
            <a:endParaRPr lang="en-US" sz="1200" dirty="0"/>
          </a:p>
        </p:txBody>
      </p:sp>
      <p:sp>
        <p:nvSpPr>
          <p:cNvPr id="20" name="Text 18"/>
          <p:cNvSpPr txBox="1"/>
          <p:nvPr/>
        </p:nvSpPr>
        <p:spPr>
          <a:xfrm>
            <a:off x="9281160" y="3593592"/>
            <a:ext cx="914400" cy="274320"/>
          </a:xfrm>
          <a:prstGeom prst="rect">
            <a:avLst/>
          </a:prstGeom>
          <a:noFill/>
          <a:ln/>
        </p:spPr>
        <p:txBody>
          <a:bodyPr wrap="square" lIns="0" tIns="0" rIns="0" bIns="0" rtlCol="0" anchor="t"/>
          <a:lstStyle/>
          <a:p>
            <a:pPr indent="0" marL="0">
              <a:buNone/>
            </a:pPr>
            <a:r>
              <a:rPr lang="en-US" sz="1200" b="1" dirty="0">
                <a:solidFill>
                  <a:srgbClr val="1E2329"/>
                </a:solidFill>
                <a:latin typeface="Arial" pitchFamily="34" charset="0"/>
                <a:ea typeface="Arial" pitchFamily="34" charset="-122"/>
                <a:cs typeface="Arial" pitchFamily="34" charset="-120"/>
              </a:rPr>
              <a:t>$20.90</a:t>
            </a:r>
            <a:endParaRPr lang="en-US" sz="1200" dirty="0"/>
          </a:p>
        </p:txBody>
      </p:sp>
      <p:sp>
        <p:nvSpPr>
          <p:cNvPr id="21" name="Text 19"/>
          <p:cNvSpPr txBox="1"/>
          <p:nvPr/>
        </p:nvSpPr>
        <p:spPr>
          <a:xfrm>
            <a:off x="548640" y="4160520"/>
            <a:ext cx="4389120" cy="502920"/>
          </a:xfrm>
          <a:prstGeom prst="rect">
            <a:avLst/>
          </a:prstGeom>
          <a:noFill/>
          <a:ln/>
        </p:spPr>
        <p:txBody>
          <a:bodyPr wrap="square" lIns="0" tIns="0" rIns="0" bIns="0" rtlCol="0" anchor="t"/>
          <a:lstStyle/>
          <a:p>
            <a:pPr indent="0" marL="0">
              <a:buNone/>
            </a:pPr>
            <a:r>
              <a:rPr lang="en-US" sz="1300" b="1" dirty="0">
                <a:solidFill>
                  <a:srgbClr val="1E2329"/>
                </a:solidFill>
                <a:latin typeface="Arial" pitchFamily="34" charset="0"/>
                <a:ea typeface="Arial" pitchFamily="34" charset="-122"/>
                <a:cs typeface="Arial" pitchFamily="34" charset="-120"/>
              </a:rPr>
              <a:t>PJM capacity price</a:t>
            </a:r>
            <a:endParaRPr lang="en-US" sz="1300" dirty="0"/>
          </a:p>
          <a:p>
            <a:pPr indent="0" marL="0">
              <a:buNone/>
            </a:pPr>
            <a:r>
              <a:rPr lang="en-US" sz="1100" dirty="0">
                <a:solidFill>
                  <a:srgbClr val="56606B"/>
                </a:solidFill>
                <a:latin typeface="Arial" pitchFamily="34" charset="0"/>
                <a:ea typeface="Arial" pitchFamily="34" charset="-122"/>
                <a:cs typeface="Arial" pitchFamily="34" charset="-120"/>
              </a:rPr>
              <a:t>$270 to $333 per MW-day</a:t>
            </a:r>
            <a:endParaRPr lang="en-US" sz="1300" dirty="0"/>
          </a:p>
        </p:txBody>
      </p:sp>
      <p:sp>
        <p:nvSpPr>
          <p:cNvPr id="22" name="Lower 4"/>
          <p:cNvSpPr/>
          <p:nvPr/>
        </p:nvSpPr>
        <p:spPr>
          <a:xfrm>
            <a:off x="8870594" y="4224528"/>
            <a:ext cx="96012" cy="365760"/>
          </a:xfrm>
          <a:prstGeom prst="rect">
            <a:avLst/>
          </a:prstGeom>
          <a:solidFill>
            <a:srgbClr val="4A78AD"/>
          </a:solidFill>
          <a:ln/>
        </p:spPr>
      </p:sp>
      <p:sp>
        <p:nvSpPr>
          <p:cNvPr id="23" name="Higher 4"/>
          <p:cNvSpPr/>
          <p:nvPr/>
        </p:nvSpPr>
        <p:spPr>
          <a:xfrm>
            <a:off x="8966606" y="4224528"/>
            <a:ext cx="628193" cy="365760"/>
          </a:xfrm>
          <a:prstGeom prst="rect">
            <a:avLst/>
          </a:prstGeom>
          <a:solidFill>
            <a:srgbClr val="12294A"/>
          </a:solidFill>
          <a:ln/>
        </p:spPr>
      </p:sp>
      <p:sp>
        <p:nvSpPr>
          <p:cNvPr id="24" name="Text 22"/>
          <p:cNvSpPr txBox="1"/>
          <p:nvPr/>
        </p:nvSpPr>
        <p:spPr>
          <a:xfrm>
            <a:off x="7910474" y="4270248"/>
            <a:ext cx="914400" cy="274320"/>
          </a:xfrm>
          <a:prstGeom prst="rect">
            <a:avLst/>
          </a:prstGeom>
          <a:noFill/>
          <a:ln/>
        </p:spPr>
        <p:txBody>
          <a:bodyPr wrap="square" lIns="0" tIns="0" rIns="0" bIns="0" rtlCol="0" anchor="t"/>
          <a:lstStyle/>
          <a:p>
            <a:pPr algn="r" indent="0" marL="0">
              <a:buNone/>
            </a:pPr>
            <a:r>
              <a:rPr lang="en-US" sz="1200" b="1" dirty="0">
                <a:solidFill>
                  <a:srgbClr val="1E2329"/>
                </a:solidFill>
                <a:latin typeface="Arial" pitchFamily="34" charset="0"/>
                <a:ea typeface="Arial" pitchFamily="34" charset="-122"/>
                <a:cs typeface="Arial" pitchFamily="34" charset="-120"/>
              </a:rPr>
              <a:t>$19.67</a:t>
            </a:r>
            <a:endParaRPr lang="en-US" sz="1200" dirty="0"/>
          </a:p>
        </p:txBody>
      </p:sp>
      <p:sp>
        <p:nvSpPr>
          <p:cNvPr id="25" name="Text 23"/>
          <p:cNvSpPr txBox="1"/>
          <p:nvPr/>
        </p:nvSpPr>
        <p:spPr>
          <a:xfrm>
            <a:off x="9667951" y="4270248"/>
            <a:ext cx="914400" cy="274320"/>
          </a:xfrm>
          <a:prstGeom prst="rect">
            <a:avLst/>
          </a:prstGeom>
          <a:noFill/>
          <a:ln/>
        </p:spPr>
        <p:txBody>
          <a:bodyPr wrap="square" lIns="0" tIns="0" rIns="0" bIns="0" rtlCol="0" anchor="t"/>
          <a:lstStyle/>
          <a:p>
            <a:pPr indent="0" marL="0">
              <a:buNone/>
            </a:pPr>
            <a:r>
              <a:rPr lang="en-US" sz="1200" b="1" dirty="0">
                <a:solidFill>
                  <a:srgbClr val="1E2329"/>
                </a:solidFill>
                <a:latin typeface="Arial" pitchFamily="34" charset="0"/>
                <a:ea typeface="Arial" pitchFamily="34" charset="-122"/>
                <a:cs typeface="Arial" pitchFamily="34" charset="-120"/>
              </a:rPr>
              <a:t>$22.31</a:t>
            </a:r>
            <a:endParaRPr lang="en-US" sz="1200" dirty="0"/>
          </a:p>
        </p:txBody>
      </p:sp>
      <p:sp>
        <p:nvSpPr>
          <p:cNvPr id="26" name="Text 24"/>
          <p:cNvSpPr txBox="1"/>
          <p:nvPr/>
        </p:nvSpPr>
        <p:spPr>
          <a:xfrm>
            <a:off x="548640" y="4837176"/>
            <a:ext cx="4389120" cy="502920"/>
          </a:xfrm>
          <a:prstGeom prst="rect">
            <a:avLst/>
          </a:prstGeom>
          <a:noFill/>
          <a:ln/>
        </p:spPr>
        <p:txBody>
          <a:bodyPr wrap="square" lIns="0" tIns="0" rIns="0" bIns="0" rtlCol="0" anchor="t"/>
          <a:lstStyle/>
          <a:p>
            <a:pPr indent="0" marL="0">
              <a:buNone/>
            </a:pPr>
            <a:r>
              <a:rPr lang="en-US" sz="1300" b="1" dirty="0">
                <a:solidFill>
                  <a:srgbClr val="1E2329"/>
                </a:solidFill>
                <a:latin typeface="Arial" pitchFamily="34" charset="0"/>
                <a:ea typeface="Arial" pitchFamily="34" charset="-122"/>
                <a:cs typeface="Arial" pitchFamily="34" charset="-120"/>
              </a:rPr>
              <a:t>Retail grid price</a:t>
            </a:r>
            <a:endParaRPr lang="en-US" sz="1300" dirty="0"/>
          </a:p>
          <a:p>
            <a:pPr indent="0" marL="0">
              <a:buNone/>
            </a:pPr>
            <a:r>
              <a:rPr lang="en-US" sz="1100" dirty="0">
                <a:solidFill>
                  <a:srgbClr val="56606B"/>
                </a:solidFill>
                <a:latin typeface="Arial" pitchFamily="34" charset="0"/>
                <a:ea typeface="Arial" pitchFamily="34" charset="-122"/>
                <a:cs typeface="Arial" pitchFamily="34" charset="-120"/>
              </a:rPr>
              <a:t>$85.10 to $110.40 per MWh</a:t>
            </a:r>
            <a:endParaRPr lang="en-US" sz="1300" dirty="0"/>
          </a:p>
        </p:txBody>
      </p:sp>
      <p:sp>
        <p:nvSpPr>
          <p:cNvPr id="27" name="Text 25"/>
          <p:cNvSpPr txBox="1"/>
          <p:nvPr/>
        </p:nvSpPr>
        <p:spPr>
          <a:xfrm>
            <a:off x="9103766" y="4946904"/>
            <a:ext cx="3657600" cy="274320"/>
          </a:xfrm>
          <a:prstGeom prst="rect">
            <a:avLst/>
          </a:prstGeom>
          <a:noFill/>
          <a:ln/>
        </p:spPr>
        <p:txBody>
          <a:bodyPr wrap="square" lIns="0" tIns="0" rIns="0" bIns="0" rtlCol="0" anchor="t"/>
          <a:lstStyle/>
          <a:p>
            <a:pPr indent="0" marL="0">
              <a:buNone/>
            </a:pPr>
            <a:r>
              <a:rPr lang="en-US" sz="1200" dirty="0">
                <a:solidFill>
                  <a:srgbClr val="56606B"/>
                </a:solidFill>
                <a:latin typeface="Arial" pitchFamily="34" charset="0"/>
                <a:ea typeface="Arial" pitchFamily="34" charset="-122"/>
                <a:cs typeface="Arial" pitchFamily="34" charset="-120"/>
              </a:rPr>
              <a:t>Moves both options equally</a:t>
            </a:r>
            <a:endParaRPr lang="en-US" sz="1200" dirty="0"/>
          </a:p>
        </p:txBody>
      </p:sp>
      <p:sp>
        <p:nvSpPr>
          <p:cNvPr id="28"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B939B"/>
                </a:solidFill>
                <a:latin typeface="Arial" pitchFamily="34" charset="0"/>
                <a:ea typeface="Arial" pitchFamily="34" charset="-122"/>
                <a:cs typeface="Arial" pitchFamily="34" charset="-120"/>
              </a:rPr>
              <a:t>Source: SLAM analysis (leepr); input ranges from PJM, LevelTen, NREL and EIA</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9784080" cy="914400"/>
          </a:xfrm>
          <a:prstGeom prst="rect">
            <a:avLst/>
          </a:prstGeom>
          <a:noFill/>
          <a:ln/>
        </p:spPr>
        <p:txBody>
          <a:bodyPr wrap="square" lIns="0" tIns="0" rIns="0" bIns="0" rtlCol="0" anchor="t"/>
          <a:lstStyle/>
          <a:p>
            <a:pPr algn="l" indent="0" marL="0">
              <a:buNone/>
            </a:pPr>
            <a:r>
              <a:rPr lang="en-US" sz="2200" b="1" dirty="0">
                <a:solidFill>
                  <a:srgbClr val="1E2329"/>
                </a:solidFill>
                <a:latin typeface="Arial" pitchFamily="34" charset="0"/>
                <a:ea typeface="Arial" pitchFamily="34" charset="-122"/>
                <a:cs typeface="Arial" pitchFamily="34" charset="-120"/>
              </a:rPr>
              <a:t>Every power input comes from a public source and carries a tested range</a:t>
            </a:r>
            <a:endParaRPr lang="en-US" sz="2200" dirty="0"/>
          </a:p>
        </p:txBody>
      </p:sp>
      <p:graphicFrame>
        <p:nvGraphicFramePr>
          <p:cNvPr id="8" name="Inputs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651760"/>
                <a:gridCol w="1645920"/>
                <a:gridCol w="3291840"/>
                <a:gridCol w="3502152"/>
              </a:tblGrid>
              <a:tr h="384048">
                <a:tc>
                  <a:txBody>
                    <a:bodyPr/>
                    <a:lstStyle/>
                    <a:p>
                      <a:pPr indent="0" marL="0">
                        <a:buNone/>
                      </a:pPr>
                      <a:r>
                        <a:rPr lang="en-US" sz="1200" b="1" dirty="0">
                          <a:solidFill>
                            <a:srgbClr val="56606B"/>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15875" cap="flat" cmpd="sng" algn="ctr">
                      <a:solidFill>
                        <a:srgbClr val="1E2329"/>
                      </a:solidFill>
                      <a:prstDash val="solid"/>
                      <a:round/>
                      <a:headEnd type="none" w="med" len="med"/>
                      <a:tailEnd type="none" w="med" len="med"/>
                    </a:lnB>
                  </a:tcPr>
                </a:tc>
                <a:tc>
                  <a:txBody>
                    <a:bodyPr/>
                    <a:lstStyle/>
                    <a:p>
                      <a:pPr indent="0" marL="0">
                        <a:buNone/>
                      </a:pPr>
                      <a:r>
                        <a:rPr lang="en-US" sz="1200" b="1" dirty="0">
                          <a:solidFill>
                            <a:srgbClr val="56606B"/>
                          </a:solidFill>
                          <a:latin typeface="Arial" pitchFamily="34" charset="0"/>
                          <a:ea typeface="Arial" pitchFamily="34" charset="-122"/>
                          <a:cs typeface="Arial" pitchFamily="34" charset="-120"/>
                        </a:rPr>
                        <a:t>Value used</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15875" cap="flat" cmpd="sng" algn="ctr">
                      <a:solidFill>
                        <a:srgbClr val="1E2329"/>
                      </a:solidFill>
                      <a:prstDash val="solid"/>
                      <a:round/>
                      <a:headEnd type="none" w="med" len="med"/>
                      <a:tailEnd type="none" w="med" len="med"/>
                    </a:lnB>
                  </a:tcPr>
                </a:tc>
                <a:tc>
                  <a:txBody>
                    <a:bodyPr/>
                    <a:lstStyle/>
                    <a:p>
                      <a:pPr indent="0" marL="0">
                        <a:buNone/>
                      </a:pPr>
                      <a:r>
                        <a:rPr lang="en-US" sz="1200" b="1" dirty="0">
                          <a:solidFill>
                            <a:srgbClr val="56606B"/>
                          </a:solidFill>
                          <a:latin typeface="Arial" pitchFamily="34" charset="0"/>
                          <a:ea typeface="Arial" pitchFamily="34" charset="-122"/>
                          <a:cs typeface="Arial" pitchFamily="34" charset="-120"/>
                        </a:rPr>
                        <a:t>Range tested</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15875" cap="flat" cmpd="sng" algn="ctr">
                      <a:solidFill>
                        <a:srgbClr val="1E2329"/>
                      </a:solidFill>
                      <a:prstDash val="solid"/>
                      <a:round/>
                      <a:headEnd type="none" w="med" len="med"/>
                      <a:tailEnd type="none" w="med" len="med"/>
                    </a:lnB>
                  </a:tcPr>
                </a:tc>
                <a:tc>
                  <a:txBody>
                    <a:bodyPr/>
                    <a:lstStyle/>
                    <a:p>
                      <a:pPr indent="0" marL="0">
                        <a:buNone/>
                      </a:pPr>
                      <a:r>
                        <a:rPr lang="en-US" sz="1200" b="1" dirty="0">
                          <a:solidFill>
                            <a:srgbClr val="56606B"/>
                          </a:solidFill>
                          <a:latin typeface="Arial" pitchFamily="34" charset="0"/>
                          <a:ea typeface="Arial" pitchFamily="34" charset="-122"/>
                          <a:cs typeface="Arial" pitchFamily="34" charset="-120"/>
                        </a:rPr>
                        <a:t>Source</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15875" cap="flat" cmpd="sng" algn="ctr">
                      <a:solidFill>
                        <a:srgbClr val="1E2329"/>
                      </a:solidFill>
                      <a:prstDash val="solid"/>
                      <a:round/>
                      <a:headEnd type="none" w="med" len="med"/>
                      <a:tailEnd type="none" w="med" len="med"/>
                    </a:lnB>
                  </a:tcPr>
                </a:tc>
              </a:tr>
              <a:tr h="384048">
                <a:tc>
                  <a:txBody>
                    <a:bodyPr/>
                    <a:lstStyle/>
                    <a:p>
                      <a:pPr indent="0" marL="0">
                        <a:buNone/>
                      </a:pPr>
                      <a:r>
                        <a:rPr lang="en-US" sz="1200" b="1" dirty="0">
                          <a:solidFill>
                            <a:srgbClr val="1E2329"/>
                          </a:solidFill>
                          <a:latin typeface="Arial" pitchFamily="34" charset="0"/>
                          <a:ea typeface="Arial" pitchFamily="34" charset="-122"/>
                          <a:cs typeface="Arial" pitchFamily="34" charset="-120"/>
                        </a:rPr>
                        <a:t>Retail grid price</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$93.60 per MWh</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$85.10 to $110.40</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EIA, Pennsylvania industrial retail sales</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r>
              <a:tr h="384048">
                <a:tc>
                  <a:txBody>
                    <a:bodyPr/>
                    <a:lstStyle/>
                    <a:p>
                      <a:pPr indent="0" marL="0">
                        <a:buNone/>
                      </a:pPr>
                      <a:r>
                        <a:rPr lang="en-US" sz="1200" b="1" dirty="0">
                          <a:solidFill>
                            <a:srgbClr val="1E2329"/>
                          </a:solidFill>
                          <a:latin typeface="Arial" pitchFamily="34" charset="0"/>
                          <a:ea typeface="Arial" pitchFamily="34" charset="-122"/>
                          <a:cs typeface="Arial" pitchFamily="34" charset="-120"/>
                        </a:rPr>
                        <a:t>PJM capacity price</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$325 per MW-day</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$270 to $333</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PJM 2028/29 Base Residual Auction</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r>
              <a:tr h="384048">
                <a:tc>
                  <a:txBody>
                    <a:bodyPr/>
                    <a:lstStyle/>
                    <a:p>
                      <a:pPr indent="0" marL="0">
                        <a:buNone/>
                      </a:pPr>
                      <a:r>
                        <a:rPr lang="en-US" sz="1200" b="1" dirty="0">
                          <a:solidFill>
                            <a:srgbClr val="1E2329"/>
                          </a:solidFill>
                          <a:latin typeface="Arial" pitchFamily="34" charset="0"/>
                          <a:ea typeface="Arial" pitchFamily="34" charset="-122"/>
                          <a:cs typeface="Arial" pitchFamily="34" charset="-120"/>
                        </a:rPr>
                        <a:t>Wholesale energy price</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$50.73 per MWh</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$33.74 to $74.06</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PJM 2025 State of the Market</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r>
              <a:tr h="384048">
                <a:tc>
                  <a:txBody>
                    <a:bodyPr/>
                    <a:lstStyle/>
                    <a:p>
                      <a:pPr indent="0" marL="0">
                        <a:buNone/>
                      </a:pPr>
                      <a:r>
                        <a:rPr lang="en-US" sz="1200" b="1" dirty="0">
                          <a:solidFill>
                            <a:srgbClr val="1E2329"/>
                          </a:solidFill>
                          <a:latin typeface="Arial" pitchFamily="34" charset="0"/>
                          <a:ea typeface="Arial" pitchFamily="34" charset="-122"/>
                          <a:cs typeface="Arial" pitchFamily="34" charset="-120"/>
                        </a:rPr>
                        <a:t>Clean contract (solar PPA) price</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$81.03 per MWh</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$52.65 to $83.79</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LevelTen PPA index, Q4 2025</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r>
              <a:tr h="384048">
                <a:tc>
                  <a:txBody>
                    <a:bodyPr/>
                    <a:lstStyle/>
                    <a:p>
                      <a:pPr indent="0" marL="0">
                        <a:buNone/>
                      </a:pPr>
                      <a:r>
                        <a:rPr lang="en-US" sz="1200" b="1" dirty="0">
                          <a:solidFill>
                            <a:srgbClr val="1E2329"/>
                          </a:solidFill>
                          <a:latin typeface="Arial" pitchFamily="34" charset="0"/>
                          <a:ea typeface="Arial" pitchFamily="34" charset="-122"/>
                          <a:cs typeface="Arial" pitchFamily="34" charset="-120"/>
                        </a:rPr>
                        <a:t>Clean firm share by 2035</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32%</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10% in 2027, 14.5% in 2030</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PA GRID Standards</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r>
              <a:tr h="384048">
                <a:tc>
                  <a:txBody>
                    <a:bodyPr/>
                    <a:lstStyle/>
                    <a:p>
                      <a:pPr indent="0" marL="0">
                        <a:buNone/>
                      </a:pPr>
                      <a:r>
                        <a:rPr lang="en-US" sz="1200" b="1" dirty="0">
                          <a:solidFill>
                            <a:srgbClr val="1E2329"/>
                          </a:solidFill>
                          <a:latin typeface="Arial" pitchFamily="34" charset="0"/>
                          <a:ea typeface="Arial" pitchFamily="34" charset="-122"/>
                          <a:cs typeface="Arial" pitchFamily="34" charset="-120"/>
                        </a:rPr>
                        <a:t>Grid CO2 intensity</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597 lb per MWh</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Up to 1,176 for marginal plants</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EPA eGRID2023, RFC East</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r>
              <a:tr h="384048">
                <a:tc>
                  <a:txBody>
                    <a:bodyPr/>
                    <a:lstStyle/>
                    <a:p>
                      <a:pPr indent="0" marL="0">
                        <a:buNone/>
                      </a:pPr>
                      <a:r>
                        <a:rPr lang="en-US" sz="1200" b="1" dirty="0">
                          <a:solidFill>
                            <a:srgbClr val="1E2329"/>
                          </a:solidFill>
                          <a:latin typeface="Arial" pitchFamily="34" charset="0"/>
                          <a:ea typeface="Arial" pitchFamily="34" charset="-122"/>
                          <a:cs typeface="Arial" pitchFamily="34" charset="-120"/>
                        </a:rPr>
                        <a:t>Battery cost</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$334 per kWh</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$207 to $365</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NREL 2025 battery cost update</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r>
              <a:tr h="384048">
                <a:tc>
                  <a:txBody>
                    <a:bodyPr/>
                    <a:lstStyle/>
                    <a:p>
                      <a:pPr indent="0" marL="0">
                        <a:buNone/>
                      </a:pPr>
                      <a:r>
                        <a:rPr lang="en-US" sz="1200" b="1" dirty="0">
                          <a:solidFill>
                            <a:srgbClr val="1E2329"/>
                          </a:solidFill>
                          <a:latin typeface="Arial" pitchFamily="34" charset="0"/>
                          <a:ea typeface="Arial" pitchFamily="34" charset="-122"/>
                          <a:cs typeface="Arial" pitchFamily="34" charset="-120"/>
                        </a:rPr>
                        <a:t>Battery duration</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4 hours</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Met-Ed and PPL zone events ran 3.2 to 7 hours in 2025</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PJM demand response event report, Dec 2025</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r>
              <a:tr h="384048">
                <a:tc>
                  <a:txBody>
                    <a:bodyPr/>
                    <a:lstStyle/>
                    <a:p>
                      <a:pPr indent="0" marL="0">
                        <a:buNone/>
                      </a:pPr>
                      <a:r>
                        <a:rPr lang="en-US" sz="1200" b="1" dirty="0">
                          <a:solidFill>
                            <a:srgbClr val="1E2329"/>
                          </a:solidFill>
                          <a:latin typeface="Arial" pitchFamily="34" charset="0"/>
                          <a:ea typeface="Arial" pitchFamily="34" charset="-122"/>
                          <a:cs typeface="Arial" pitchFamily="34" charset="-120"/>
                        </a:rPr>
                        <a:t>Gas price</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$3.48 per MMBtu</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$3.16 to $8.86</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EIA Short-Term Energy Outlook; EIA PA industrial, 2024</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r>
              <a:tr h="384048">
                <a:tc>
                  <a:txBody>
                    <a:bodyPr/>
                    <a:lstStyle/>
                    <a:p>
                      <a:pPr indent="0" marL="0">
                        <a:buNone/>
                      </a:pPr>
                      <a:r>
                        <a:rPr lang="en-US" sz="1200" b="1" dirty="0">
                          <a:solidFill>
                            <a:srgbClr val="1E2329"/>
                          </a:solidFill>
                          <a:latin typeface="Arial" pitchFamily="34" charset="0"/>
                          <a:ea typeface="Arial" pitchFamily="34" charset="-122"/>
                          <a:cs typeface="Arial" pitchFamily="34" charset="-120"/>
                        </a:rPr>
                        <a:t>Gas engine plant cost</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$1,810 per kW</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$1,700 to $2,400</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c>
                  <a:txBody>
                    <a:bodyPr/>
                    <a:lstStyle/>
                    <a:p>
                      <a:pPr indent="0" marL="0">
                        <a:buNone/>
                      </a:pPr>
                      <a:r>
                        <a:rPr lang="en-US" sz="1200" dirty="0">
                          <a:solidFill>
                            <a:srgbClr val="1E2329"/>
                          </a:solidFill>
                          <a:latin typeface="Arial" pitchFamily="34" charset="0"/>
                          <a:ea typeface="Arial" pitchFamily="34" charset="-122"/>
                          <a:cs typeface="Arial" pitchFamily="34" charset="-120"/>
                        </a:rPr>
                        <a:t>EIA capital cost report (AEO2020)</a:t>
                      </a:r>
                      <a:endParaRPr lang="en-US" sz="1200" dirty="0">
                        <a:latin typeface="Arial" charset="0"/>
                        <a:ea typeface="Arial" charset="0"/>
                        <a:cs typeface="Arial"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ADEE2"/>
                      </a:solidFill>
                      <a:prstDash val="solid"/>
                      <a:round/>
                      <a:headEnd type="none" w="med" len="med"/>
                      <a:tailEnd type="none" w="med" len="med"/>
                    </a:lnB>
                  </a:tcPr>
                </a:tc>
              </a:tr>
            </a:tbl>
          </a:graphicData>
        </a:graphic>
      </p:graphicFrame>
      <p:sp>
        <p:nvSpPr>
          <p:cNvPr id="4" name="Source"/>
          <p:cNvSpPr txBox="1"/>
          <p:nvPr/>
        </p:nvSpPr>
        <p:spPr>
          <a:xfrm>
            <a:off x="548640" y="6053328"/>
            <a:ext cx="10515600" cy="228600"/>
          </a:xfrm>
          <a:prstGeom prst="rect">
            <a:avLst/>
          </a:prstGeom>
          <a:noFill/>
          <a:ln/>
        </p:spPr>
        <p:txBody>
          <a:bodyPr wrap="square" lIns="0" tIns="0" rIns="0" bIns="0" rtlCol="0" anchor="t"/>
          <a:lstStyle/>
          <a:p>
            <a:pPr indent="0" marL="0">
              <a:buNone/>
            </a:pPr>
            <a:r>
              <a:rPr lang="en-US" sz="900" dirty="0">
                <a:solidFill>
                  <a:srgbClr val="8B939B"/>
                </a:solidFill>
                <a:latin typeface="Arial" pitchFamily="34" charset="0"/>
                <a:ea typeface="Arial" pitchFamily="34" charset="-122"/>
                <a:cs typeface="Arial" pitchFamily="34" charset="-120"/>
              </a:rPr>
              <a:t>Source: leepr data file data/cases/ironwood-energy.json, each input with its link and date checked</a:t>
            </a:r>
            <a:endParaRPr lang="en-US" sz="900" dirty="0"/>
          </a:p>
        </p:txBody>
      </p:sp>
      <p:sp>
        <p:nvSpPr>
          <p:cNvPr id="25" name="Slide Number Placeholder 0"/>
          <p:cNvSpPr>
            <a:spLocks noGrp="1"/>
          </p:cNvSpPr>
          <p:nvPr>
            <p:ph type="sldNum" sz="quarter" idx="4294967295"/>
          </p:nvPr>
        </p:nvSpPr>
        <p:spPr>
          <a:xfrm>
            <a:off x="11274552" y="6419088"/>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B939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SLAM Consulting">
  <a:themeElements>
    <a:clrScheme name="SLAM Consulting">
      <a:dk1>
        <a:srgbClr val="1E2329"/>
      </a:dk1>
      <a:lt1>
        <a:srgbClr val="FFFFFF"/>
      </a:lt1>
      <a:dk2>
        <a:srgbClr val="12294A"/>
      </a:dk2>
      <a:lt2>
        <a:srgbClr val="EEF2F7"/>
      </a:lt2>
      <a:accent1>
        <a:srgbClr val="12294A"/>
      </a:accent1>
      <a:accent2>
        <a:srgbClr val="4A78AD"/>
      </a:accent2>
      <a:accent3>
        <a:srgbClr val="BAC1C8"/>
      </a:accent3>
      <a:accent4>
        <a:srgbClr val="4A78AD"/>
      </a:accent4>
      <a:accent5>
        <a:srgbClr val="A9BCD3"/>
      </a:accent5>
      <a:accent6>
        <a:srgbClr val="56606B"/>
      </a:accent6>
      <a:hlink>
        <a:srgbClr val="12294A"/>
      </a:hlink>
      <a:folHlink>
        <a:srgbClr val="56606B"/>
      </a:folHlink>
    </a:clrScheme>
    <a:fontScheme name="SLAM Consult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Ironwood Data Center | SLAM Consulting</dc:title>
  <dc:subject>PptxGenJS Presentation</dc:subject>
  <dc:creator>SLAM Consulting</dc:creator>
  <cp:lastModifiedBy>SLAM Consulting</cp:lastModifiedBy>
  <cp:revision>1</cp:revision>
  <dcterms:created xsi:type="dcterms:W3CDTF">2026-10-24T02:52:26Z</dcterms:created>
  <dcterms:modified xsi:type="dcterms:W3CDTF">2026-10-24T02:52:26Z</dcterms:modified>
</cp:coreProperties>
</file>