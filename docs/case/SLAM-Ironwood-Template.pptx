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854667d-7678-4f2f-d1e3-69dcafd4e7e7}">
          <p14:sldIdLst>
            <p14:sldId id="256"/>
            <p14:sldId id="257"/>
            <p14:sldId id="258"/>
          </p14:sldIdLst>
        </p14:section>
        <p14:section name="Situation" id="{04118bb7-f445-826f-dccd-0baa192ed52e}">
          <p14:sldIdLst>
            <p14:sldId id="259"/>
          </p14:sldIdLst>
        </p14:section>
        <p14:section name="Options we weighed" id="{88a92f84-8bd3-23ec-e8ab-1daed4fe388b}">
          <p14:sldIdLst>
            <p14:sldId id="260"/>
          </p14:sldIdLst>
        </p14:section>
        <p14:section name="Financial case" id="{a02b1e74-6978-9fa8-1f31-8b5141273467}">
          <p14:sldIdLst>
            <p14:sldId id="261"/>
          </p14:sldIdLst>
        </p14:section>
        <p14:section name="Power and energy" id="{30f92020-5d21-d875-8ccc-c2fcf8f1ae34}">
          <p14:sldIdLst>
            <p14:sldId id="262"/>
          </p14:sldIdLst>
        </p14:section>
        <p14:section name="Community and integrity" id="{94529817-c0e2-1266-42d0-81732c6e2b62}">
          <p14:sldIdLst>
            <p14:sldId id="263"/>
          </p14:sldIdLst>
        </p14:section>
        <p14:section name="Risks and implementation" id="{545f37a3-e544-fb74-762a-af092372de9d}">
          <p14:sldIdLst>
            <p14:sldId id="264"/>
            <p14:sldId id="265"/>
            <p14:sldId id="266"/>
          </p14:sldIdLst>
        </p14:section>
        <p14:section name="Appendix" id="{f1115b93-23d8-f65a-3784-052345a54d29}">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team name and the decision KGE faces. Introduce each presenter by name and the part they cover. Keep this under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whole talk in one view. State the recommendation first, then walk the four findings in order. Every number here should match the section slide it comes from. If the judges only remember this slide, they should still know what KGE should do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Adjust the minutes so the total stays under twenty. The times here add to twenty, so cut one minute somewhere to leave room for a slow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problem in a few lines and stop. The judges have read the case, so skip any recap they could recite back. Keep the facts panel to numbers the rest of the deck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each cell with a short verdict or a number instead of a sentence. Keep the same criteria order you use later in the deck. Move the shading to whichever row the team recommends.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IRR against the 10% hurdle, then the NPV. Name the one assumption that would change the answer because the judges will ask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for phase 1 at 480 MW and come from the Ironwood energy snapshot dated 19 October 2026. Gas looks cheapest only while the plant buys gas near the Henry Hub price. At the price Pennsylvania industrial users paid in 2024, gas costs $112 per MWh, which is above the grid. The hybrid costs more, however it is the only option that meets the clean step, leaves the grid during emergencies and could connect a year sooner.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every concern with a commitment on the same row, so the judges can see that nothing was left unanswered. Name the residents, the manufacturer and the township where the case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the risks from largest to smallest. Each mitigation should be something KGE can start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Drag each bar to the team's dates. Keep one row per workstream and no more than six rows, so the chart stays legible from the back of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Restate the recommendation in the same words as the executive summary, then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for the question and answer period. Do not present these unless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links for every power source are in docs/IRONWOOD-ENERGY.md in the leepr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C263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371600"/>
          </a:xfrm>
          <a:prstGeom prst="rect">
            <a:avLst/>
          </a:prstGeom>
          <a:noFill/>
          <a:ln/>
        </p:spPr>
        <p:txBody>
          <a:bodyPr wrap="square" rtlCol="0"/>
          <a:lstStyle>
            <a:lvl1pPr algn="l" indent="0" marL="0">
              <a:buNone/>
              <a:defRPr lang="en-US" sz="4400" dirty="0">
                <a:solidFill>
                  <a:srgbClr val="FFFFFF"/>
                </a:solidFill>
                <a:latin typeface="Georgia" pitchFamily="34" charset="0"/>
                <a:ea typeface="Georgia" pitchFamily="34" charset="-122"/>
                <a:cs typeface="Georgia" pitchFamily="34" charset="-120"/>
              </a:defRPr>
            </a:lvl1pPr>
          </a:lstStyle>
          <a:p>
            <a:pPr algn="l" indent="0" marL="0">
              <a:buNone/>
            </a:pPr>
            <a:r>
              <a:rPr lang="en-US" sz="4400" dirty="0">
                <a:solidFill>
                  <a:srgbClr val="FFFFFF"/>
                </a:solidFill>
                <a:latin typeface="Georgia" pitchFamily="34" charset="0"/>
                <a:ea typeface="Georgia" pitchFamily="34" charset="-122"/>
                <a:cs typeface="Georgia" pitchFamily="34" charset="-120"/>
              </a:rPr>
              <a:t>Presentation title</a:t>
            </a:r>
            <a:endParaRPr lang="en-US" sz="4400" dirty="0"/>
          </a:p>
        </p:txBody>
      </p:sp>
      <p:sp>
        <p:nvSpPr>
          <p:cNvPr id="3" name="Text 0"/>
          <p:cNvSpPr/>
          <p:nvPr>
            <p:ph idx="101" type="body" hasCustomPrompt="1"/>
          </p:nvPr>
        </p:nvSpPr>
        <p:spPr>
          <a:xfrm>
            <a:off x="731520" y="3566160"/>
            <a:ext cx="10698480" cy="731520"/>
          </a:xfrm>
          <a:prstGeom prst="rect">
            <a:avLst/>
          </a:prstGeom>
          <a:noFill/>
          <a:ln/>
        </p:spPr>
        <p:txBody>
          <a:bodyPr wrap="square" rtlCol="0"/>
          <a:lstStyle>
            <a:lvl1pPr indent="0" marL="0">
              <a:buNone/>
              <a:defRPr lang="en-US" sz="2000" dirty="0">
                <a:solidFill>
                  <a:srgbClr val="C5CED4"/>
                </a:solidFill>
                <a:latin typeface="Arial" pitchFamily="34" charset="0"/>
                <a:ea typeface="Arial" pitchFamily="34" charset="-122"/>
                <a:cs typeface="Arial" pitchFamily="34" charset="-120"/>
              </a:defRPr>
            </a:lvl1pPr>
          </a:lstStyle>
          <a:p>
            <a:pPr indent="0" marL="0">
              <a:buNone/>
            </a:pPr>
            <a:r>
              <a:rPr lang="en-US" sz="2000" dirty="0">
                <a:solidFill>
                  <a:srgbClr val="C5CED4"/>
                </a:solidFill>
                <a:latin typeface="Arial" pitchFamily="34" charset="0"/>
                <a:ea typeface="Arial" pitchFamily="34" charset="-122"/>
                <a:cs typeface="Arial" pitchFamily="34" charset="-120"/>
              </a:rPr>
              <a:t>Subtitle</a:t>
            </a:r>
            <a:endParaRPr lang="en-US" sz="2000" dirty="0"/>
          </a:p>
        </p:txBody>
      </p:sp>
      <p:sp>
        <p:nvSpPr>
          <p:cNvPr id="4" name="Text 0"/>
          <p:cNvSpPr/>
          <p:nvPr>
            <p:ph idx="102" type="body" hasCustomPrompt="1"/>
          </p:nvPr>
        </p:nvSpPr>
        <p:spPr>
          <a:xfrm>
            <a:off x="731520" y="5715000"/>
            <a:ext cx="10698480" cy="548640"/>
          </a:xfrm>
          <a:prstGeom prst="rect">
            <a:avLst/>
          </a:prstGeom>
          <a:noFill/>
          <a:ln/>
        </p:spPr>
        <p:txBody>
          <a:bodyPr wrap="square" rtlCol="0"/>
          <a:lstStyle>
            <a:lvl1pPr indent="0" marL="0">
              <a:buNone/>
              <a:defRPr lang="en-US" sz="1200" dirty="0">
                <a:solidFill>
                  <a:srgbClr val="8A949C"/>
                </a:solidFill>
                <a:latin typeface="Arial" pitchFamily="34" charset="0"/>
                <a:ea typeface="Arial" pitchFamily="34" charset="-122"/>
                <a:cs typeface="Arial" pitchFamily="34" charset="-120"/>
              </a:defRPr>
            </a:lvl1pPr>
          </a:lstStyle>
          <a:p>
            <a:pPr indent="0" marL="0">
              <a:buNone/>
            </a:pPr>
            <a:r>
              <a:rPr lang="en-US" sz="1200" dirty="0">
                <a:solidFill>
                  <a:srgbClr val="8A949C"/>
                </a:solidFill>
                <a:latin typeface="Arial" pitchFamily="34" charset="0"/>
                <a:ea typeface="Arial" pitchFamily="34" charset="-122"/>
                <a:cs typeface="Arial" pitchFamily="34" charset="-120"/>
              </a:rPr>
              <a:t>Team and date</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C263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331720"/>
            <a:ext cx="5486400" cy="457200"/>
          </a:xfrm>
          <a:prstGeom prst="rect">
            <a:avLst/>
          </a:prstGeom>
          <a:noFill/>
          <a:ln/>
        </p:spPr>
        <p:txBody>
          <a:bodyPr wrap="square" rtlCol="0"/>
          <a:lstStyle>
            <a:lvl1pPr indent="0" marL="0">
              <a:buNone/>
              <a:defRPr lang="en-US" sz="1600" b="1" dirty="0">
                <a:solidFill>
                  <a:srgbClr val="8FBFA6"/>
                </a:solidFill>
                <a:latin typeface="Arial" pitchFamily="34" charset="0"/>
                <a:ea typeface="Arial" pitchFamily="34" charset="-122"/>
                <a:cs typeface="Arial" pitchFamily="34" charset="-120"/>
              </a:defRPr>
            </a:lvl1pPr>
          </a:lstStyle>
          <a:p>
            <a:pPr indent="0" marL="0">
              <a:buNone/>
            </a:pPr>
            <a:r>
              <a:rPr lang="en-US" sz="1600" b="1" dirty="0">
                <a:solidFill>
                  <a:srgbClr val="8FBFA6"/>
                </a:solidFill>
                <a:latin typeface="Arial" pitchFamily="34" charset="0"/>
                <a:ea typeface="Arial" pitchFamily="34" charset="-122"/>
                <a:cs typeface="Arial" pitchFamily="34" charset="-120"/>
              </a:rPr>
              <a:t>01</a:t>
            </a:r>
            <a:endParaRPr lang="en-US" sz="16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lstStyle>
            <a:lvl1pPr algn="l" indent="0" marL="0">
              <a:buNone/>
              <a:defRPr lang="en-US" sz="4000" dirty="0">
                <a:solidFill>
                  <a:srgbClr val="FFFFFF"/>
                </a:solidFill>
                <a:latin typeface="Georgia" pitchFamily="34" charset="0"/>
                <a:ea typeface="Georgia" pitchFamily="34" charset="-122"/>
                <a:cs typeface="Georgia" pitchFamily="34" charset="-120"/>
              </a:defRPr>
            </a:lvl1pPr>
          </a:lstStyle>
          <a:p>
            <a:pPr algn="l" indent="0" marL="0">
              <a:buNone/>
            </a:pPr>
            <a:r>
              <a:rPr lang="en-US" sz="4000" dirty="0">
                <a:solidFill>
                  <a:srgbClr val="FFFFFF"/>
                </a:solidFill>
                <a:latin typeface="Georgia" pitchFamily="34" charset="0"/>
                <a:ea typeface="Georgia" pitchFamily="34" charset="-122"/>
                <a:cs typeface="Georgia" pitchFamily="34" charset="-120"/>
              </a:rPr>
              <a:t>Section title</a:t>
            </a:r>
            <a:endParaRPr lang="en-US" sz="4000" dirty="0"/>
          </a:p>
        </p:txBody>
      </p:sp>
      <p:sp>
        <p:nvSpPr>
          <p:cNvPr id="4" name="Text 0"/>
          <p:cNvSpPr/>
          <p:nvPr/>
        </p:nvSpPr>
        <p:spPr>
          <a:xfrm>
            <a:off x="731520" y="6355080"/>
            <a:ext cx="7315200" cy="274320"/>
          </a:xfrm>
          <a:prstGeom prst="rect">
            <a:avLst/>
          </a:prstGeom>
          <a:noFill/>
          <a:ln/>
        </p:spPr>
        <p:txBody>
          <a:bodyPr wrap="square" lIns="0" tIns="0" rIns="0" bIns="0" rtlCol="0" anchor="ctr"/>
          <a:lstStyle/>
          <a:p>
            <a:pPr indent="0" marL="0">
              <a:buNone/>
            </a:pPr>
            <a:r>
              <a:rPr lang="en-US" sz="900" dirty="0">
                <a:solidFill>
                  <a:srgbClr val="8A949C"/>
                </a:solidFill>
                <a:latin typeface="Arial" pitchFamily="34" charset="0"/>
                <a:ea typeface="Arial" pitchFamily="34" charset="-122"/>
                <a:cs typeface="Arial" pitchFamily="34" charset="-120"/>
              </a:rPr>
              <a:t>SLAM Consulting  |  Business with Integrity Case Competition 2026</a:t>
            </a:r>
            <a:endParaRPr lang="en-US" sz="900" dirty="0"/>
          </a:p>
        </p:txBody>
      </p:sp>
      <p:sp>
        <p:nvSpPr>
          <p:cNvPr id="25" name="Slide Number Placeholder 0"/>
          <p:cNvSpPr>
            <a:spLocks noGrp="1"/>
          </p:cNvSpPr>
          <p:nvPr>
            <p:ph type="sldNum" sz="quarter" idx="4294967295"/>
          </p:nvPr>
        </p:nvSpPr>
        <p:spPr>
          <a:xfrm>
            <a:off x="11091672" y="6355080"/>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49C"/>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rtlCol="0"/>
          <a:lstStyle>
            <a:lvl1pPr algn="l" indent="0" marL="0">
              <a:buNone/>
              <a:defRPr lang="en-US" sz="2600" dirty="0">
                <a:solidFill>
                  <a:srgbClr val="1C2631"/>
                </a:solidFill>
                <a:latin typeface="Georgia" pitchFamily="34" charset="0"/>
                <a:ea typeface="Georgia" pitchFamily="34" charset="-122"/>
                <a:cs typeface="Georgia" pitchFamily="34" charset="-120"/>
              </a:defRPr>
            </a:lvl1pPr>
          </a:lstStyle>
          <a:p>
            <a:pPr algn="l" indent="0" marL="0">
              <a:buNone/>
            </a:pPr>
            <a:r>
              <a:rPr lang="en-US" sz="2600" dirty="0">
                <a:solidFill>
                  <a:srgbClr val="1C2631"/>
                </a:solidFill>
                <a:latin typeface="Georgia" pitchFamily="34" charset="0"/>
                <a:ea typeface="Georgia" pitchFamily="34" charset="-122"/>
                <a:cs typeface="Georgia" pitchFamily="34" charset="-120"/>
              </a:rPr>
              <a:t>Action title</a:t>
            </a:r>
            <a:endParaRPr lang="en-US" sz="26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8A949C"/>
                </a:solidFill>
                <a:latin typeface="Arial" pitchFamily="34" charset="0"/>
                <a:ea typeface="Arial" pitchFamily="34" charset="-122"/>
                <a:cs typeface="Arial" pitchFamily="34" charset="-120"/>
              </a:rPr>
              <a:t>SLAM Consulting  |  Business with Integrity Case Competition 2026</a:t>
            </a:r>
            <a:endParaRPr lang="en-US" sz="900" dirty="0"/>
          </a:p>
        </p:txBody>
      </p:sp>
      <p:sp>
        <p:nvSpPr>
          <p:cNvPr id="25" name="Slide Number Placeholder 0"/>
          <p:cNvSpPr>
            <a:spLocks noGrp="1"/>
          </p:cNvSpPr>
          <p:nvPr>
            <p:ph type="sldNum" sz="quarter" idx="4294967295"/>
          </p:nvPr>
        </p:nvSpPr>
        <p:spPr>
          <a:xfrm>
            <a:off x="11274552" y="6355080"/>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49C"/>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55080"/>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49C"/>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371600"/>
          </a:xfrm>
          <a:prstGeom prst="rect">
            <a:avLst/>
          </a:prstGeom>
          <a:noFill/>
          <a:ln/>
        </p:spPr>
        <p:txBody>
          <a:bodyPr wrap="square" lIns="0" tIns="0" rIns="0" bIns="0" rtlCol="0" anchor="b"/>
          <a:lstStyle/>
          <a:p>
            <a:pPr algn="l" indent="0" marL="0">
              <a:buNone/>
            </a:pPr>
            <a:r>
              <a:rPr lang="en-US" sz="4400" dirty="0">
                <a:solidFill>
                  <a:srgbClr val="FFFFFF"/>
                </a:solidFill>
                <a:latin typeface="Georgia" pitchFamily="34" charset="0"/>
                <a:ea typeface="Georgia" pitchFamily="34" charset="-122"/>
                <a:cs typeface="Georgia" pitchFamily="34" charset="-120"/>
              </a:rPr>
              <a:t>Ironwood Data Center</a:t>
            </a:r>
            <a:endParaRPr lang="en-US" sz="4400" dirty="0"/>
          </a:p>
        </p:txBody>
      </p:sp>
      <p:sp>
        <p:nvSpPr>
          <p:cNvPr id="3" name="Text 0"/>
          <p:cNvSpPr/>
          <p:nvPr>
            <p:ph idx="101" type="body" hasCustomPrompt="1"/>
          </p:nvPr>
        </p:nvSpPr>
        <p:spPr>
          <a:xfrm>
            <a:off x="731520" y="3566160"/>
            <a:ext cx="10698480" cy="731520"/>
          </a:xfrm>
          <a:prstGeom prst="rect">
            <a:avLst/>
          </a:prstGeom>
          <a:noFill/>
          <a:ln/>
        </p:spPr>
        <p:txBody>
          <a:bodyPr wrap="square" lIns="0" tIns="0" rIns="0" bIns="0" rtlCol="0" anchor="t"/>
          <a:lstStyle/>
          <a:p>
            <a:pPr indent="0" marL="0">
              <a:buNone/>
            </a:pPr>
            <a:r>
              <a:rPr lang="en-US" sz="2000" dirty="0">
                <a:solidFill>
                  <a:srgbClr val="C5CED4"/>
                </a:solidFill>
                <a:latin typeface="Arial" pitchFamily="34" charset="0"/>
                <a:ea typeface="Arial" pitchFamily="34" charset="-122"/>
                <a:cs typeface="Arial" pitchFamily="34" charset="-120"/>
              </a:rPr>
              <a:t>Recommendation to KGE leadership</a:t>
            </a:r>
            <a:endParaRPr lang="en-US" sz="2000" dirty="0"/>
          </a:p>
        </p:txBody>
      </p:sp>
      <p:sp>
        <p:nvSpPr>
          <p:cNvPr id="4" name="Text 0"/>
          <p:cNvSpPr/>
          <p:nvPr>
            <p:ph idx="102" type="body" hasCustomPrompt="1"/>
          </p:nvPr>
        </p:nvSpPr>
        <p:spPr>
          <a:xfrm>
            <a:off x="731520" y="5715000"/>
            <a:ext cx="10698480" cy="548640"/>
          </a:xfrm>
          <a:prstGeom prst="rect">
            <a:avLst/>
          </a:prstGeom>
          <a:noFill/>
          <a:ln/>
        </p:spPr>
        <p:txBody>
          <a:bodyPr wrap="square" lIns="0" tIns="0" rIns="0" bIns="0" rtlCol="0" anchor="b"/>
          <a:lstStyle/>
          <a:p>
            <a:pPr indent="0" marL="0">
              <a:buNone/>
            </a:pPr>
            <a:r>
              <a:rPr lang="en-US" sz="1200" dirty="0">
                <a:solidFill>
                  <a:srgbClr val="8A949C"/>
                </a:solidFill>
                <a:latin typeface="Arial" pitchFamily="34" charset="0"/>
                <a:ea typeface="Arial" pitchFamily="34" charset="-122"/>
                <a:cs typeface="Arial" pitchFamily="34" charset="-120"/>
              </a:rPr>
              <a:t>SLAM Consulting  |  [Name], [Name], [Name], [Name]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2600" dirty="0">
                <a:solidFill>
                  <a:srgbClr val="1C2631"/>
                </a:solidFill>
                <a:latin typeface="Georgia" pitchFamily="34" charset="0"/>
                <a:ea typeface="Georgia" pitchFamily="34" charset="-122"/>
                <a:cs typeface="Georgia" pitchFamily="34" charset="-120"/>
              </a:rPr>
              <a:t>[Recommendation in one sentence and the reason that wins it]</a:t>
            </a:r>
            <a:endParaRPr lang="en-US" sz="2600" dirty="0"/>
          </a:p>
        </p:txBody>
      </p:sp>
      <p:sp>
        <p:nvSpPr>
          <p:cNvPr id="3" name="Recommendation panel"/>
          <p:cNvSpPr/>
          <p:nvPr/>
        </p:nvSpPr>
        <p:spPr>
          <a:xfrm>
            <a:off x="548640" y="1645920"/>
            <a:ext cx="4114800" cy="4206240"/>
          </a:xfrm>
          <a:prstGeom prst="rect">
            <a:avLst/>
          </a:prstGeom>
          <a:solidFill>
            <a:srgbClr val="EEF1EF"/>
          </a:solidFill>
          <a:ln/>
        </p:spPr>
      </p:sp>
      <p:sp>
        <p:nvSpPr>
          <p:cNvPr id="4" name="Text 2"/>
          <p:cNvSpPr txBox="1"/>
          <p:nvPr/>
        </p:nvSpPr>
        <p:spPr>
          <a:xfrm>
            <a:off x="822960" y="1920240"/>
            <a:ext cx="3566160" cy="320040"/>
          </a:xfrm>
          <a:prstGeom prst="rect">
            <a:avLst/>
          </a:prstGeom>
          <a:noFill/>
          <a:ln/>
        </p:spPr>
        <p:txBody>
          <a:bodyPr wrap="square" lIns="0" tIns="0" rIns="0" bIns="0" rtlCol="0" anchor="t"/>
          <a:lstStyle/>
          <a:p>
            <a:pPr indent="0" marL="0">
              <a:buNone/>
            </a:pPr>
            <a:r>
              <a:rPr lang="en-US" sz="1300" b="1" dirty="0">
                <a:solidFill>
                  <a:srgbClr val="1F5A44"/>
                </a:solidFill>
                <a:latin typeface="Arial" pitchFamily="34" charset="0"/>
                <a:ea typeface="Arial" pitchFamily="34" charset="-122"/>
                <a:cs typeface="Arial" pitchFamily="34" charset="-120"/>
              </a:rPr>
              <a:t>Our recommendation</a:t>
            </a:r>
            <a:endParaRPr lang="en-US" sz="1300" dirty="0"/>
          </a:p>
        </p:txBody>
      </p:sp>
      <p:sp>
        <p:nvSpPr>
          <p:cNvPr id="5" name="Text 3"/>
          <p:cNvSpPr txBox="1"/>
          <p:nvPr/>
        </p:nvSpPr>
        <p:spPr>
          <a:xfrm>
            <a:off x="822960" y="2331720"/>
            <a:ext cx="3566160" cy="2011680"/>
          </a:xfrm>
          <a:prstGeom prst="rect">
            <a:avLst/>
          </a:prstGeom>
          <a:noFill/>
          <a:ln/>
        </p:spPr>
        <p:txBody>
          <a:bodyPr wrap="square" lIns="0" tIns="0" rIns="0" bIns="0" rtlCol="0" anchor="t"/>
          <a:lstStyle/>
          <a:p>
            <a:pPr indent="0" marL="0">
              <a:buNone/>
            </a:pPr>
            <a:r>
              <a:rPr lang="en-US" sz="2200" dirty="0">
                <a:solidFill>
                  <a:srgbClr val="1C2631"/>
                </a:solidFill>
                <a:latin typeface="Georgia" pitchFamily="34" charset="0"/>
                <a:ea typeface="Georgia" pitchFamily="34" charset="-122"/>
                <a:cs typeface="Georgia" pitchFamily="34" charset="-120"/>
              </a:rPr>
              <a:t>[What KGE should do, stated as a decision]</a:t>
            </a:r>
            <a:endParaRPr lang="en-US" sz="2200" dirty="0"/>
          </a:p>
        </p:txBody>
      </p:sp>
      <p:sp>
        <p:nvSpPr>
          <p:cNvPr id="6" name="Text 4"/>
          <p:cNvSpPr txBox="1"/>
          <p:nvPr/>
        </p:nvSpPr>
        <p:spPr>
          <a:xfrm>
            <a:off x="822960" y="4846320"/>
            <a:ext cx="3566160" cy="731520"/>
          </a:xfrm>
          <a:prstGeom prst="rect">
            <a:avLst/>
          </a:prstGeom>
          <a:noFill/>
          <a:ln/>
        </p:spPr>
        <p:txBody>
          <a:bodyPr wrap="square" lIns="0" tIns="0" rIns="0" bIns="0" rtlCol="0" anchor="t"/>
          <a:lstStyle/>
          <a:p>
            <a:pPr indent="0" marL="0">
              <a:buNone/>
            </a:pPr>
            <a:r>
              <a:rPr lang="en-US" sz="1300" dirty="0">
                <a:solidFill>
                  <a:srgbClr val="56636F"/>
                </a:solidFill>
                <a:latin typeface="Arial" pitchFamily="34" charset="0"/>
                <a:ea typeface="Arial" pitchFamily="34" charset="-122"/>
                <a:cs typeface="Arial" pitchFamily="34" charset="-120"/>
              </a:rPr>
              <a:t>[Condition or first step that makes it work]</a:t>
            </a:r>
            <a:endParaRPr lang="en-US" sz="1300" dirty="0"/>
          </a:p>
        </p:txBody>
      </p:sp>
      <p:sp>
        <p:nvSpPr>
          <p:cNvPr id="7" name="Text 5"/>
          <p:cNvSpPr txBox="1"/>
          <p:nvPr/>
        </p:nvSpPr>
        <p:spPr>
          <a:xfrm>
            <a:off x="5120640" y="1874520"/>
            <a:ext cx="2194560" cy="548640"/>
          </a:xfrm>
          <a:prstGeom prst="rect">
            <a:avLst/>
          </a:prstGeom>
          <a:noFill/>
          <a:ln/>
        </p:spPr>
        <p:txBody>
          <a:bodyPr wrap="square" lIns="0" tIns="0" rIns="0" bIns="0" rtlCol="0" anchor="t"/>
          <a:lstStyle/>
          <a:p>
            <a:pPr indent="0" marL="0">
              <a:buNone/>
            </a:pPr>
            <a:r>
              <a:rPr lang="en-US" sz="1500" b="1" dirty="0">
                <a:solidFill>
                  <a:srgbClr val="1C2631"/>
                </a:solidFill>
                <a:latin typeface="Arial" pitchFamily="34" charset="0"/>
                <a:ea typeface="Arial" pitchFamily="34" charset="-122"/>
                <a:cs typeface="Arial" pitchFamily="34" charset="-120"/>
              </a:rPr>
              <a:t>Financials</a:t>
            </a:r>
            <a:endParaRPr lang="en-US" sz="1500" dirty="0"/>
          </a:p>
        </p:txBody>
      </p:sp>
      <p:sp>
        <p:nvSpPr>
          <p:cNvPr id="8" name="Text 6"/>
          <p:cNvSpPr txBox="1"/>
          <p:nvPr/>
        </p:nvSpPr>
        <p:spPr>
          <a:xfrm>
            <a:off x="7406640" y="1874520"/>
            <a:ext cx="4233672" cy="685800"/>
          </a:xfrm>
          <a:prstGeom prst="rect">
            <a:avLst/>
          </a:prstGeom>
          <a:noFill/>
          <a:ln/>
        </p:spPr>
        <p:txBody>
          <a:bodyPr wrap="square" lIns="0" tIns="0" rIns="0" bIns="0" rtlCol="0" anchor="t"/>
          <a:lstStyle/>
          <a:p>
            <a:pPr indent="0" marL="0">
              <a:buNone/>
            </a:pPr>
            <a:r>
              <a:rPr lang="en-US" sz="1500" dirty="0">
                <a:solidFill>
                  <a:srgbClr val="56636F"/>
                </a:solidFill>
                <a:latin typeface="Arial" pitchFamily="34" charset="0"/>
                <a:ea typeface="Arial" pitchFamily="34" charset="-122"/>
                <a:cs typeface="Arial" pitchFamily="34" charset="-120"/>
              </a:rPr>
              <a:t>[Return against the 10% hurdle and the number]</a:t>
            </a:r>
            <a:endParaRPr lang="en-US" sz="1500" dirty="0"/>
          </a:p>
        </p:txBody>
      </p:sp>
      <p:sp>
        <p:nvSpPr>
          <p:cNvPr id="9" name="Shape 7"/>
          <p:cNvSpPr/>
          <p:nvPr/>
        </p:nvSpPr>
        <p:spPr>
          <a:xfrm>
            <a:off x="5120640" y="2697480"/>
            <a:ext cx="6519672" cy="0"/>
          </a:xfrm>
          <a:prstGeom prst="line">
            <a:avLst/>
          </a:prstGeom>
          <a:noFill/>
          <a:ln w="9525">
            <a:solidFill>
              <a:srgbClr val="D3D8DC"/>
            </a:solidFill>
            <a:prstDash val="solid"/>
          </a:ln>
        </p:spPr>
      </p:sp>
      <p:sp>
        <p:nvSpPr>
          <p:cNvPr id="10" name="Text 8"/>
          <p:cNvSpPr txBox="1"/>
          <p:nvPr/>
        </p:nvSpPr>
        <p:spPr>
          <a:xfrm>
            <a:off x="5120640" y="2926080"/>
            <a:ext cx="2194560" cy="548640"/>
          </a:xfrm>
          <a:prstGeom prst="rect">
            <a:avLst/>
          </a:prstGeom>
          <a:noFill/>
          <a:ln/>
        </p:spPr>
        <p:txBody>
          <a:bodyPr wrap="square" lIns="0" tIns="0" rIns="0" bIns="0" rtlCol="0" anchor="t"/>
          <a:lstStyle/>
          <a:p>
            <a:pPr indent="0" marL="0">
              <a:buNone/>
            </a:pPr>
            <a:r>
              <a:rPr lang="en-US" sz="1500" b="1" dirty="0">
                <a:solidFill>
                  <a:srgbClr val="1C2631"/>
                </a:solidFill>
                <a:latin typeface="Arial" pitchFamily="34" charset="0"/>
                <a:ea typeface="Arial" pitchFamily="34" charset="-122"/>
                <a:cs typeface="Arial" pitchFamily="34" charset="-120"/>
              </a:rPr>
              <a:t>Power and energy</a:t>
            </a:r>
            <a:endParaRPr lang="en-US" sz="1500" dirty="0"/>
          </a:p>
        </p:txBody>
      </p:sp>
      <p:sp>
        <p:nvSpPr>
          <p:cNvPr id="11" name="Text 9"/>
          <p:cNvSpPr txBox="1"/>
          <p:nvPr/>
        </p:nvSpPr>
        <p:spPr>
          <a:xfrm>
            <a:off x="7406640" y="2926080"/>
            <a:ext cx="4233672" cy="685800"/>
          </a:xfrm>
          <a:prstGeom prst="rect">
            <a:avLst/>
          </a:prstGeom>
          <a:noFill/>
          <a:ln/>
        </p:spPr>
        <p:txBody>
          <a:bodyPr wrap="square" lIns="0" tIns="0" rIns="0" bIns="0" rtlCol="0" anchor="t"/>
          <a:lstStyle/>
          <a:p>
            <a:pPr indent="0" marL="0">
              <a:buNone/>
            </a:pPr>
            <a:r>
              <a:rPr lang="en-US" sz="1500" dirty="0">
                <a:solidFill>
                  <a:srgbClr val="56636F"/>
                </a:solidFill>
                <a:latin typeface="Arial" pitchFamily="34" charset="0"/>
                <a:ea typeface="Arial" pitchFamily="34" charset="-122"/>
                <a:cs typeface="Arial" pitchFamily="34" charset="-120"/>
              </a:rPr>
              <a:t>[Supply option, cost per MWh, and timing]</a:t>
            </a:r>
            <a:endParaRPr lang="en-US" sz="1500" dirty="0"/>
          </a:p>
        </p:txBody>
      </p:sp>
      <p:sp>
        <p:nvSpPr>
          <p:cNvPr id="12" name="Shape 10"/>
          <p:cNvSpPr/>
          <p:nvPr/>
        </p:nvSpPr>
        <p:spPr>
          <a:xfrm>
            <a:off x="5120640" y="3749040"/>
            <a:ext cx="6519672" cy="0"/>
          </a:xfrm>
          <a:prstGeom prst="line">
            <a:avLst/>
          </a:prstGeom>
          <a:noFill/>
          <a:ln w="9525">
            <a:solidFill>
              <a:srgbClr val="D3D8DC"/>
            </a:solidFill>
            <a:prstDash val="solid"/>
          </a:ln>
        </p:spPr>
      </p:sp>
      <p:sp>
        <p:nvSpPr>
          <p:cNvPr id="13" name="Text 11"/>
          <p:cNvSpPr txBox="1"/>
          <p:nvPr/>
        </p:nvSpPr>
        <p:spPr>
          <a:xfrm>
            <a:off x="5120640" y="3977640"/>
            <a:ext cx="2194560" cy="548640"/>
          </a:xfrm>
          <a:prstGeom prst="rect">
            <a:avLst/>
          </a:prstGeom>
          <a:noFill/>
          <a:ln/>
        </p:spPr>
        <p:txBody>
          <a:bodyPr wrap="square" lIns="0" tIns="0" rIns="0" bIns="0" rtlCol="0" anchor="t"/>
          <a:lstStyle/>
          <a:p>
            <a:pPr indent="0" marL="0">
              <a:buNone/>
            </a:pPr>
            <a:r>
              <a:rPr lang="en-US" sz="1500" b="1" dirty="0">
                <a:solidFill>
                  <a:srgbClr val="1C2631"/>
                </a:solidFill>
                <a:latin typeface="Arial" pitchFamily="34" charset="0"/>
                <a:ea typeface="Arial" pitchFamily="34" charset="-122"/>
                <a:cs typeface="Arial" pitchFamily="34" charset="-120"/>
              </a:rPr>
              <a:t>Community</a:t>
            </a:r>
            <a:endParaRPr lang="en-US" sz="1500" dirty="0"/>
          </a:p>
        </p:txBody>
      </p:sp>
      <p:sp>
        <p:nvSpPr>
          <p:cNvPr id="14" name="Text 12"/>
          <p:cNvSpPr txBox="1"/>
          <p:nvPr/>
        </p:nvSpPr>
        <p:spPr>
          <a:xfrm>
            <a:off x="7406640" y="3977640"/>
            <a:ext cx="4233672" cy="685800"/>
          </a:xfrm>
          <a:prstGeom prst="rect">
            <a:avLst/>
          </a:prstGeom>
          <a:noFill/>
          <a:ln/>
        </p:spPr>
        <p:txBody>
          <a:bodyPr wrap="square" lIns="0" tIns="0" rIns="0" bIns="0" rtlCol="0" anchor="t"/>
          <a:lstStyle/>
          <a:p>
            <a:pPr indent="0" marL="0">
              <a:buNone/>
            </a:pPr>
            <a:r>
              <a:rPr lang="en-US" sz="1500" dirty="0">
                <a:solidFill>
                  <a:srgbClr val="56636F"/>
                </a:solidFill>
                <a:latin typeface="Arial" pitchFamily="34" charset="0"/>
                <a:ea typeface="Arial" pitchFamily="34" charset="-122"/>
                <a:cs typeface="Arial" pitchFamily="34" charset="-120"/>
              </a:rPr>
              <a:t>[Who carries the cost and what KGE commits to]</a:t>
            </a:r>
            <a:endParaRPr lang="en-US" sz="1500" dirty="0"/>
          </a:p>
        </p:txBody>
      </p:sp>
      <p:sp>
        <p:nvSpPr>
          <p:cNvPr id="15" name="Shape 13"/>
          <p:cNvSpPr/>
          <p:nvPr/>
        </p:nvSpPr>
        <p:spPr>
          <a:xfrm>
            <a:off x="5120640" y="4800600"/>
            <a:ext cx="6519672" cy="0"/>
          </a:xfrm>
          <a:prstGeom prst="line">
            <a:avLst/>
          </a:prstGeom>
          <a:noFill/>
          <a:ln w="9525">
            <a:solidFill>
              <a:srgbClr val="D3D8DC"/>
            </a:solidFill>
            <a:prstDash val="solid"/>
          </a:ln>
        </p:spPr>
      </p:sp>
      <p:sp>
        <p:nvSpPr>
          <p:cNvPr id="16" name="Text 14"/>
          <p:cNvSpPr txBox="1"/>
          <p:nvPr/>
        </p:nvSpPr>
        <p:spPr>
          <a:xfrm>
            <a:off x="5120640" y="5029200"/>
            <a:ext cx="2194560" cy="548640"/>
          </a:xfrm>
          <a:prstGeom prst="rect">
            <a:avLst/>
          </a:prstGeom>
          <a:noFill/>
          <a:ln/>
        </p:spPr>
        <p:txBody>
          <a:bodyPr wrap="square" lIns="0" tIns="0" rIns="0" bIns="0" rtlCol="0" anchor="t"/>
          <a:lstStyle/>
          <a:p>
            <a:pPr indent="0" marL="0">
              <a:buNone/>
            </a:pPr>
            <a:r>
              <a:rPr lang="en-US" sz="1500" b="1" dirty="0">
                <a:solidFill>
                  <a:srgbClr val="1C2631"/>
                </a:solidFill>
                <a:latin typeface="Arial" pitchFamily="34" charset="0"/>
                <a:ea typeface="Arial" pitchFamily="34" charset="-122"/>
                <a:cs typeface="Arial" pitchFamily="34" charset="-120"/>
              </a:rPr>
              <a:t>Risk</a:t>
            </a:r>
            <a:endParaRPr lang="en-US" sz="1500" dirty="0"/>
          </a:p>
        </p:txBody>
      </p:sp>
      <p:sp>
        <p:nvSpPr>
          <p:cNvPr id="17" name="Text 15"/>
          <p:cNvSpPr txBox="1"/>
          <p:nvPr/>
        </p:nvSpPr>
        <p:spPr>
          <a:xfrm>
            <a:off x="7406640" y="5029200"/>
            <a:ext cx="4233672" cy="685800"/>
          </a:xfrm>
          <a:prstGeom prst="rect">
            <a:avLst/>
          </a:prstGeom>
          <a:noFill/>
          <a:ln/>
        </p:spPr>
        <p:txBody>
          <a:bodyPr wrap="square" lIns="0" tIns="0" rIns="0" bIns="0" rtlCol="0" anchor="t"/>
          <a:lstStyle/>
          <a:p>
            <a:pPr indent="0" marL="0">
              <a:buNone/>
            </a:pPr>
            <a:r>
              <a:rPr lang="en-US" sz="1500" dirty="0">
                <a:solidFill>
                  <a:srgbClr val="56636F"/>
                </a:solidFill>
                <a:latin typeface="Arial" pitchFamily="34" charset="0"/>
                <a:ea typeface="Arial" pitchFamily="34" charset="-122"/>
                <a:cs typeface="Arial" pitchFamily="34" charset="-120"/>
              </a:rPr>
              <a:t>[Largest risk and how the plan contains it]</a:t>
            </a:r>
            <a:endParaRPr lang="en-US" sz="1500" dirty="0"/>
          </a:p>
        </p:txBody>
      </p:sp>
      <p:sp>
        <p:nvSpPr>
          <p:cNvPr id="25" name="Slide Number Placeholder 0"/>
          <p:cNvSpPr>
            <a:spLocks noGrp="1"/>
          </p:cNvSpPr>
          <p:nvPr>
            <p:ph type="sldNum" sz="quarter" idx="4294967295"/>
          </p:nvPr>
        </p:nvSpPr>
        <p:spPr>
          <a:xfrm>
            <a:off x="11274552" y="6355080"/>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49C"/>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2600" dirty="0">
                <a:solidFill>
                  <a:srgbClr val="1C2631"/>
                </a:solidFill>
                <a:latin typeface="Georgia" pitchFamily="34" charset="0"/>
                <a:ea typeface="Georgia" pitchFamily="34" charset="-122"/>
                <a:cs typeface="Georgia" pitchFamily="34" charset="-120"/>
              </a:rPr>
              <a:t>Agenda</a:t>
            </a:r>
            <a:endParaRPr lang="en-US" sz="2600" dirty="0"/>
          </a:p>
        </p:txBody>
      </p:sp>
      <p:sp>
        <p:nvSpPr>
          <p:cNvPr id="3" name="Shape 1"/>
          <p:cNvSpPr/>
          <p:nvPr/>
        </p:nvSpPr>
        <p:spPr>
          <a:xfrm>
            <a:off x="548640" y="1645920"/>
            <a:ext cx="11091672" cy="0"/>
          </a:xfrm>
          <a:prstGeom prst="line">
            <a:avLst/>
          </a:prstGeom>
          <a:noFill/>
          <a:ln w="9525">
            <a:solidFill>
              <a:srgbClr val="D3D8DC"/>
            </a:solidFill>
            <a:prstDash val="solid"/>
          </a:ln>
        </p:spPr>
      </p:sp>
      <p:sp>
        <p:nvSpPr>
          <p:cNvPr id="4" name="Text 2"/>
          <p:cNvSpPr txBox="1"/>
          <p:nvPr/>
        </p:nvSpPr>
        <p:spPr>
          <a:xfrm>
            <a:off x="548640" y="1801368"/>
            <a:ext cx="822960" cy="411480"/>
          </a:xfrm>
          <a:prstGeom prst="rect">
            <a:avLst/>
          </a:prstGeom>
          <a:noFill/>
          <a:ln/>
        </p:spPr>
        <p:txBody>
          <a:bodyPr wrap="square" lIns="0" tIns="0" rIns="0" bIns="0" rtlCol="0" anchor="t"/>
          <a:lstStyle/>
          <a:p>
            <a:pPr indent="0" marL="0">
              <a:buNone/>
            </a:pPr>
            <a:r>
              <a:rPr lang="en-US" sz="2200" dirty="0">
                <a:solidFill>
                  <a:srgbClr val="1F5A44"/>
                </a:solidFill>
                <a:latin typeface="Georgia" pitchFamily="34" charset="0"/>
                <a:ea typeface="Georgia" pitchFamily="34" charset="-122"/>
                <a:cs typeface="Georgia" pitchFamily="34" charset="-120"/>
              </a:rPr>
              <a:t>01</a:t>
            </a:r>
            <a:endParaRPr lang="en-US" sz="2200" dirty="0"/>
          </a:p>
        </p:txBody>
      </p:sp>
      <p:sp>
        <p:nvSpPr>
          <p:cNvPr id="5" name="Text 3"/>
          <p:cNvSpPr txBox="1"/>
          <p:nvPr/>
        </p:nvSpPr>
        <p:spPr>
          <a:xfrm>
            <a:off x="1463040" y="1828800"/>
            <a:ext cx="7315200" cy="411480"/>
          </a:xfrm>
          <a:prstGeom prst="rect">
            <a:avLst/>
          </a:prstGeom>
          <a:noFill/>
          <a:ln/>
        </p:spPr>
        <p:txBody>
          <a:bodyPr wrap="square" lIns="0" tIns="0" rIns="0" bIns="0" rtlCol="0" anchor="t"/>
          <a:lstStyle/>
          <a:p>
            <a:pPr indent="0" marL="0">
              <a:buNone/>
            </a:pPr>
            <a:r>
              <a:rPr lang="en-US" sz="1800" dirty="0">
                <a:solidFill>
                  <a:srgbClr val="1C2631"/>
                </a:solidFill>
                <a:latin typeface="Arial" pitchFamily="34" charset="0"/>
                <a:ea typeface="Arial" pitchFamily="34" charset="-122"/>
                <a:cs typeface="Arial" pitchFamily="34" charset="-120"/>
              </a:rPr>
              <a:t>Situation</a:t>
            </a:r>
            <a:endParaRPr lang="en-US" sz="1800" dirty="0"/>
          </a:p>
        </p:txBody>
      </p:sp>
      <p:sp>
        <p:nvSpPr>
          <p:cNvPr id="6" name="Text 4"/>
          <p:cNvSpPr txBox="1"/>
          <p:nvPr/>
        </p:nvSpPr>
        <p:spPr>
          <a:xfrm>
            <a:off x="9811512" y="1847088"/>
            <a:ext cx="1828800" cy="365760"/>
          </a:xfrm>
          <a:prstGeom prst="rect">
            <a:avLst/>
          </a:prstGeom>
          <a:noFill/>
          <a:ln/>
        </p:spPr>
        <p:txBody>
          <a:bodyPr wrap="square" lIns="0" tIns="0" rIns="0" bIns="0" rtlCol="0" anchor="t"/>
          <a:lstStyle/>
          <a:p>
            <a:pPr algn="r" indent="0" marL="0">
              <a:buNone/>
            </a:pPr>
            <a:r>
              <a:rPr lang="en-US" sz="1400" dirty="0">
                <a:solidFill>
                  <a:srgbClr val="8A949C"/>
                </a:solidFill>
                <a:latin typeface="Arial" pitchFamily="34" charset="0"/>
                <a:ea typeface="Arial" pitchFamily="34" charset="-122"/>
                <a:cs typeface="Arial" pitchFamily="34" charset="-120"/>
              </a:rPr>
              <a:t>2 min</a:t>
            </a:r>
            <a:endParaRPr lang="en-US" sz="1400" dirty="0"/>
          </a:p>
        </p:txBody>
      </p:sp>
      <p:sp>
        <p:nvSpPr>
          <p:cNvPr id="7" name="Shape 5"/>
          <p:cNvSpPr/>
          <p:nvPr/>
        </p:nvSpPr>
        <p:spPr>
          <a:xfrm>
            <a:off x="548640" y="2359152"/>
            <a:ext cx="11091672" cy="0"/>
          </a:xfrm>
          <a:prstGeom prst="line">
            <a:avLst/>
          </a:prstGeom>
          <a:noFill/>
          <a:ln w="9525">
            <a:solidFill>
              <a:srgbClr val="D3D8DC"/>
            </a:solidFill>
            <a:prstDash val="solid"/>
          </a:ln>
        </p:spPr>
      </p:sp>
      <p:sp>
        <p:nvSpPr>
          <p:cNvPr id="8" name="Text 6"/>
          <p:cNvSpPr txBox="1"/>
          <p:nvPr/>
        </p:nvSpPr>
        <p:spPr>
          <a:xfrm>
            <a:off x="548640" y="2514600"/>
            <a:ext cx="822960" cy="411480"/>
          </a:xfrm>
          <a:prstGeom prst="rect">
            <a:avLst/>
          </a:prstGeom>
          <a:noFill/>
          <a:ln/>
        </p:spPr>
        <p:txBody>
          <a:bodyPr wrap="square" lIns="0" tIns="0" rIns="0" bIns="0" rtlCol="0" anchor="t"/>
          <a:lstStyle/>
          <a:p>
            <a:pPr indent="0" marL="0">
              <a:buNone/>
            </a:pPr>
            <a:r>
              <a:rPr lang="en-US" sz="2200" dirty="0">
                <a:solidFill>
                  <a:srgbClr val="1F5A44"/>
                </a:solidFill>
                <a:latin typeface="Georgia" pitchFamily="34" charset="0"/>
                <a:ea typeface="Georgia" pitchFamily="34" charset="-122"/>
                <a:cs typeface="Georgia" pitchFamily="34" charset="-120"/>
              </a:rPr>
              <a:t>02</a:t>
            </a:r>
            <a:endParaRPr lang="en-US" sz="2200" dirty="0"/>
          </a:p>
        </p:txBody>
      </p:sp>
      <p:sp>
        <p:nvSpPr>
          <p:cNvPr id="9" name="Text 7"/>
          <p:cNvSpPr txBox="1"/>
          <p:nvPr/>
        </p:nvSpPr>
        <p:spPr>
          <a:xfrm>
            <a:off x="1463040" y="2542032"/>
            <a:ext cx="7315200" cy="411480"/>
          </a:xfrm>
          <a:prstGeom prst="rect">
            <a:avLst/>
          </a:prstGeom>
          <a:noFill/>
          <a:ln/>
        </p:spPr>
        <p:txBody>
          <a:bodyPr wrap="square" lIns="0" tIns="0" rIns="0" bIns="0" rtlCol="0" anchor="t"/>
          <a:lstStyle/>
          <a:p>
            <a:pPr indent="0" marL="0">
              <a:buNone/>
            </a:pPr>
            <a:r>
              <a:rPr lang="en-US" sz="1800" dirty="0">
                <a:solidFill>
                  <a:srgbClr val="1C2631"/>
                </a:solidFill>
                <a:latin typeface="Arial" pitchFamily="34" charset="0"/>
                <a:ea typeface="Arial" pitchFamily="34" charset="-122"/>
                <a:cs typeface="Arial" pitchFamily="34" charset="-120"/>
              </a:rPr>
              <a:t>Options we weighed</a:t>
            </a:r>
            <a:endParaRPr lang="en-US" sz="1800" dirty="0"/>
          </a:p>
        </p:txBody>
      </p:sp>
      <p:sp>
        <p:nvSpPr>
          <p:cNvPr id="10" name="Text 8"/>
          <p:cNvSpPr txBox="1"/>
          <p:nvPr/>
        </p:nvSpPr>
        <p:spPr>
          <a:xfrm>
            <a:off x="9811512" y="2560320"/>
            <a:ext cx="1828800" cy="365760"/>
          </a:xfrm>
          <a:prstGeom prst="rect">
            <a:avLst/>
          </a:prstGeom>
          <a:noFill/>
          <a:ln/>
        </p:spPr>
        <p:txBody>
          <a:bodyPr wrap="square" lIns="0" tIns="0" rIns="0" bIns="0" rtlCol="0" anchor="t"/>
          <a:lstStyle/>
          <a:p>
            <a:pPr algn="r" indent="0" marL="0">
              <a:buNone/>
            </a:pPr>
            <a:r>
              <a:rPr lang="en-US" sz="1400" dirty="0">
                <a:solidFill>
                  <a:srgbClr val="8A949C"/>
                </a:solidFill>
                <a:latin typeface="Arial" pitchFamily="34" charset="0"/>
                <a:ea typeface="Arial" pitchFamily="34" charset="-122"/>
                <a:cs typeface="Arial" pitchFamily="34" charset="-120"/>
              </a:rPr>
              <a:t>3 min</a:t>
            </a:r>
            <a:endParaRPr lang="en-US" sz="1400" dirty="0"/>
          </a:p>
        </p:txBody>
      </p:sp>
      <p:sp>
        <p:nvSpPr>
          <p:cNvPr id="11" name="Shape 9"/>
          <p:cNvSpPr/>
          <p:nvPr/>
        </p:nvSpPr>
        <p:spPr>
          <a:xfrm>
            <a:off x="548640" y="3072384"/>
            <a:ext cx="11091672" cy="0"/>
          </a:xfrm>
          <a:prstGeom prst="line">
            <a:avLst/>
          </a:prstGeom>
          <a:noFill/>
          <a:ln w="9525">
            <a:solidFill>
              <a:srgbClr val="D3D8DC"/>
            </a:solidFill>
            <a:prstDash val="solid"/>
          </a:ln>
        </p:spPr>
      </p:sp>
      <p:sp>
        <p:nvSpPr>
          <p:cNvPr id="12" name="Text 10"/>
          <p:cNvSpPr txBox="1"/>
          <p:nvPr/>
        </p:nvSpPr>
        <p:spPr>
          <a:xfrm>
            <a:off x="548640" y="3227832"/>
            <a:ext cx="822960" cy="411480"/>
          </a:xfrm>
          <a:prstGeom prst="rect">
            <a:avLst/>
          </a:prstGeom>
          <a:noFill/>
          <a:ln/>
        </p:spPr>
        <p:txBody>
          <a:bodyPr wrap="square" lIns="0" tIns="0" rIns="0" bIns="0" rtlCol="0" anchor="t"/>
          <a:lstStyle/>
          <a:p>
            <a:pPr indent="0" marL="0">
              <a:buNone/>
            </a:pPr>
            <a:r>
              <a:rPr lang="en-US" sz="2200" dirty="0">
                <a:solidFill>
                  <a:srgbClr val="1F5A44"/>
                </a:solidFill>
                <a:latin typeface="Georgia" pitchFamily="34" charset="0"/>
                <a:ea typeface="Georgia" pitchFamily="34" charset="-122"/>
                <a:cs typeface="Georgia" pitchFamily="34" charset="-120"/>
              </a:rPr>
              <a:t>03</a:t>
            </a:r>
            <a:endParaRPr lang="en-US" sz="2200" dirty="0"/>
          </a:p>
        </p:txBody>
      </p:sp>
      <p:sp>
        <p:nvSpPr>
          <p:cNvPr id="13" name="Text 11"/>
          <p:cNvSpPr txBox="1"/>
          <p:nvPr/>
        </p:nvSpPr>
        <p:spPr>
          <a:xfrm>
            <a:off x="1463040" y="3255264"/>
            <a:ext cx="7315200" cy="411480"/>
          </a:xfrm>
          <a:prstGeom prst="rect">
            <a:avLst/>
          </a:prstGeom>
          <a:noFill/>
          <a:ln/>
        </p:spPr>
        <p:txBody>
          <a:bodyPr wrap="square" lIns="0" tIns="0" rIns="0" bIns="0" rtlCol="0" anchor="t"/>
          <a:lstStyle/>
          <a:p>
            <a:pPr indent="0" marL="0">
              <a:buNone/>
            </a:pPr>
            <a:r>
              <a:rPr lang="en-US" sz="1800" dirty="0">
                <a:solidFill>
                  <a:srgbClr val="1C2631"/>
                </a:solidFill>
                <a:latin typeface="Arial" pitchFamily="34" charset="0"/>
                <a:ea typeface="Arial" pitchFamily="34" charset="-122"/>
                <a:cs typeface="Arial" pitchFamily="34" charset="-120"/>
              </a:rPr>
              <a:t>Financial case</a:t>
            </a:r>
            <a:endParaRPr lang="en-US" sz="1800" dirty="0"/>
          </a:p>
        </p:txBody>
      </p:sp>
      <p:sp>
        <p:nvSpPr>
          <p:cNvPr id="14" name="Text 12"/>
          <p:cNvSpPr txBox="1"/>
          <p:nvPr/>
        </p:nvSpPr>
        <p:spPr>
          <a:xfrm>
            <a:off x="9811512" y="3273552"/>
            <a:ext cx="1828800" cy="365760"/>
          </a:xfrm>
          <a:prstGeom prst="rect">
            <a:avLst/>
          </a:prstGeom>
          <a:noFill/>
          <a:ln/>
        </p:spPr>
        <p:txBody>
          <a:bodyPr wrap="square" lIns="0" tIns="0" rIns="0" bIns="0" rtlCol="0" anchor="t"/>
          <a:lstStyle/>
          <a:p>
            <a:pPr algn="r" indent="0" marL="0">
              <a:buNone/>
            </a:pPr>
            <a:r>
              <a:rPr lang="en-US" sz="1400" dirty="0">
                <a:solidFill>
                  <a:srgbClr val="8A949C"/>
                </a:solidFill>
                <a:latin typeface="Arial" pitchFamily="34" charset="0"/>
                <a:ea typeface="Arial" pitchFamily="34" charset="-122"/>
                <a:cs typeface="Arial" pitchFamily="34" charset="-120"/>
              </a:rPr>
              <a:t>4 min</a:t>
            </a:r>
            <a:endParaRPr lang="en-US" sz="1400" dirty="0"/>
          </a:p>
        </p:txBody>
      </p:sp>
      <p:sp>
        <p:nvSpPr>
          <p:cNvPr id="15" name="Shape 13"/>
          <p:cNvSpPr/>
          <p:nvPr/>
        </p:nvSpPr>
        <p:spPr>
          <a:xfrm>
            <a:off x="548640" y="3785616"/>
            <a:ext cx="11091672" cy="0"/>
          </a:xfrm>
          <a:prstGeom prst="line">
            <a:avLst/>
          </a:prstGeom>
          <a:noFill/>
          <a:ln w="9525">
            <a:solidFill>
              <a:srgbClr val="D3D8DC"/>
            </a:solidFill>
            <a:prstDash val="solid"/>
          </a:ln>
        </p:spPr>
      </p:sp>
      <p:sp>
        <p:nvSpPr>
          <p:cNvPr id="16" name="Text 14"/>
          <p:cNvSpPr txBox="1"/>
          <p:nvPr/>
        </p:nvSpPr>
        <p:spPr>
          <a:xfrm>
            <a:off x="548640" y="3941064"/>
            <a:ext cx="822960" cy="411480"/>
          </a:xfrm>
          <a:prstGeom prst="rect">
            <a:avLst/>
          </a:prstGeom>
          <a:noFill/>
          <a:ln/>
        </p:spPr>
        <p:txBody>
          <a:bodyPr wrap="square" lIns="0" tIns="0" rIns="0" bIns="0" rtlCol="0" anchor="t"/>
          <a:lstStyle/>
          <a:p>
            <a:pPr indent="0" marL="0">
              <a:buNone/>
            </a:pPr>
            <a:r>
              <a:rPr lang="en-US" sz="2200" dirty="0">
                <a:solidFill>
                  <a:srgbClr val="1F5A44"/>
                </a:solidFill>
                <a:latin typeface="Georgia" pitchFamily="34" charset="0"/>
                <a:ea typeface="Georgia" pitchFamily="34" charset="-122"/>
                <a:cs typeface="Georgia" pitchFamily="34" charset="-120"/>
              </a:rPr>
              <a:t>04</a:t>
            </a:r>
            <a:endParaRPr lang="en-US" sz="2200" dirty="0"/>
          </a:p>
        </p:txBody>
      </p:sp>
      <p:sp>
        <p:nvSpPr>
          <p:cNvPr id="17" name="Text 15"/>
          <p:cNvSpPr txBox="1"/>
          <p:nvPr/>
        </p:nvSpPr>
        <p:spPr>
          <a:xfrm>
            <a:off x="1463040" y="3968496"/>
            <a:ext cx="7315200" cy="411480"/>
          </a:xfrm>
          <a:prstGeom prst="rect">
            <a:avLst/>
          </a:prstGeom>
          <a:noFill/>
          <a:ln/>
        </p:spPr>
        <p:txBody>
          <a:bodyPr wrap="square" lIns="0" tIns="0" rIns="0" bIns="0" rtlCol="0" anchor="t"/>
          <a:lstStyle/>
          <a:p>
            <a:pPr indent="0" marL="0">
              <a:buNone/>
            </a:pPr>
            <a:r>
              <a:rPr lang="en-US" sz="1800" dirty="0">
                <a:solidFill>
                  <a:srgbClr val="1C2631"/>
                </a:solidFill>
                <a:latin typeface="Arial" pitchFamily="34" charset="0"/>
                <a:ea typeface="Arial" pitchFamily="34" charset="-122"/>
                <a:cs typeface="Arial" pitchFamily="34" charset="-120"/>
              </a:rPr>
              <a:t>Power and energy</a:t>
            </a:r>
            <a:endParaRPr lang="en-US" sz="1800" dirty="0"/>
          </a:p>
        </p:txBody>
      </p:sp>
      <p:sp>
        <p:nvSpPr>
          <p:cNvPr id="18" name="Text 16"/>
          <p:cNvSpPr txBox="1"/>
          <p:nvPr/>
        </p:nvSpPr>
        <p:spPr>
          <a:xfrm>
            <a:off x="9811512" y="3986784"/>
            <a:ext cx="1828800" cy="365760"/>
          </a:xfrm>
          <a:prstGeom prst="rect">
            <a:avLst/>
          </a:prstGeom>
          <a:noFill/>
          <a:ln/>
        </p:spPr>
        <p:txBody>
          <a:bodyPr wrap="square" lIns="0" tIns="0" rIns="0" bIns="0" rtlCol="0" anchor="t"/>
          <a:lstStyle/>
          <a:p>
            <a:pPr algn="r" indent="0" marL="0">
              <a:buNone/>
            </a:pPr>
            <a:r>
              <a:rPr lang="en-US" sz="1400" dirty="0">
                <a:solidFill>
                  <a:srgbClr val="8A949C"/>
                </a:solidFill>
                <a:latin typeface="Arial" pitchFamily="34" charset="0"/>
                <a:ea typeface="Arial" pitchFamily="34" charset="-122"/>
                <a:cs typeface="Arial" pitchFamily="34" charset="-120"/>
              </a:rPr>
              <a:t>4 min</a:t>
            </a:r>
            <a:endParaRPr lang="en-US" sz="1400" dirty="0"/>
          </a:p>
        </p:txBody>
      </p:sp>
      <p:sp>
        <p:nvSpPr>
          <p:cNvPr id="19" name="Shape 17"/>
          <p:cNvSpPr/>
          <p:nvPr/>
        </p:nvSpPr>
        <p:spPr>
          <a:xfrm>
            <a:off x="548640" y="4498848"/>
            <a:ext cx="11091672" cy="0"/>
          </a:xfrm>
          <a:prstGeom prst="line">
            <a:avLst/>
          </a:prstGeom>
          <a:noFill/>
          <a:ln w="9525">
            <a:solidFill>
              <a:srgbClr val="D3D8DC"/>
            </a:solidFill>
            <a:prstDash val="solid"/>
          </a:ln>
        </p:spPr>
      </p:sp>
      <p:sp>
        <p:nvSpPr>
          <p:cNvPr id="20" name="Text 18"/>
          <p:cNvSpPr txBox="1"/>
          <p:nvPr/>
        </p:nvSpPr>
        <p:spPr>
          <a:xfrm>
            <a:off x="548640" y="4654296"/>
            <a:ext cx="822960" cy="411480"/>
          </a:xfrm>
          <a:prstGeom prst="rect">
            <a:avLst/>
          </a:prstGeom>
          <a:noFill/>
          <a:ln/>
        </p:spPr>
        <p:txBody>
          <a:bodyPr wrap="square" lIns="0" tIns="0" rIns="0" bIns="0" rtlCol="0" anchor="t"/>
          <a:lstStyle/>
          <a:p>
            <a:pPr indent="0" marL="0">
              <a:buNone/>
            </a:pPr>
            <a:r>
              <a:rPr lang="en-US" sz="2200" dirty="0">
                <a:solidFill>
                  <a:srgbClr val="1F5A44"/>
                </a:solidFill>
                <a:latin typeface="Georgia" pitchFamily="34" charset="0"/>
                <a:ea typeface="Georgia" pitchFamily="34" charset="-122"/>
                <a:cs typeface="Georgia" pitchFamily="34" charset="-120"/>
              </a:rPr>
              <a:t>05</a:t>
            </a:r>
            <a:endParaRPr lang="en-US" sz="2200" dirty="0"/>
          </a:p>
        </p:txBody>
      </p:sp>
      <p:sp>
        <p:nvSpPr>
          <p:cNvPr id="21" name="Text 19"/>
          <p:cNvSpPr txBox="1"/>
          <p:nvPr/>
        </p:nvSpPr>
        <p:spPr>
          <a:xfrm>
            <a:off x="1463040" y="4681728"/>
            <a:ext cx="7315200" cy="411480"/>
          </a:xfrm>
          <a:prstGeom prst="rect">
            <a:avLst/>
          </a:prstGeom>
          <a:noFill/>
          <a:ln/>
        </p:spPr>
        <p:txBody>
          <a:bodyPr wrap="square" lIns="0" tIns="0" rIns="0" bIns="0" rtlCol="0" anchor="t"/>
          <a:lstStyle/>
          <a:p>
            <a:pPr indent="0" marL="0">
              <a:buNone/>
            </a:pPr>
            <a:r>
              <a:rPr lang="en-US" sz="1800" dirty="0">
                <a:solidFill>
                  <a:srgbClr val="1C2631"/>
                </a:solidFill>
                <a:latin typeface="Arial" pitchFamily="34" charset="0"/>
                <a:ea typeface="Arial" pitchFamily="34" charset="-122"/>
                <a:cs typeface="Arial" pitchFamily="34" charset="-120"/>
              </a:rPr>
              <a:t>Community and integrity</a:t>
            </a:r>
            <a:endParaRPr lang="en-US" sz="1800" dirty="0"/>
          </a:p>
        </p:txBody>
      </p:sp>
      <p:sp>
        <p:nvSpPr>
          <p:cNvPr id="22" name="Text 20"/>
          <p:cNvSpPr txBox="1"/>
          <p:nvPr/>
        </p:nvSpPr>
        <p:spPr>
          <a:xfrm>
            <a:off x="9811512" y="4700016"/>
            <a:ext cx="1828800" cy="365760"/>
          </a:xfrm>
          <a:prstGeom prst="rect">
            <a:avLst/>
          </a:prstGeom>
          <a:noFill/>
          <a:ln/>
        </p:spPr>
        <p:txBody>
          <a:bodyPr wrap="square" lIns="0" tIns="0" rIns="0" bIns="0" rtlCol="0" anchor="t"/>
          <a:lstStyle/>
          <a:p>
            <a:pPr algn="r" indent="0" marL="0">
              <a:buNone/>
            </a:pPr>
            <a:r>
              <a:rPr lang="en-US" sz="1400" dirty="0">
                <a:solidFill>
                  <a:srgbClr val="8A949C"/>
                </a:solidFill>
                <a:latin typeface="Arial" pitchFamily="34" charset="0"/>
                <a:ea typeface="Arial" pitchFamily="34" charset="-122"/>
                <a:cs typeface="Arial" pitchFamily="34" charset="-120"/>
              </a:rPr>
              <a:t>4 min</a:t>
            </a:r>
            <a:endParaRPr lang="en-US" sz="1400" dirty="0"/>
          </a:p>
        </p:txBody>
      </p:sp>
      <p:sp>
        <p:nvSpPr>
          <p:cNvPr id="23" name="Shape 21"/>
          <p:cNvSpPr/>
          <p:nvPr/>
        </p:nvSpPr>
        <p:spPr>
          <a:xfrm>
            <a:off x="548640" y="5212080"/>
            <a:ext cx="11091672" cy="0"/>
          </a:xfrm>
          <a:prstGeom prst="line">
            <a:avLst/>
          </a:prstGeom>
          <a:noFill/>
          <a:ln w="9525">
            <a:solidFill>
              <a:srgbClr val="D3D8DC"/>
            </a:solidFill>
            <a:prstDash val="solid"/>
          </a:ln>
        </p:spPr>
      </p:sp>
      <p:sp>
        <p:nvSpPr>
          <p:cNvPr id="24" name="Text 22"/>
          <p:cNvSpPr txBox="1"/>
          <p:nvPr/>
        </p:nvSpPr>
        <p:spPr>
          <a:xfrm>
            <a:off x="548640" y="5367528"/>
            <a:ext cx="822960" cy="411480"/>
          </a:xfrm>
          <a:prstGeom prst="rect">
            <a:avLst/>
          </a:prstGeom>
          <a:noFill/>
          <a:ln/>
        </p:spPr>
        <p:txBody>
          <a:bodyPr wrap="square" lIns="0" tIns="0" rIns="0" bIns="0" rtlCol="0" anchor="t"/>
          <a:lstStyle/>
          <a:p>
            <a:pPr indent="0" marL="0">
              <a:buNone/>
            </a:pPr>
            <a:r>
              <a:rPr lang="en-US" sz="2200" dirty="0">
                <a:solidFill>
                  <a:srgbClr val="1F5A44"/>
                </a:solidFill>
                <a:latin typeface="Georgia" pitchFamily="34" charset="0"/>
                <a:ea typeface="Georgia" pitchFamily="34" charset="-122"/>
                <a:cs typeface="Georgia" pitchFamily="34" charset="-120"/>
              </a:rPr>
              <a:t>06</a:t>
            </a:r>
            <a:endParaRPr lang="en-US" sz="2200" dirty="0"/>
          </a:p>
        </p:txBody>
      </p:sp>
      <p:sp>
        <p:nvSpPr>
          <p:cNvPr id="25" name="Text 23"/>
          <p:cNvSpPr txBox="1"/>
          <p:nvPr/>
        </p:nvSpPr>
        <p:spPr>
          <a:xfrm>
            <a:off x="1463040" y="5394960"/>
            <a:ext cx="7315200" cy="411480"/>
          </a:xfrm>
          <a:prstGeom prst="rect">
            <a:avLst/>
          </a:prstGeom>
          <a:noFill/>
          <a:ln/>
        </p:spPr>
        <p:txBody>
          <a:bodyPr wrap="square" lIns="0" tIns="0" rIns="0" bIns="0" rtlCol="0" anchor="t"/>
          <a:lstStyle/>
          <a:p>
            <a:pPr indent="0" marL="0">
              <a:buNone/>
            </a:pPr>
            <a:r>
              <a:rPr lang="en-US" sz="1800" dirty="0">
                <a:solidFill>
                  <a:srgbClr val="1C2631"/>
                </a:solidFill>
                <a:latin typeface="Arial" pitchFamily="34" charset="0"/>
                <a:ea typeface="Arial" pitchFamily="34" charset="-122"/>
                <a:cs typeface="Arial" pitchFamily="34" charset="-120"/>
              </a:rPr>
              <a:t>Risks and implementation</a:t>
            </a:r>
            <a:endParaRPr lang="en-US" sz="1800" dirty="0"/>
          </a:p>
        </p:txBody>
      </p:sp>
      <p:sp>
        <p:nvSpPr>
          <p:cNvPr id="26" name="Text 24"/>
          <p:cNvSpPr txBox="1"/>
          <p:nvPr/>
        </p:nvSpPr>
        <p:spPr>
          <a:xfrm>
            <a:off x="9811512" y="5413248"/>
            <a:ext cx="1828800" cy="365760"/>
          </a:xfrm>
          <a:prstGeom prst="rect">
            <a:avLst/>
          </a:prstGeom>
          <a:noFill/>
          <a:ln/>
        </p:spPr>
        <p:txBody>
          <a:bodyPr wrap="square" lIns="0" tIns="0" rIns="0" bIns="0" rtlCol="0" anchor="t"/>
          <a:lstStyle/>
          <a:p>
            <a:pPr algn="r" indent="0" marL="0">
              <a:buNone/>
            </a:pPr>
            <a:r>
              <a:rPr lang="en-US" sz="1400" dirty="0">
                <a:solidFill>
                  <a:srgbClr val="8A949C"/>
                </a:solidFill>
                <a:latin typeface="Arial" pitchFamily="34" charset="0"/>
                <a:ea typeface="Arial" pitchFamily="34" charset="-122"/>
                <a:cs typeface="Arial" pitchFamily="34" charset="-120"/>
              </a:rPr>
              <a:t>3 min</a:t>
            </a:r>
            <a:endParaRPr lang="en-US" sz="1400" dirty="0"/>
          </a:p>
        </p:txBody>
      </p:sp>
      <p:sp>
        <p:nvSpPr>
          <p:cNvPr id="27" name="Shape 25"/>
          <p:cNvSpPr/>
          <p:nvPr/>
        </p:nvSpPr>
        <p:spPr>
          <a:xfrm>
            <a:off x="548640" y="5925312"/>
            <a:ext cx="11091672" cy="0"/>
          </a:xfrm>
          <a:prstGeom prst="line">
            <a:avLst/>
          </a:prstGeom>
          <a:noFill/>
          <a:ln w="9525">
            <a:solidFill>
              <a:srgbClr val="D3D8DC"/>
            </a:solidFill>
            <a:prstDash val="solid"/>
          </a:ln>
        </p:spPr>
      </p:sp>
      <p:sp>
        <p:nvSpPr>
          <p:cNvPr id="25" name="Slide Number Placeholder 0"/>
          <p:cNvSpPr>
            <a:spLocks noGrp="1"/>
          </p:cNvSpPr>
          <p:nvPr>
            <p:ph type="sldNum" sz="quarter" idx="4294967295"/>
          </p:nvPr>
        </p:nvSpPr>
        <p:spPr>
          <a:xfrm>
            <a:off x="11274552" y="6355080"/>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49C"/>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2600" dirty="0">
                <a:solidFill>
                  <a:srgbClr val="1C2631"/>
                </a:solidFill>
                <a:latin typeface="Georgia" pitchFamily="34" charset="0"/>
                <a:ea typeface="Georgia" pitchFamily="34" charset="-122"/>
                <a:cs typeface="Georgia" pitchFamily="34" charset="-120"/>
              </a:rPr>
              <a:t>[Headline that says what changed and why KGE has to decide now]</a:t>
            </a:r>
            <a:endParaRPr lang="en-US" sz="2600" dirty="0"/>
          </a:p>
        </p:txBody>
      </p:sp>
      <p:sp>
        <p:nvSpPr>
          <p:cNvPr id="3" name="Text 1"/>
          <p:cNvSpPr txBox="1"/>
          <p:nvPr/>
        </p:nvSpPr>
        <p:spPr>
          <a:xfrm>
            <a:off x="548640" y="1645920"/>
            <a:ext cx="6035040" cy="365760"/>
          </a:xfrm>
          <a:prstGeom prst="rect">
            <a:avLst/>
          </a:prstGeom>
          <a:noFill/>
          <a:ln/>
        </p:spPr>
        <p:txBody>
          <a:bodyPr wrap="square" lIns="0" tIns="0" rIns="0" bIns="0" rtlCol="0" anchor="t"/>
          <a:lstStyle/>
          <a:p>
            <a:pPr indent="0" marL="0">
              <a:buNone/>
            </a:pPr>
            <a:r>
              <a:rPr lang="en-US" sz="1600" b="1" dirty="0">
                <a:solidFill>
                  <a:srgbClr val="1F5A44"/>
                </a:solidFill>
                <a:latin typeface="Arial" pitchFamily="34" charset="0"/>
                <a:ea typeface="Arial" pitchFamily="34" charset="-122"/>
                <a:cs typeface="Arial" pitchFamily="34" charset="-120"/>
              </a:rPr>
              <a:t>Context</a:t>
            </a:r>
            <a:endParaRPr lang="en-US" sz="1600" dirty="0"/>
          </a:p>
        </p:txBody>
      </p:sp>
      <p:sp>
        <p:nvSpPr>
          <p:cNvPr id="4" name="Text 2"/>
          <p:cNvSpPr txBox="1"/>
          <p:nvPr/>
        </p:nvSpPr>
        <p:spPr>
          <a:xfrm>
            <a:off x="548640" y="2057400"/>
            <a:ext cx="6035040" cy="822960"/>
          </a:xfrm>
          <a:prstGeom prst="rect">
            <a:avLst/>
          </a:prstGeom>
          <a:noFill/>
          <a:ln/>
        </p:spPr>
        <p:txBody>
          <a:bodyPr wrap="square" lIns="0" tIns="0" rIns="0" bIns="0" rtlCol="0" anchor="t"/>
          <a:lstStyle/>
          <a:p>
            <a:pPr indent="0" marL="0">
              <a:buNone/>
            </a:pPr>
            <a:r>
              <a:rPr lang="en-US" sz="1500" dirty="0">
                <a:solidFill>
                  <a:srgbClr val="56636F"/>
                </a:solidFill>
                <a:latin typeface="Arial" pitchFamily="34" charset="0"/>
                <a:ea typeface="Arial" pitchFamily="34" charset="-122"/>
                <a:cs typeface="Arial" pitchFamily="34" charset="-120"/>
              </a:rPr>
              <a:t>[Two or three fragments on KGE and the Ironwood site]</a:t>
            </a:r>
            <a:endParaRPr lang="en-US" sz="1500" dirty="0"/>
          </a:p>
        </p:txBody>
      </p:sp>
      <p:sp>
        <p:nvSpPr>
          <p:cNvPr id="5" name="Text 3"/>
          <p:cNvSpPr txBox="1"/>
          <p:nvPr/>
        </p:nvSpPr>
        <p:spPr>
          <a:xfrm>
            <a:off x="548640" y="3063240"/>
            <a:ext cx="6035040" cy="365760"/>
          </a:xfrm>
          <a:prstGeom prst="rect">
            <a:avLst/>
          </a:prstGeom>
          <a:noFill/>
          <a:ln/>
        </p:spPr>
        <p:txBody>
          <a:bodyPr wrap="square" lIns="0" tIns="0" rIns="0" bIns="0" rtlCol="0" anchor="t"/>
          <a:lstStyle/>
          <a:p>
            <a:pPr indent="0" marL="0">
              <a:buNone/>
            </a:pPr>
            <a:r>
              <a:rPr lang="en-US" sz="1600" b="1" dirty="0">
                <a:solidFill>
                  <a:srgbClr val="1F5A44"/>
                </a:solidFill>
                <a:latin typeface="Arial" pitchFamily="34" charset="0"/>
                <a:ea typeface="Arial" pitchFamily="34" charset="-122"/>
                <a:cs typeface="Arial" pitchFamily="34" charset="-120"/>
              </a:rPr>
              <a:t>The decision</a:t>
            </a:r>
            <a:endParaRPr lang="en-US" sz="1600" dirty="0"/>
          </a:p>
        </p:txBody>
      </p:sp>
      <p:sp>
        <p:nvSpPr>
          <p:cNvPr id="6" name="Text 4"/>
          <p:cNvSpPr txBox="1"/>
          <p:nvPr/>
        </p:nvSpPr>
        <p:spPr>
          <a:xfrm>
            <a:off x="548640" y="3474720"/>
            <a:ext cx="6035040" cy="822960"/>
          </a:xfrm>
          <a:prstGeom prst="rect">
            <a:avLst/>
          </a:prstGeom>
          <a:noFill/>
          <a:ln/>
        </p:spPr>
        <p:txBody>
          <a:bodyPr wrap="square" lIns="0" tIns="0" rIns="0" bIns="0" rtlCol="0" anchor="t"/>
          <a:lstStyle/>
          <a:p>
            <a:pPr indent="0" marL="0">
              <a:buNone/>
            </a:pPr>
            <a:r>
              <a:rPr lang="en-US" sz="1500" dirty="0">
                <a:solidFill>
                  <a:srgbClr val="56636F"/>
                </a:solidFill>
                <a:latin typeface="Arial" pitchFamily="34" charset="0"/>
                <a:ea typeface="Arial" pitchFamily="34" charset="-122"/>
                <a:cs typeface="Arial" pitchFamily="34" charset="-120"/>
              </a:rPr>
              <a:t>[The choice in front of KGE, in one line]</a:t>
            </a:r>
            <a:endParaRPr lang="en-US" sz="1500" dirty="0"/>
          </a:p>
        </p:txBody>
      </p:sp>
      <p:sp>
        <p:nvSpPr>
          <p:cNvPr id="7" name="Text 5"/>
          <p:cNvSpPr txBox="1"/>
          <p:nvPr/>
        </p:nvSpPr>
        <p:spPr>
          <a:xfrm>
            <a:off x="548640" y="4480560"/>
            <a:ext cx="6035040" cy="365760"/>
          </a:xfrm>
          <a:prstGeom prst="rect">
            <a:avLst/>
          </a:prstGeom>
          <a:noFill/>
          <a:ln/>
        </p:spPr>
        <p:txBody>
          <a:bodyPr wrap="square" lIns="0" tIns="0" rIns="0" bIns="0" rtlCol="0" anchor="t"/>
          <a:lstStyle/>
          <a:p>
            <a:pPr indent="0" marL="0">
              <a:buNone/>
            </a:pPr>
            <a:r>
              <a:rPr lang="en-US" sz="1600" b="1" dirty="0">
                <a:solidFill>
                  <a:srgbClr val="1F5A44"/>
                </a:solidFill>
                <a:latin typeface="Arial" pitchFamily="34" charset="0"/>
                <a:ea typeface="Arial" pitchFamily="34" charset="-122"/>
                <a:cs typeface="Arial" pitchFamily="34" charset="-120"/>
              </a:rPr>
              <a:t>What makes it hard</a:t>
            </a:r>
            <a:endParaRPr lang="en-US" sz="1600" dirty="0"/>
          </a:p>
        </p:txBody>
      </p:sp>
      <p:sp>
        <p:nvSpPr>
          <p:cNvPr id="8" name="Text 6"/>
          <p:cNvSpPr txBox="1"/>
          <p:nvPr/>
        </p:nvSpPr>
        <p:spPr>
          <a:xfrm>
            <a:off x="548640" y="4892040"/>
            <a:ext cx="6035040" cy="822960"/>
          </a:xfrm>
          <a:prstGeom prst="rect">
            <a:avLst/>
          </a:prstGeom>
          <a:noFill/>
          <a:ln/>
        </p:spPr>
        <p:txBody>
          <a:bodyPr wrap="square" lIns="0" tIns="0" rIns="0" bIns="0" rtlCol="0" anchor="t"/>
          <a:lstStyle/>
          <a:p>
            <a:pPr indent="0" marL="0">
              <a:buNone/>
            </a:pPr>
            <a:r>
              <a:rPr lang="en-US" sz="1500" dirty="0">
                <a:solidFill>
                  <a:srgbClr val="56636F"/>
                </a:solidFill>
                <a:latin typeface="Arial" pitchFamily="34" charset="0"/>
                <a:ea typeface="Arial" pitchFamily="34" charset="-122"/>
                <a:cs typeface="Arial" pitchFamily="34" charset="-120"/>
              </a:rPr>
              <a:t>[The tension the case sets up]</a:t>
            </a:r>
            <a:endParaRPr lang="en-US" sz="1500" dirty="0"/>
          </a:p>
        </p:txBody>
      </p:sp>
      <p:sp>
        <p:nvSpPr>
          <p:cNvPr id="9" name="Facts panel"/>
          <p:cNvSpPr/>
          <p:nvPr/>
        </p:nvSpPr>
        <p:spPr>
          <a:xfrm>
            <a:off x="7132320" y="1645920"/>
            <a:ext cx="4507992" cy="4206240"/>
          </a:xfrm>
          <a:prstGeom prst="rect">
            <a:avLst/>
          </a:prstGeom>
          <a:solidFill>
            <a:srgbClr val="EEF1EF"/>
          </a:solidFill>
          <a:ln/>
        </p:spPr>
      </p:sp>
      <p:sp>
        <p:nvSpPr>
          <p:cNvPr id="10" name="Text 8"/>
          <p:cNvSpPr txBox="1"/>
          <p:nvPr/>
        </p:nvSpPr>
        <p:spPr>
          <a:xfrm>
            <a:off x="7406640" y="1874520"/>
            <a:ext cx="3931920" cy="320040"/>
          </a:xfrm>
          <a:prstGeom prst="rect">
            <a:avLst/>
          </a:prstGeom>
          <a:noFill/>
          <a:ln/>
        </p:spPr>
        <p:txBody>
          <a:bodyPr wrap="square" lIns="0" tIns="0" rIns="0" bIns="0" rtlCol="0" anchor="t"/>
          <a:lstStyle/>
          <a:p>
            <a:pPr indent="0" marL="0">
              <a:buNone/>
            </a:pPr>
            <a:r>
              <a:rPr lang="en-US" sz="1300" b="1" dirty="0">
                <a:solidFill>
                  <a:srgbClr val="1F5A44"/>
                </a:solidFill>
                <a:latin typeface="Arial" pitchFamily="34" charset="0"/>
                <a:ea typeface="Arial" pitchFamily="34" charset="-122"/>
                <a:cs typeface="Arial" pitchFamily="34" charset="-120"/>
              </a:rPr>
              <a:t>Case facts</a:t>
            </a:r>
            <a:endParaRPr lang="en-US" sz="1300" dirty="0"/>
          </a:p>
        </p:txBody>
      </p:sp>
      <p:sp>
        <p:nvSpPr>
          <p:cNvPr id="11" name="Text 9"/>
          <p:cNvSpPr txBox="1"/>
          <p:nvPr/>
        </p:nvSpPr>
        <p:spPr>
          <a:xfrm>
            <a:off x="7406640" y="2423160"/>
            <a:ext cx="2194560" cy="457200"/>
          </a:xfrm>
          <a:prstGeom prst="rect">
            <a:avLst/>
          </a:prstGeom>
          <a:noFill/>
          <a:ln/>
        </p:spPr>
        <p:txBody>
          <a:bodyPr wrap="square" lIns="0" tIns="0" rIns="0" bIns="0" rtlCol="0" anchor="t"/>
          <a:lstStyle/>
          <a:p>
            <a:pPr indent="0" marL="0">
              <a:buNone/>
            </a:pPr>
            <a:r>
              <a:rPr lang="en-US" sz="1400" dirty="0">
                <a:solidFill>
                  <a:srgbClr val="56636F"/>
                </a:solidFill>
                <a:latin typeface="Arial" pitchFamily="34" charset="0"/>
                <a:ea typeface="Arial" pitchFamily="34" charset="-122"/>
                <a:cs typeface="Arial" pitchFamily="34" charset="-120"/>
              </a:rPr>
              <a:t>Phase 1 load</a:t>
            </a:r>
            <a:endParaRPr lang="en-US" sz="1400" dirty="0"/>
          </a:p>
        </p:txBody>
      </p:sp>
      <p:sp>
        <p:nvSpPr>
          <p:cNvPr id="12" name="Text 10"/>
          <p:cNvSpPr txBox="1"/>
          <p:nvPr/>
        </p:nvSpPr>
        <p:spPr>
          <a:xfrm>
            <a:off x="9509760" y="2377440"/>
            <a:ext cx="1856232" cy="502920"/>
          </a:xfrm>
          <a:prstGeom prst="rect">
            <a:avLst/>
          </a:prstGeom>
          <a:noFill/>
          <a:ln/>
        </p:spPr>
        <p:txBody>
          <a:bodyPr wrap="square" lIns="0" tIns="0" rIns="0" bIns="0" rtlCol="0" anchor="t"/>
          <a:lstStyle/>
          <a:p>
            <a:pPr algn="r" indent="0" marL="0">
              <a:buNone/>
            </a:pPr>
            <a:r>
              <a:rPr lang="en-US" sz="2200" dirty="0">
                <a:solidFill>
                  <a:srgbClr val="1C2631"/>
                </a:solidFill>
                <a:latin typeface="Georgia" pitchFamily="34" charset="0"/>
                <a:ea typeface="Georgia" pitchFamily="34" charset="-122"/>
                <a:cs typeface="Georgia" pitchFamily="34" charset="-120"/>
              </a:rPr>
              <a:t>480 MW</a:t>
            </a:r>
            <a:endParaRPr lang="en-US" sz="2200" dirty="0"/>
          </a:p>
        </p:txBody>
      </p:sp>
      <p:sp>
        <p:nvSpPr>
          <p:cNvPr id="13" name="Shape 11"/>
          <p:cNvSpPr/>
          <p:nvPr/>
        </p:nvSpPr>
        <p:spPr>
          <a:xfrm>
            <a:off x="7406640" y="3090672"/>
            <a:ext cx="3959352" cy="0"/>
          </a:xfrm>
          <a:prstGeom prst="line">
            <a:avLst/>
          </a:prstGeom>
          <a:noFill/>
          <a:ln w="9525">
            <a:solidFill>
              <a:srgbClr val="C9D1CC"/>
            </a:solidFill>
            <a:prstDash val="solid"/>
          </a:ln>
        </p:spPr>
      </p:sp>
      <p:sp>
        <p:nvSpPr>
          <p:cNvPr id="14" name="Text 12"/>
          <p:cNvSpPr txBox="1"/>
          <p:nvPr/>
        </p:nvSpPr>
        <p:spPr>
          <a:xfrm>
            <a:off x="7406640" y="3246120"/>
            <a:ext cx="2194560" cy="457200"/>
          </a:xfrm>
          <a:prstGeom prst="rect">
            <a:avLst/>
          </a:prstGeom>
          <a:noFill/>
          <a:ln/>
        </p:spPr>
        <p:txBody>
          <a:bodyPr wrap="square" lIns="0" tIns="0" rIns="0" bIns="0" rtlCol="0" anchor="t"/>
          <a:lstStyle/>
          <a:p>
            <a:pPr indent="0" marL="0">
              <a:buNone/>
            </a:pPr>
            <a:r>
              <a:rPr lang="en-US" sz="1400" dirty="0">
                <a:solidFill>
                  <a:srgbClr val="56636F"/>
                </a:solidFill>
                <a:latin typeface="Arial" pitchFamily="34" charset="0"/>
                <a:ea typeface="Arial" pitchFamily="34" charset="-122"/>
                <a:cs typeface="Arial" pitchFamily="34" charset="-120"/>
              </a:rPr>
              <a:t>Full campus</a:t>
            </a:r>
            <a:endParaRPr lang="en-US" sz="1400" dirty="0"/>
          </a:p>
        </p:txBody>
      </p:sp>
      <p:sp>
        <p:nvSpPr>
          <p:cNvPr id="15" name="Text 13"/>
          <p:cNvSpPr txBox="1"/>
          <p:nvPr/>
        </p:nvSpPr>
        <p:spPr>
          <a:xfrm>
            <a:off x="9509760" y="3200400"/>
            <a:ext cx="1856232" cy="502920"/>
          </a:xfrm>
          <a:prstGeom prst="rect">
            <a:avLst/>
          </a:prstGeom>
          <a:noFill/>
          <a:ln/>
        </p:spPr>
        <p:txBody>
          <a:bodyPr wrap="square" lIns="0" tIns="0" rIns="0" bIns="0" rtlCol="0" anchor="t"/>
          <a:lstStyle/>
          <a:p>
            <a:pPr algn="r" indent="0" marL="0">
              <a:buNone/>
            </a:pPr>
            <a:r>
              <a:rPr lang="en-US" sz="2200" dirty="0">
                <a:solidFill>
                  <a:srgbClr val="1C2631"/>
                </a:solidFill>
                <a:latin typeface="Georgia" pitchFamily="34" charset="0"/>
                <a:ea typeface="Georgia" pitchFamily="34" charset="-122"/>
                <a:cs typeface="Georgia" pitchFamily="34" charset="-120"/>
              </a:rPr>
              <a:t>2,000 MW</a:t>
            </a:r>
            <a:endParaRPr lang="en-US" sz="2200" dirty="0"/>
          </a:p>
        </p:txBody>
      </p:sp>
      <p:sp>
        <p:nvSpPr>
          <p:cNvPr id="16" name="Shape 14"/>
          <p:cNvSpPr/>
          <p:nvPr/>
        </p:nvSpPr>
        <p:spPr>
          <a:xfrm>
            <a:off x="7406640" y="3913632"/>
            <a:ext cx="3959352" cy="0"/>
          </a:xfrm>
          <a:prstGeom prst="line">
            <a:avLst/>
          </a:prstGeom>
          <a:noFill/>
          <a:ln w="9525">
            <a:solidFill>
              <a:srgbClr val="C9D1CC"/>
            </a:solidFill>
            <a:prstDash val="solid"/>
          </a:ln>
        </p:spPr>
      </p:sp>
      <p:sp>
        <p:nvSpPr>
          <p:cNvPr id="17" name="Text 15"/>
          <p:cNvSpPr txBox="1"/>
          <p:nvPr/>
        </p:nvSpPr>
        <p:spPr>
          <a:xfrm>
            <a:off x="7406640" y="4069080"/>
            <a:ext cx="2194560" cy="457200"/>
          </a:xfrm>
          <a:prstGeom prst="rect">
            <a:avLst/>
          </a:prstGeom>
          <a:noFill/>
          <a:ln/>
        </p:spPr>
        <p:txBody>
          <a:bodyPr wrap="square" lIns="0" tIns="0" rIns="0" bIns="0" rtlCol="0" anchor="t"/>
          <a:lstStyle/>
          <a:p>
            <a:pPr indent="0" marL="0">
              <a:buNone/>
            </a:pPr>
            <a:r>
              <a:rPr lang="en-US" sz="1400" dirty="0">
                <a:solidFill>
                  <a:srgbClr val="56636F"/>
                </a:solidFill>
                <a:latin typeface="Arial" pitchFamily="34" charset="0"/>
                <a:ea typeface="Arial" pitchFamily="34" charset="-122"/>
                <a:cs typeface="Arial" pitchFamily="34" charset="-120"/>
              </a:rPr>
              <a:t>Anchor contract</a:t>
            </a:r>
            <a:endParaRPr lang="en-US" sz="1400" dirty="0"/>
          </a:p>
        </p:txBody>
      </p:sp>
      <p:sp>
        <p:nvSpPr>
          <p:cNvPr id="18" name="Text 16"/>
          <p:cNvSpPr txBox="1"/>
          <p:nvPr/>
        </p:nvSpPr>
        <p:spPr>
          <a:xfrm>
            <a:off x="9509760" y="4023360"/>
            <a:ext cx="1856232" cy="502920"/>
          </a:xfrm>
          <a:prstGeom prst="rect">
            <a:avLst/>
          </a:prstGeom>
          <a:noFill/>
          <a:ln/>
        </p:spPr>
        <p:txBody>
          <a:bodyPr wrap="square" lIns="0" tIns="0" rIns="0" bIns="0" rtlCol="0" anchor="t"/>
          <a:lstStyle/>
          <a:p>
            <a:pPr algn="r" indent="0" marL="0">
              <a:buNone/>
            </a:pPr>
            <a:r>
              <a:rPr lang="en-US" sz="2200" dirty="0">
                <a:solidFill>
                  <a:srgbClr val="1C2631"/>
                </a:solidFill>
                <a:latin typeface="Georgia" pitchFamily="34" charset="0"/>
                <a:ea typeface="Georgia" pitchFamily="34" charset="-122"/>
                <a:cs typeface="Georgia" pitchFamily="34" charset="-120"/>
              </a:rPr>
              <a:t>20 years</a:t>
            </a:r>
            <a:endParaRPr lang="en-US" sz="2200" dirty="0"/>
          </a:p>
        </p:txBody>
      </p:sp>
      <p:sp>
        <p:nvSpPr>
          <p:cNvPr id="19" name="Shape 17"/>
          <p:cNvSpPr/>
          <p:nvPr/>
        </p:nvSpPr>
        <p:spPr>
          <a:xfrm>
            <a:off x="7406640" y="4736592"/>
            <a:ext cx="3959352" cy="0"/>
          </a:xfrm>
          <a:prstGeom prst="line">
            <a:avLst/>
          </a:prstGeom>
          <a:noFill/>
          <a:ln w="9525">
            <a:solidFill>
              <a:srgbClr val="C9D1CC"/>
            </a:solidFill>
            <a:prstDash val="solid"/>
          </a:ln>
        </p:spPr>
      </p:sp>
      <p:sp>
        <p:nvSpPr>
          <p:cNvPr id="20" name="Text 18"/>
          <p:cNvSpPr txBox="1"/>
          <p:nvPr/>
        </p:nvSpPr>
        <p:spPr>
          <a:xfrm>
            <a:off x="7406640" y="4892040"/>
            <a:ext cx="2194560" cy="457200"/>
          </a:xfrm>
          <a:prstGeom prst="rect">
            <a:avLst/>
          </a:prstGeom>
          <a:noFill/>
          <a:ln/>
        </p:spPr>
        <p:txBody>
          <a:bodyPr wrap="square" lIns="0" tIns="0" rIns="0" bIns="0" rtlCol="0" anchor="t"/>
          <a:lstStyle/>
          <a:p>
            <a:pPr indent="0" marL="0">
              <a:buNone/>
            </a:pPr>
            <a:r>
              <a:rPr lang="en-US" sz="1400" dirty="0">
                <a:solidFill>
                  <a:srgbClr val="56636F"/>
                </a:solidFill>
                <a:latin typeface="Arial" pitchFamily="34" charset="0"/>
                <a:ea typeface="Arial" pitchFamily="34" charset="-122"/>
                <a:cs typeface="Arial" pitchFamily="34" charset="-120"/>
              </a:rPr>
              <a:t>KGE hurdle rate</a:t>
            </a:r>
            <a:endParaRPr lang="en-US" sz="1400" dirty="0"/>
          </a:p>
        </p:txBody>
      </p:sp>
      <p:sp>
        <p:nvSpPr>
          <p:cNvPr id="21" name="Text 19"/>
          <p:cNvSpPr txBox="1"/>
          <p:nvPr/>
        </p:nvSpPr>
        <p:spPr>
          <a:xfrm>
            <a:off x="9509760" y="4846320"/>
            <a:ext cx="1856232" cy="502920"/>
          </a:xfrm>
          <a:prstGeom prst="rect">
            <a:avLst/>
          </a:prstGeom>
          <a:noFill/>
          <a:ln/>
        </p:spPr>
        <p:txBody>
          <a:bodyPr wrap="square" lIns="0" tIns="0" rIns="0" bIns="0" rtlCol="0" anchor="t"/>
          <a:lstStyle/>
          <a:p>
            <a:pPr algn="r" indent="0" marL="0">
              <a:buNone/>
            </a:pPr>
            <a:r>
              <a:rPr lang="en-US" sz="2200" dirty="0">
                <a:solidFill>
                  <a:srgbClr val="1C2631"/>
                </a:solidFill>
                <a:latin typeface="Georgia" pitchFamily="34" charset="0"/>
                <a:ea typeface="Georgia" pitchFamily="34" charset="-122"/>
                <a:cs typeface="Georgia" pitchFamily="34" charset="-120"/>
              </a:rPr>
              <a:t>10%</a:t>
            </a:r>
            <a:endParaRPr lang="en-US" sz="2200" dirty="0"/>
          </a:p>
        </p:txBody>
      </p:sp>
      <p:sp>
        <p:nvSpPr>
          <p:cNvPr id="25" name="Slide Number Placeholder 0"/>
          <p:cNvSpPr>
            <a:spLocks noGrp="1"/>
          </p:cNvSpPr>
          <p:nvPr>
            <p:ph type="sldNum" sz="quarter" idx="4294967295"/>
          </p:nvPr>
        </p:nvSpPr>
        <p:spPr>
          <a:xfrm>
            <a:off x="11274552" y="6355080"/>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49C"/>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2600" dirty="0">
                <a:solidFill>
                  <a:srgbClr val="1C2631"/>
                </a:solidFill>
                <a:latin typeface="Georgia" pitchFamily="34" charset="0"/>
                <a:ea typeface="Georgia" pitchFamily="34" charset="-122"/>
                <a:cs typeface="Georgia" pitchFamily="34" charset="-120"/>
              </a:rPr>
              <a:t>[Headline that names the winning option and the criterion it wins on]</a:t>
            </a:r>
            <a:endParaRPr lang="en-US" sz="2600" dirty="0"/>
          </a:p>
        </p:txBody>
      </p:sp>
      <p:graphicFrame>
        <p:nvGraphicFramePr>
          <p:cNvPr id="6" name="Options 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862072"/>
                <a:gridCol w="1645920"/>
                <a:gridCol w="1645920"/>
                <a:gridCol w="1645920"/>
                <a:gridCol w="1645920"/>
                <a:gridCol w="1645920"/>
              </a:tblGrid>
              <a:tr h="457200">
                <a:tc>
                  <a:txBody>
                    <a:bodyPr/>
                    <a:lstStyle/>
                    <a:p>
                      <a:pPr indent="0" marL="0">
                        <a:buNone/>
                      </a:pPr>
                      <a:r>
                        <a:rPr lang="en-US" sz="1200" b="1" dirty="0">
                          <a:solidFill>
                            <a:srgbClr val="56636F"/>
                          </a:solidFill>
                          <a:latin typeface="Arial" pitchFamily="34" charset="0"/>
                          <a:ea typeface="Arial" pitchFamily="34" charset="-122"/>
                          <a:cs typeface="Arial" pitchFamily="34" charset="-120"/>
                        </a:rPr>
                        <a:t>Option</a:t>
                      </a:r>
                      <a:endParaRPr lang="en-US" sz="12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19050" cap="flat" cmpd="sng" algn="ctr">
                      <a:solidFill>
                        <a:srgbClr val="1C2631"/>
                      </a:solidFill>
                      <a:prstDash val="solid"/>
                      <a:round/>
                      <a:headEnd type="none" w="med" len="med"/>
                      <a:tailEnd type="none" w="med" len="med"/>
                    </a:lnB>
                  </a:tcPr>
                </a:tc>
                <a:tc>
                  <a:txBody>
                    <a:bodyPr/>
                    <a:lstStyle/>
                    <a:p>
                      <a:pPr indent="0" marL="0">
                        <a:buNone/>
                      </a:pPr>
                      <a:r>
                        <a:rPr lang="en-US" sz="1200" b="1" dirty="0">
                          <a:solidFill>
                            <a:srgbClr val="56636F"/>
                          </a:solidFill>
                          <a:latin typeface="Arial" pitchFamily="34" charset="0"/>
                          <a:ea typeface="Arial" pitchFamily="34" charset="-122"/>
                          <a:cs typeface="Arial" pitchFamily="34" charset="-120"/>
                        </a:rPr>
                        <a:t>Cost</a:t>
                      </a:r>
                      <a:endParaRPr lang="en-US" sz="12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19050" cap="flat" cmpd="sng" algn="ctr">
                      <a:solidFill>
                        <a:srgbClr val="1C2631"/>
                      </a:solidFill>
                      <a:prstDash val="solid"/>
                      <a:round/>
                      <a:headEnd type="none" w="med" len="med"/>
                      <a:tailEnd type="none" w="med" len="med"/>
                    </a:lnB>
                  </a:tcPr>
                </a:tc>
                <a:tc>
                  <a:txBody>
                    <a:bodyPr/>
                    <a:lstStyle/>
                    <a:p>
                      <a:pPr indent="0" marL="0">
                        <a:buNone/>
                      </a:pPr>
                      <a:r>
                        <a:rPr lang="en-US" sz="1200" b="1" dirty="0">
                          <a:solidFill>
                            <a:srgbClr val="56636F"/>
                          </a:solidFill>
                          <a:latin typeface="Arial" pitchFamily="34" charset="0"/>
                          <a:ea typeface="Arial" pitchFamily="34" charset="-122"/>
                          <a:cs typeface="Arial" pitchFamily="34" charset="-120"/>
                        </a:rPr>
                        <a:t>Speed to power</a:t>
                      </a:r>
                      <a:endParaRPr lang="en-US" sz="12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19050" cap="flat" cmpd="sng" algn="ctr">
                      <a:solidFill>
                        <a:srgbClr val="1C2631"/>
                      </a:solidFill>
                      <a:prstDash val="solid"/>
                      <a:round/>
                      <a:headEnd type="none" w="med" len="med"/>
                      <a:tailEnd type="none" w="med" len="med"/>
                    </a:lnB>
                  </a:tcPr>
                </a:tc>
                <a:tc>
                  <a:txBody>
                    <a:bodyPr/>
                    <a:lstStyle/>
                    <a:p>
                      <a:pPr indent="0" marL="0">
                        <a:buNone/>
                      </a:pPr>
                      <a:r>
                        <a:rPr lang="en-US" sz="1200" b="1" dirty="0">
                          <a:solidFill>
                            <a:srgbClr val="56636F"/>
                          </a:solidFill>
                          <a:latin typeface="Arial" pitchFamily="34" charset="0"/>
                          <a:ea typeface="Arial" pitchFamily="34" charset="-122"/>
                          <a:cs typeface="Arial" pitchFamily="34" charset="-120"/>
                        </a:rPr>
                        <a:t>Risk</a:t>
                      </a:r>
                      <a:endParaRPr lang="en-US" sz="12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19050" cap="flat" cmpd="sng" algn="ctr">
                      <a:solidFill>
                        <a:srgbClr val="1C2631"/>
                      </a:solidFill>
                      <a:prstDash val="solid"/>
                      <a:round/>
                      <a:headEnd type="none" w="med" len="med"/>
                      <a:tailEnd type="none" w="med" len="med"/>
                    </a:lnB>
                  </a:tcPr>
                </a:tc>
                <a:tc>
                  <a:txBody>
                    <a:bodyPr/>
                    <a:lstStyle/>
                    <a:p>
                      <a:pPr indent="0" marL="0">
                        <a:buNone/>
                      </a:pPr>
                      <a:r>
                        <a:rPr lang="en-US" sz="1200" b="1" dirty="0">
                          <a:solidFill>
                            <a:srgbClr val="56636F"/>
                          </a:solidFill>
                          <a:latin typeface="Arial" pitchFamily="34" charset="0"/>
                          <a:ea typeface="Arial" pitchFamily="34" charset="-122"/>
                          <a:cs typeface="Arial" pitchFamily="34" charset="-120"/>
                        </a:rPr>
                        <a:t>Community</a:t>
                      </a:r>
                      <a:endParaRPr lang="en-US" sz="12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19050" cap="flat" cmpd="sng" algn="ctr">
                      <a:solidFill>
                        <a:srgbClr val="1C2631"/>
                      </a:solidFill>
                      <a:prstDash val="solid"/>
                      <a:round/>
                      <a:headEnd type="none" w="med" len="med"/>
                      <a:tailEnd type="none" w="med" len="med"/>
                    </a:lnB>
                  </a:tcPr>
                </a:tc>
                <a:tc>
                  <a:txBody>
                    <a:bodyPr/>
                    <a:lstStyle/>
                    <a:p>
                      <a:pPr indent="0" marL="0">
                        <a:buNone/>
                      </a:pPr>
                      <a:r>
                        <a:rPr lang="en-US" sz="1200" b="1" dirty="0">
                          <a:solidFill>
                            <a:srgbClr val="56636F"/>
                          </a:solidFill>
                          <a:latin typeface="Arial" pitchFamily="34" charset="0"/>
                          <a:ea typeface="Arial" pitchFamily="34" charset="-122"/>
                          <a:cs typeface="Arial" pitchFamily="34" charset="-120"/>
                        </a:rPr>
                        <a:t>Overall</a:t>
                      </a:r>
                      <a:endParaRPr lang="en-US" sz="12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19050" cap="flat" cmpd="sng" algn="ctr">
                      <a:solidFill>
                        <a:srgbClr val="1C2631"/>
                      </a:solidFill>
                      <a:prstDash val="solid"/>
                      <a:round/>
                      <a:headEnd type="none" w="med" len="med"/>
                      <a:tailEnd type="none" w="med" len="med"/>
                    </a:lnB>
                  </a:tcPr>
                </a:tc>
              </a:tr>
              <a:tr h="777240">
                <a:tc>
                  <a:txBody>
                    <a:bodyPr/>
                    <a:lstStyle/>
                    <a:p>
                      <a:pPr indent="0" marL="0">
                        <a:buNone/>
                      </a:pPr>
                      <a:r>
                        <a:rPr lang="en-US" sz="1300" b="1" dirty="0">
                          <a:solidFill>
                            <a:srgbClr val="1C2631"/>
                          </a:solidFill>
                          <a:latin typeface="Arial" pitchFamily="34" charset="0"/>
                          <a:ea typeface="Arial" pitchFamily="34" charset="-122"/>
                          <a:cs typeface="Arial" pitchFamily="34" charset="-120"/>
                        </a:rPr>
                        <a:t>[Option A]</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r>
              <a:tr h="777240">
                <a:tc>
                  <a:txBody>
                    <a:bodyPr/>
                    <a:lstStyle/>
                    <a:p>
                      <a:pPr indent="0" marL="0">
                        <a:buNone/>
                      </a:pPr>
                      <a:r>
                        <a:rPr lang="en-US" sz="1300" b="1" dirty="0">
                          <a:solidFill>
                            <a:srgbClr val="1C2631"/>
                          </a:solidFill>
                          <a:latin typeface="Arial" pitchFamily="34" charset="0"/>
                          <a:ea typeface="Arial" pitchFamily="34" charset="-122"/>
                          <a:cs typeface="Arial" pitchFamily="34" charset="-120"/>
                        </a:rPr>
                        <a:t>[Option B, recommended]</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solidFill>
                      <a:srgbClr val="DCE8E0"/>
                    </a:solidFill>
                  </a:tcPr>
                </a:tc>
                <a:tc>
                  <a:txBody>
                    <a:bodyPr/>
                    <a:lstStyle/>
                    <a:p>
                      <a:pPr indent="0" marL="0">
                        <a:buNone/>
                      </a:pPr>
                      <a:r>
                        <a:rPr lang="en-US" sz="1300" b="1"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solidFill>
                      <a:srgbClr val="DCE8E0"/>
                    </a:solidFill>
                  </a:tcPr>
                </a:tc>
                <a:tc>
                  <a:txBody>
                    <a:bodyPr/>
                    <a:lstStyle/>
                    <a:p>
                      <a:pPr indent="0" marL="0">
                        <a:buNone/>
                      </a:pPr>
                      <a:r>
                        <a:rPr lang="en-US" sz="1300" b="1"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solidFill>
                      <a:srgbClr val="DCE8E0"/>
                    </a:solidFill>
                  </a:tcPr>
                </a:tc>
                <a:tc>
                  <a:txBody>
                    <a:bodyPr/>
                    <a:lstStyle/>
                    <a:p>
                      <a:pPr indent="0" marL="0">
                        <a:buNone/>
                      </a:pPr>
                      <a:r>
                        <a:rPr lang="en-US" sz="1300" b="1"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solidFill>
                      <a:srgbClr val="DCE8E0"/>
                    </a:solidFill>
                  </a:tcPr>
                </a:tc>
                <a:tc>
                  <a:txBody>
                    <a:bodyPr/>
                    <a:lstStyle/>
                    <a:p>
                      <a:pPr indent="0" marL="0">
                        <a:buNone/>
                      </a:pPr>
                      <a:r>
                        <a:rPr lang="en-US" sz="1300" b="1"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solidFill>
                      <a:srgbClr val="DCE8E0"/>
                    </a:solidFill>
                  </a:tcPr>
                </a:tc>
                <a:tc>
                  <a:txBody>
                    <a:bodyPr/>
                    <a:lstStyle/>
                    <a:p>
                      <a:pPr indent="0" marL="0">
                        <a:buNone/>
                      </a:pPr>
                      <a:r>
                        <a:rPr lang="en-US" sz="1300" b="1"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solidFill>
                      <a:srgbClr val="DCE8E0"/>
                    </a:solidFill>
                  </a:tcPr>
                </a:tc>
              </a:tr>
              <a:tr h="777240">
                <a:tc>
                  <a:txBody>
                    <a:bodyPr/>
                    <a:lstStyle/>
                    <a:p>
                      <a:pPr indent="0" marL="0">
                        <a:buNone/>
                      </a:pPr>
                      <a:r>
                        <a:rPr lang="en-US" sz="1300" b="1" dirty="0">
                          <a:solidFill>
                            <a:srgbClr val="1C2631"/>
                          </a:solidFill>
                          <a:latin typeface="Arial" pitchFamily="34" charset="0"/>
                          <a:ea typeface="Arial" pitchFamily="34" charset="-122"/>
                          <a:cs typeface="Arial" pitchFamily="34" charset="-120"/>
                        </a:rPr>
                        <a:t>[Option C]</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r>
            </a:tbl>
          </a:graphicData>
        </a:graphic>
      </p:graphicFrame>
      <p:sp>
        <p:nvSpPr>
          <p:cNvPr id="4" name="Text 1"/>
          <p:cNvSpPr txBox="1"/>
          <p:nvPr/>
        </p:nvSpPr>
        <p:spPr>
          <a:xfrm>
            <a:off x="548640" y="5120640"/>
            <a:ext cx="5486400" cy="274320"/>
          </a:xfrm>
          <a:prstGeom prst="rect">
            <a:avLst/>
          </a:prstGeom>
          <a:noFill/>
          <a:ln/>
        </p:spPr>
        <p:txBody>
          <a:bodyPr wrap="square" lIns="0" tIns="0" rIns="0" bIns="0" rtlCol="0" anchor="t"/>
          <a:lstStyle/>
          <a:p>
            <a:pPr indent="0" marL="0">
              <a:buNone/>
            </a:pPr>
            <a:r>
              <a:rPr lang="en-US" sz="1100" dirty="0">
                <a:solidFill>
                  <a:srgbClr val="8A949C"/>
                </a:solidFill>
                <a:latin typeface="Arial" pitchFamily="34" charset="0"/>
                <a:ea typeface="Arial" pitchFamily="34" charset="-122"/>
                <a:cs typeface="Arial" pitchFamily="34" charset="-120"/>
              </a:rPr>
              <a:t>Shaded row marks the recommended option</a:t>
            </a:r>
            <a:endParaRPr lang="en-US" sz="1100" dirty="0"/>
          </a:p>
        </p:txBody>
      </p:sp>
      <p:sp>
        <p:nvSpPr>
          <p:cNvPr id="5" name="Source"/>
          <p:cNvSpPr txBox="1"/>
          <p:nvPr/>
        </p:nvSpPr>
        <p:spPr>
          <a:xfrm>
            <a:off x="548640" y="5989320"/>
            <a:ext cx="11091672" cy="256032"/>
          </a:xfrm>
          <a:prstGeom prst="rect">
            <a:avLst/>
          </a:prstGeom>
          <a:noFill/>
          <a:ln/>
        </p:spPr>
        <p:txBody>
          <a:bodyPr wrap="square" lIns="0" tIns="0" rIns="0" bIns="0" rtlCol="0" anchor="t"/>
          <a:lstStyle/>
          <a:p>
            <a:pPr indent="0" marL="0">
              <a:buNone/>
            </a:pPr>
            <a:r>
              <a:rPr lang="en-US" sz="900" dirty="0">
                <a:solidFill>
                  <a:srgbClr val="8A949C"/>
                </a:solidFill>
                <a:latin typeface="Arial" pitchFamily="34" charset="0"/>
                <a:ea typeface="Arial" pitchFamily="34" charset="-122"/>
                <a:cs typeface="Arial" pitchFamily="34" charset="-120"/>
              </a:rPr>
              <a:t>Source: [Case packet; team analysis]</a:t>
            </a:r>
            <a:endParaRPr lang="en-US" sz="900" dirty="0"/>
          </a:p>
        </p:txBody>
      </p:sp>
      <p:sp>
        <p:nvSpPr>
          <p:cNvPr id="25" name="Slide Number Placeholder 0"/>
          <p:cNvSpPr>
            <a:spLocks noGrp="1"/>
          </p:cNvSpPr>
          <p:nvPr>
            <p:ph type="sldNum" sz="quarter" idx="4294967295"/>
          </p:nvPr>
        </p:nvSpPr>
        <p:spPr>
          <a:xfrm>
            <a:off x="11274552" y="6355080"/>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49C"/>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2600" dirty="0">
                <a:solidFill>
                  <a:srgbClr val="1C2631"/>
                </a:solidFill>
                <a:latin typeface="Georgia" pitchFamily="34" charset="0"/>
                <a:ea typeface="Georgia" pitchFamily="34" charset="-122"/>
                <a:cs typeface="Georgia" pitchFamily="34" charset="-120"/>
              </a:rPr>
              <a:t>[Headline that says whether the project clears KGE's 10% hurdle]</a:t>
            </a:r>
            <a:endParaRPr lang="en-US" sz="2600" dirty="0"/>
          </a:p>
        </p:txBody>
      </p:sp>
      <p:graphicFrame>
        <p:nvGraphicFramePr>
          <p:cNvPr id="7" name="Returns table"/>
          <p:cNvGraphicFramePr>
            <a:graphicFrameLocks noGrp="1"/>
          </p:cNvGraphicFramePr>
          <p:nvPr>
            <p:extLst>
              <p:ext uri="{D42A27DB-BD31-4B8C-83A1-F6EECF244321}">
                <p14:modId xmlns:p14="http://schemas.microsoft.com/office/powerpoint/2010/main" val="1579011935"/>
              </p:ext>
            </p:extLst>
          </p:nvPr>
        </p:nvGraphicFramePr>
        <p:xfrm>
          <a:off x="548640" y="1691640"/>
          <a:ext cx="6766560" cy="914400"/>
        </p:xfrm>
        <a:graphic>
          <a:graphicData uri="http://schemas.openxmlformats.org/drawingml/2006/table">
            <a:tbl>
              <a:tblPr/>
              <a:tblGrid>
                <a:gridCol w="2743200"/>
                <a:gridCol w="2011680"/>
                <a:gridCol w="2011680"/>
              </a:tblGrid>
              <a:tr h="457200">
                <a:tc>
                  <a:txBody>
                    <a:bodyPr/>
                    <a:lstStyle/>
                    <a:p>
                      <a:pPr indent="0" marL="0">
                        <a:buNone/>
                      </a:pPr>
                      <a:r>
                        <a:rPr lang="en-US" sz="1200" b="1" dirty="0">
                          <a:solidFill>
                            <a:srgbClr val="56636F"/>
                          </a:solidFill>
                          <a:latin typeface="Arial" pitchFamily="34" charset="0"/>
                          <a:ea typeface="Arial" pitchFamily="34" charset="-122"/>
                          <a:cs typeface="Arial" pitchFamily="34" charset="-120"/>
                        </a:rPr>
                        <a:t>Metric</a:t>
                      </a:r>
                      <a:endParaRPr lang="en-US" sz="12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19050" cap="flat" cmpd="sng" algn="ctr">
                      <a:solidFill>
                        <a:srgbClr val="1C2631"/>
                      </a:solidFill>
                      <a:prstDash val="solid"/>
                      <a:round/>
                      <a:headEnd type="none" w="med" len="med"/>
                      <a:tailEnd type="none" w="med" len="med"/>
                    </a:lnB>
                  </a:tcPr>
                </a:tc>
                <a:tc>
                  <a:txBody>
                    <a:bodyPr/>
                    <a:lstStyle/>
                    <a:p>
                      <a:pPr indent="0" marL="0">
                        <a:buNone/>
                      </a:pPr>
                      <a:r>
                        <a:rPr lang="en-US" sz="1200" b="1" dirty="0">
                          <a:solidFill>
                            <a:srgbClr val="56636F"/>
                          </a:solidFill>
                          <a:latin typeface="Arial" pitchFamily="34" charset="0"/>
                          <a:ea typeface="Arial" pitchFamily="34" charset="-122"/>
                          <a:cs typeface="Arial" pitchFamily="34" charset="-120"/>
                        </a:rPr>
                        <a:t>Base plan</a:t>
                      </a:r>
                      <a:endParaRPr lang="en-US" sz="12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19050" cap="flat" cmpd="sng" algn="ctr">
                      <a:solidFill>
                        <a:srgbClr val="1C2631"/>
                      </a:solidFill>
                      <a:prstDash val="solid"/>
                      <a:round/>
                      <a:headEnd type="none" w="med" len="med"/>
                      <a:tailEnd type="none" w="med" len="med"/>
                    </a:lnB>
                  </a:tcPr>
                </a:tc>
                <a:tc>
                  <a:txBody>
                    <a:bodyPr/>
                    <a:lstStyle/>
                    <a:p>
                      <a:pPr indent="0" marL="0">
                        <a:buNone/>
                      </a:pPr>
                      <a:r>
                        <a:rPr lang="en-US" sz="1200" b="1" dirty="0">
                          <a:solidFill>
                            <a:srgbClr val="56636F"/>
                          </a:solidFill>
                          <a:latin typeface="Arial" pitchFamily="34" charset="0"/>
                          <a:ea typeface="Arial" pitchFamily="34" charset="-122"/>
                          <a:cs typeface="Arial" pitchFamily="34" charset="-120"/>
                        </a:rPr>
                        <a:t>Hybrid design</a:t>
                      </a:r>
                      <a:endParaRPr lang="en-US" sz="12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19050" cap="flat" cmpd="sng" algn="ctr">
                      <a:solidFill>
                        <a:srgbClr val="1C2631"/>
                      </a:solidFill>
                      <a:prstDash val="solid"/>
                      <a:round/>
                      <a:headEnd type="none" w="med" len="med"/>
                      <a:tailEnd type="none" w="med" len="med"/>
                    </a:lnB>
                  </a:tcPr>
                </a:tc>
              </a:tr>
              <a:tr h="658368">
                <a:tc>
                  <a:txBody>
                    <a:bodyPr/>
                    <a:lstStyle/>
                    <a:p>
                      <a:pPr indent="0" marL="0">
                        <a:buNone/>
                      </a:pPr>
                      <a:r>
                        <a:rPr lang="en-US" sz="1300" b="1" dirty="0">
                          <a:solidFill>
                            <a:srgbClr val="1C2631"/>
                          </a:solidFill>
                          <a:latin typeface="Arial" pitchFamily="34" charset="0"/>
                          <a:ea typeface="Arial" pitchFamily="34" charset="-122"/>
                          <a:cs typeface="Arial" pitchFamily="34" charset="-120"/>
                        </a:rPr>
                        <a:t>Upfront capital</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r>
              <a:tr h="658368">
                <a:tc>
                  <a:txBody>
                    <a:bodyPr/>
                    <a:lstStyle/>
                    <a:p>
                      <a:pPr indent="0" marL="0">
                        <a:buNone/>
                      </a:pPr>
                      <a:r>
                        <a:rPr lang="en-US" sz="1300" b="1" dirty="0">
                          <a:solidFill>
                            <a:srgbClr val="1C2631"/>
                          </a:solidFill>
                          <a:latin typeface="Arial" pitchFamily="34" charset="0"/>
                          <a:ea typeface="Arial" pitchFamily="34" charset="-122"/>
                          <a:cs typeface="Arial" pitchFamily="34" charset="-120"/>
                        </a:rPr>
                        <a:t>Project IRR</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r>
              <a:tr h="658368">
                <a:tc>
                  <a:txBody>
                    <a:bodyPr/>
                    <a:lstStyle/>
                    <a:p>
                      <a:pPr indent="0" marL="0">
                        <a:buNone/>
                      </a:pPr>
                      <a:r>
                        <a:rPr lang="en-US" sz="1300" b="1" dirty="0">
                          <a:solidFill>
                            <a:srgbClr val="1C2631"/>
                          </a:solidFill>
                          <a:latin typeface="Arial" pitchFamily="34" charset="0"/>
                          <a:ea typeface="Arial" pitchFamily="34" charset="-122"/>
                          <a:cs typeface="Arial" pitchFamily="34" charset="-120"/>
                        </a:rPr>
                        <a:t>NPV at 10%</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r>
              <a:tr h="658368">
                <a:tc>
                  <a:txBody>
                    <a:bodyPr/>
                    <a:lstStyle/>
                    <a:p>
                      <a:pPr indent="0" marL="0">
                        <a:buNone/>
                      </a:pPr>
                      <a:r>
                        <a:rPr lang="en-US" sz="1300" b="1" dirty="0">
                          <a:solidFill>
                            <a:srgbClr val="1C2631"/>
                          </a:solidFill>
                          <a:latin typeface="Arial" pitchFamily="34" charset="0"/>
                          <a:ea typeface="Arial" pitchFamily="34" charset="-122"/>
                          <a:cs typeface="Arial" pitchFamily="34" charset="-120"/>
                        </a:rPr>
                        <a:t>Payback</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years]</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years]</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r>
              <a:tr h="658368">
                <a:tc>
                  <a:txBody>
                    <a:bodyPr/>
                    <a:lstStyle/>
                    <a:p>
                      <a:pPr indent="0" marL="0">
                        <a:buNone/>
                      </a:pPr>
                      <a:r>
                        <a:rPr lang="en-US" sz="1300" b="1" dirty="0">
                          <a:solidFill>
                            <a:srgbClr val="1C2631"/>
                          </a:solidFill>
                          <a:latin typeface="Arial" pitchFamily="34" charset="0"/>
                          <a:ea typeface="Arial" pitchFamily="34" charset="-122"/>
                          <a:cs typeface="Arial" pitchFamily="34" charset="-120"/>
                        </a:rPr>
                        <a:t>First power</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[year]</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[year]</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r>
            </a:tbl>
          </a:graphicData>
        </a:graphic>
      </p:graphicFrame>
      <p:sp>
        <p:nvSpPr>
          <p:cNvPr id="4" name="Assumptions panel"/>
          <p:cNvSpPr/>
          <p:nvPr/>
        </p:nvSpPr>
        <p:spPr>
          <a:xfrm>
            <a:off x="7772400" y="1691640"/>
            <a:ext cx="3867912" cy="4114800"/>
          </a:xfrm>
          <a:prstGeom prst="rect">
            <a:avLst/>
          </a:prstGeom>
          <a:solidFill>
            <a:srgbClr val="EEF1EF"/>
          </a:solidFill>
          <a:ln/>
        </p:spPr>
      </p:sp>
      <p:sp>
        <p:nvSpPr>
          <p:cNvPr id="5" name="Text 2"/>
          <p:cNvSpPr txBox="1"/>
          <p:nvPr/>
        </p:nvSpPr>
        <p:spPr>
          <a:xfrm>
            <a:off x="8046720" y="1920240"/>
            <a:ext cx="3383280" cy="320040"/>
          </a:xfrm>
          <a:prstGeom prst="rect">
            <a:avLst/>
          </a:prstGeom>
          <a:noFill/>
          <a:ln/>
        </p:spPr>
        <p:txBody>
          <a:bodyPr wrap="square" lIns="0" tIns="0" rIns="0" bIns="0" rtlCol="0" anchor="t"/>
          <a:lstStyle/>
          <a:p>
            <a:pPr indent="0" marL="0">
              <a:buNone/>
            </a:pPr>
            <a:r>
              <a:rPr lang="en-US" sz="1300" b="1" dirty="0">
                <a:solidFill>
                  <a:srgbClr val="1F5A44"/>
                </a:solidFill>
                <a:latin typeface="Arial" pitchFamily="34" charset="0"/>
                <a:ea typeface="Arial" pitchFamily="34" charset="-122"/>
                <a:cs typeface="Arial" pitchFamily="34" charset="-120"/>
              </a:rPr>
              <a:t>Key assumptions</a:t>
            </a:r>
            <a:endParaRPr lang="en-US" sz="1300" dirty="0"/>
          </a:p>
        </p:txBody>
      </p:sp>
      <p:sp>
        <p:nvSpPr>
          <p:cNvPr id="6" name="Text 3"/>
          <p:cNvSpPr txBox="1"/>
          <p:nvPr/>
        </p:nvSpPr>
        <p:spPr>
          <a:xfrm>
            <a:off x="8046720" y="2377440"/>
            <a:ext cx="3383280" cy="31089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56636F"/>
                </a:solidFill>
                <a:latin typeface="Arial" pitchFamily="34" charset="0"/>
                <a:ea typeface="Arial" pitchFamily="34" charset="-122"/>
                <a:cs typeface="Arial" pitchFamily="34" charset="-120"/>
              </a:rPr>
              <a:t>[Revenue driver and price]</a:t>
            </a:r>
            <a:endParaRPr lang="en-US" sz="1400" dirty="0"/>
          </a:p>
          <a:p>
            <a:pPr marL="342900" indent="-342900">
              <a:spcAft>
                <a:spcPts val="1000"/>
              </a:spcAft>
              <a:buSzPct val="100000"/>
              <a:buChar char="•"/>
            </a:pPr>
            <a:r>
              <a:rPr lang="en-US" sz="1400" dirty="0">
                <a:solidFill>
                  <a:srgbClr val="56636F"/>
                </a:solidFill>
                <a:latin typeface="Arial" pitchFamily="34" charset="0"/>
                <a:ea typeface="Arial" pitchFamily="34" charset="-122"/>
                <a:cs typeface="Arial" pitchFamily="34" charset="-120"/>
              </a:rPr>
              <a:t>[Cost driver and source]</a:t>
            </a:r>
            <a:endParaRPr lang="en-US" sz="1400" dirty="0"/>
          </a:p>
          <a:p>
            <a:pPr marL="342900" indent="-342900">
              <a:spcAft>
                <a:spcPts val="1000"/>
              </a:spcAft>
              <a:buSzPct val="100000"/>
              <a:buChar char="•"/>
            </a:pPr>
            <a:r>
              <a:rPr lang="en-US" sz="1400" dirty="0">
                <a:solidFill>
                  <a:srgbClr val="56636F"/>
                </a:solidFill>
                <a:latin typeface="Arial" pitchFamily="34" charset="0"/>
                <a:ea typeface="Arial" pitchFamily="34" charset="-122"/>
                <a:cs typeface="Arial" pitchFamily="34" charset="-120"/>
              </a:rPr>
              <a:t>[Discount rate and term]</a:t>
            </a:r>
            <a:endParaRPr lang="en-US" sz="1400" dirty="0"/>
          </a:p>
          <a:p>
            <a:pPr marL="342900" indent="-342900">
              <a:spcAft>
                <a:spcPts val="1000"/>
              </a:spcAft>
              <a:buSzPct val="100000"/>
              <a:buChar char="•"/>
            </a:pPr>
            <a:r>
              <a:rPr lang="en-US" sz="1400" dirty="0">
                <a:solidFill>
                  <a:srgbClr val="56636F"/>
                </a:solidFill>
                <a:latin typeface="Arial" pitchFamily="34" charset="0"/>
                <a:ea typeface="Arial" pitchFamily="34" charset="-122"/>
                <a:cs typeface="Arial" pitchFamily="34" charset="-120"/>
              </a:rPr>
              <a:t>[What would flip the answer]</a:t>
            </a:r>
            <a:endParaRPr lang="en-US" sz="1400" dirty="0"/>
          </a:p>
        </p:txBody>
      </p:sp>
      <p:sp>
        <p:nvSpPr>
          <p:cNvPr id="7" name="Source"/>
          <p:cNvSpPr txBox="1"/>
          <p:nvPr/>
        </p:nvSpPr>
        <p:spPr>
          <a:xfrm>
            <a:off x="548640" y="5989320"/>
            <a:ext cx="11091672" cy="256032"/>
          </a:xfrm>
          <a:prstGeom prst="rect">
            <a:avLst/>
          </a:prstGeom>
          <a:noFill/>
          <a:ln/>
        </p:spPr>
        <p:txBody>
          <a:bodyPr wrap="square" lIns="0" tIns="0" rIns="0" bIns="0" rtlCol="0" anchor="t"/>
          <a:lstStyle/>
          <a:p>
            <a:pPr indent="0" marL="0">
              <a:buNone/>
            </a:pPr>
            <a:r>
              <a:rPr lang="en-US" sz="900" dirty="0">
                <a:solidFill>
                  <a:srgbClr val="8A949C"/>
                </a:solidFill>
                <a:latin typeface="Arial" pitchFamily="34" charset="0"/>
                <a:ea typeface="Arial" pitchFamily="34" charset="-122"/>
                <a:cs typeface="Arial" pitchFamily="34" charset="-120"/>
              </a:rPr>
              <a:t>Source: [Team model; case exhibits]</a:t>
            </a:r>
            <a:endParaRPr lang="en-US" sz="900" dirty="0"/>
          </a:p>
        </p:txBody>
      </p:sp>
      <p:sp>
        <p:nvSpPr>
          <p:cNvPr id="25" name="Slide Number Placeholder 0"/>
          <p:cNvSpPr>
            <a:spLocks noGrp="1"/>
          </p:cNvSpPr>
          <p:nvPr>
            <p:ph type="sldNum" sz="quarter" idx="4294967295"/>
          </p:nvPr>
        </p:nvSpPr>
        <p:spPr>
          <a:xfrm>
            <a:off x="11274552" y="6355080"/>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49C"/>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2600" dirty="0">
                <a:solidFill>
                  <a:srgbClr val="1C2631"/>
                </a:solidFill>
                <a:latin typeface="Georgia" pitchFamily="34" charset="0"/>
                <a:ea typeface="Georgia" pitchFamily="34" charset="-122"/>
                <a:cs typeface="Georgia" pitchFamily="34" charset="-120"/>
              </a:rPr>
              <a:t>Onsite gas costs least per MWh, while only clean contracts and the hybrid meet the 2035 clean step</a:t>
            </a:r>
            <a:endParaRPr lang="en-US" sz="2600" dirty="0"/>
          </a:p>
        </p:txBody>
      </p:sp>
      <p:sp>
        <p:nvSpPr>
          <p:cNvPr id="3" name="Chart title"/>
          <p:cNvSpPr txBox="1"/>
          <p:nvPr/>
        </p:nvSpPr>
        <p:spPr>
          <a:xfrm>
            <a:off x="548640" y="1645920"/>
            <a:ext cx="7223760" cy="320040"/>
          </a:xfrm>
          <a:prstGeom prst="rect">
            <a:avLst/>
          </a:prstGeom>
          <a:noFill/>
          <a:ln/>
        </p:spPr>
        <p:txBody>
          <a:bodyPr wrap="square" lIns="0" tIns="0" rIns="0" bIns="0" rtlCol="0" anchor="t"/>
          <a:lstStyle/>
          <a:p>
            <a:pPr indent="0" marL="0">
              <a:buNone/>
            </a:pPr>
            <a:r>
              <a:rPr lang="en-US" sz="1200" dirty="0">
                <a:solidFill>
                  <a:srgbClr val="56636F"/>
                </a:solidFill>
                <a:latin typeface="Arial" pitchFamily="34" charset="0"/>
                <a:ea typeface="Arial" pitchFamily="34" charset="-122"/>
                <a:cs typeface="Arial" pitchFamily="34" charset="-120"/>
              </a:rPr>
              <a:t>Phase 1 energy cost, $ per MWh</a:t>
            </a:r>
            <a:endParaRPr lang="en-US" sz="1200" dirty="0"/>
          </a:p>
        </p:txBody>
      </p:sp>
      <p:sp>
        <p:nvSpPr>
          <p:cNvPr id="4" name="Bar Grid only"/>
          <p:cNvSpPr/>
          <p:nvPr/>
        </p:nvSpPr>
        <p:spPr>
          <a:xfrm>
            <a:off x="777240" y="2884546"/>
            <a:ext cx="960120" cy="2373254"/>
          </a:xfrm>
          <a:prstGeom prst="rect">
            <a:avLst/>
          </a:prstGeom>
          <a:solidFill>
            <a:srgbClr val="8A949C"/>
          </a:solidFill>
          <a:ln/>
        </p:spPr>
      </p:sp>
      <p:sp>
        <p:nvSpPr>
          <p:cNvPr id="5" name="Text 3"/>
          <p:cNvSpPr txBox="1"/>
          <p:nvPr/>
        </p:nvSpPr>
        <p:spPr>
          <a:xfrm>
            <a:off x="594360" y="2537074"/>
            <a:ext cx="1325880" cy="292608"/>
          </a:xfrm>
          <a:prstGeom prst="rect">
            <a:avLst/>
          </a:prstGeom>
          <a:noFill/>
          <a:ln/>
        </p:spPr>
        <p:txBody>
          <a:bodyPr wrap="square" lIns="0" tIns="0" rIns="0" bIns="0" rtlCol="0" anchor="t"/>
          <a:lstStyle/>
          <a:p>
            <a:pPr algn="ctr" indent="0" marL="0">
              <a:buNone/>
            </a:pPr>
            <a:r>
              <a:rPr lang="en-US" sz="1300" b="1" dirty="0">
                <a:solidFill>
                  <a:srgbClr val="1C2631"/>
                </a:solidFill>
                <a:latin typeface="Arial" pitchFamily="34" charset="0"/>
                <a:ea typeface="Arial" pitchFamily="34" charset="-122"/>
                <a:cs typeface="Arial" pitchFamily="34" charset="-120"/>
              </a:rPr>
              <a:t>$93.6</a:t>
            </a:r>
            <a:endParaRPr lang="en-US" sz="1300" dirty="0"/>
          </a:p>
        </p:txBody>
      </p:sp>
      <p:sp>
        <p:nvSpPr>
          <p:cNvPr id="6" name="Text 4"/>
          <p:cNvSpPr txBox="1"/>
          <p:nvPr/>
        </p:nvSpPr>
        <p:spPr>
          <a:xfrm>
            <a:off x="548640" y="5349240"/>
            <a:ext cx="1417320" cy="502920"/>
          </a:xfrm>
          <a:prstGeom prst="rect">
            <a:avLst/>
          </a:prstGeom>
          <a:noFill/>
          <a:ln/>
        </p:spPr>
        <p:txBody>
          <a:bodyPr wrap="square" lIns="0" tIns="0" rIns="0" bIns="0" rtlCol="0" anchor="t"/>
          <a:lstStyle/>
          <a:p>
            <a:pPr algn="ctr" indent="0" marL="0">
              <a:buNone/>
            </a:pPr>
            <a:r>
              <a:rPr lang="en-US" sz="1100" dirty="0">
                <a:solidFill>
                  <a:srgbClr val="56636F"/>
                </a:solidFill>
                <a:latin typeface="Arial" pitchFamily="34" charset="0"/>
                <a:ea typeface="Arial" pitchFamily="34" charset="-122"/>
                <a:cs typeface="Arial" pitchFamily="34" charset="-120"/>
              </a:rPr>
              <a:t>Grid only</a:t>
            </a:r>
            <a:endParaRPr lang="en-US" sz="1100" dirty="0"/>
          </a:p>
        </p:txBody>
      </p:sp>
      <p:sp>
        <p:nvSpPr>
          <p:cNvPr id="7" name="Bar Onsite gas"/>
          <p:cNvSpPr/>
          <p:nvPr/>
        </p:nvSpPr>
        <p:spPr>
          <a:xfrm>
            <a:off x="2194560" y="3556461"/>
            <a:ext cx="960120" cy="1701339"/>
          </a:xfrm>
          <a:prstGeom prst="rect">
            <a:avLst/>
          </a:prstGeom>
          <a:solidFill>
            <a:srgbClr val="8A949C"/>
          </a:solidFill>
          <a:ln/>
        </p:spPr>
      </p:sp>
      <p:sp>
        <p:nvSpPr>
          <p:cNvPr id="8" name="Text 6"/>
          <p:cNvSpPr txBox="1"/>
          <p:nvPr/>
        </p:nvSpPr>
        <p:spPr>
          <a:xfrm>
            <a:off x="2011680" y="3208989"/>
            <a:ext cx="1325880" cy="292608"/>
          </a:xfrm>
          <a:prstGeom prst="rect">
            <a:avLst/>
          </a:prstGeom>
          <a:noFill/>
          <a:ln/>
        </p:spPr>
        <p:txBody>
          <a:bodyPr wrap="square" lIns="0" tIns="0" rIns="0" bIns="0" rtlCol="0" anchor="t"/>
          <a:lstStyle/>
          <a:p>
            <a:pPr algn="ctr" indent="0" marL="0">
              <a:buNone/>
            </a:pPr>
            <a:r>
              <a:rPr lang="en-US" sz="1300" b="1" dirty="0">
                <a:solidFill>
                  <a:srgbClr val="1C2631"/>
                </a:solidFill>
                <a:latin typeface="Arial" pitchFamily="34" charset="0"/>
                <a:ea typeface="Arial" pitchFamily="34" charset="-122"/>
                <a:cs typeface="Arial" pitchFamily="34" charset="-120"/>
              </a:rPr>
              <a:t>$67.1</a:t>
            </a:r>
            <a:endParaRPr lang="en-US" sz="1300" dirty="0"/>
          </a:p>
        </p:txBody>
      </p:sp>
      <p:sp>
        <p:nvSpPr>
          <p:cNvPr id="9" name="Text 7"/>
          <p:cNvSpPr txBox="1"/>
          <p:nvPr/>
        </p:nvSpPr>
        <p:spPr>
          <a:xfrm>
            <a:off x="1965960" y="5349240"/>
            <a:ext cx="1417320" cy="502920"/>
          </a:xfrm>
          <a:prstGeom prst="rect">
            <a:avLst/>
          </a:prstGeom>
          <a:noFill/>
          <a:ln/>
        </p:spPr>
        <p:txBody>
          <a:bodyPr wrap="square" lIns="0" tIns="0" rIns="0" bIns="0" rtlCol="0" anchor="t"/>
          <a:lstStyle/>
          <a:p>
            <a:pPr algn="ctr" indent="0" marL="0">
              <a:buNone/>
            </a:pPr>
            <a:r>
              <a:rPr lang="en-US" sz="1100" dirty="0">
                <a:solidFill>
                  <a:srgbClr val="56636F"/>
                </a:solidFill>
                <a:latin typeface="Arial" pitchFamily="34" charset="0"/>
                <a:ea typeface="Arial" pitchFamily="34" charset="-122"/>
                <a:cs typeface="Arial" pitchFamily="34" charset="-120"/>
              </a:rPr>
              <a:t>Onsite gas</a:t>
            </a:r>
            <a:endParaRPr lang="en-US" sz="1100" dirty="0"/>
          </a:p>
        </p:txBody>
      </p:sp>
      <p:sp>
        <p:nvSpPr>
          <p:cNvPr id="10" name="Bar Grid + clean contracts"/>
          <p:cNvSpPr/>
          <p:nvPr/>
        </p:nvSpPr>
        <p:spPr>
          <a:xfrm>
            <a:off x="3611880" y="2638599"/>
            <a:ext cx="960120" cy="2619201"/>
          </a:xfrm>
          <a:prstGeom prst="rect">
            <a:avLst/>
          </a:prstGeom>
          <a:solidFill>
            <a:srgbClr val="1F5A44"/>
          </a:solidFill>
          <a:ln/>
        </p:spPr>
      </p:sp>
      <p:sp>
        <p:nvSpPr>
          <p:cNvPr id="11" name="Text 9"/>
          <p:cNvSpPr txBox="1"/>
          <p:nvPr/>
        </p:nvSpPr>
        <p:spPr>
          <a:xfrm>
            <a:off x="3429000" y="2291127"/>
            <a:ext cx="1325880" cy="292608"/>
          </a:xfrm>
          <a:prstGeom prst="rect">
            <a:avLst/>
          </a:prstGeom>
          <a:noFill/>
          <a:ln/>
        </p:spPr>
        <p:txBody>
          <a:bodyPr wrap="square" lIns="0" tIns="0" rIns="0" bIns="0" rtlCol="0" anchor="t"/>
          <a:lstStyle/>
          <a:p>
            <a:pPr algn="ctr" indent="0" marL="0">
              <a:buNone/>
            </a:pPr>
            <a:r>
              <a:rPr lang="en-US" sz="1300" b="1" dirty="0">
                <a:solidFill>
                  <a:srgbClr val="1C2631"/>
                </a:solidFill>
                <a:latin typeface="Arial" pitchFamily="34" charset="0"/>
                <a:ea typeface="Arial" pitchFamily="34" charset="-122"/>
                <a:cs typeface="Arial" pitchFamily="34" charset="-120"/>
              </a:rPr>
              <a:t>$103.3</a:t>
            </a:r>
            <a:endParaRPr lang="en-US" sz="1300" dirty="0"/>
          </a:p>
        </p:txBody>
      </p:sp>
      <p:sp>
        <p:nvSpPr>
          <p:cNvPr id="12" name="Text 10"/>
          <p:cNvSpPr txBox="1"/>
          <p:nvPr/>
        </p:nvSpPr>
        <p:spPr>
          <a:xfrm>
            <a:off x="3383280" y="5349240"/>
            <a:ext cx="1417320" cy="502920"/>
          </a:xfrm>
          <a:prstGeom prst="rect">
            <a:avLst/>
          </a:prstGeom>
          <a:noFill/>
          <a:ln/>
        </p:spPr>
        <p:txBody>
          <a:bodyPr wrap="square" lIns="0" tIns="0" rIns="0" bIns="0" rtlCol="0" anchor="t"/>
          <a:lstStyle/>
          <a:p>
            <a:pPr algn="ctr" indent="0" marL="0">
              <a:buNone/>
            </a:pPr>
            <a:r>
              <a:rPr lang="en-US" sz="1100" dirty="0">
                <a:solidFill>
                  <a:srgbClr val="56636F"/>
                </a:solidFill>
                <a:latin typeface="Arial" pitchFamily="34" charset="0"/>
                <a:ea typeface="Arial" pitchFamily="34" charset="-122"/>
                <a:cs typeface="Arial" pitchFamily="34" charset="-120"/>
              </a:rPr>
              <a:t>Grid + clean contracts</a:t>
            </a:r>
            <a:endParaRPr lang="en-US" sz="1100" dirty="0"/>
          </a:p>
        </p:txBody>
      </p:sp>
      <p:sp>
        <p:nvSpPr>
          <p:cNvPr id="13" name="Bar Grid + battery"/>
          <p:cNvSpPr/>
          <p:nvPr/>
        </p:nvSpPr>
        <p:spPr>
          <a:xfrm>
            <a:off x="5029200" y="2623386"/>
            <a:ext cx="960120" cy="2634414"/>
          </a:xfrm>
          <a:prstGeom prst="rect">
            <a:avLst/>
          </a:prstGeom>
          <a:solidFill>
            <a:srgbClr val="8A949C"/>
          </a:solidFill>
          <a:ln/>
        </p:spPr>
      </p:sp>
      <p:sp>
        <p:nvSpPr>
          <p:cNvPr id="14" name="Text 12"/>
          <p:cNvSpPr txBox="1"/>
          <p:nvPr/>
        </p:nvSpPr>
        <p:spPr>
          <a:xfrm>
            <a:off x="4846320" y="2275914"/>
            <a:ext cx="1325880" cy="292608"/>
          </a:xfrm>
          <a:prstGeom prst="rect">
            <a:avLst/>
          </a:prstGeom>
          <a:noFill/>
          <a:ln/>
        </p:spPr>
        <p:txBody>
          <a:bodyPr wrap="square" lIns="0" tIns="0" rIns="0" bIns="0" rtlCol="0" anchor="t"/>
          <a:lstStyle/>
          <a:p>
            <a:pPr algn="ctr" indent="0" marL="0">
              <a:buNone/>
            </a:pPr>
            <a:r>
              <a:rPr lang="en-US" sz="1300" b="1" dirty="0">
                <a:solidFill>
                  <a:srgbClr val="1C2631"/>
                </a:solidFill>
                <a:latin typeface="Arial" pitchFamily="34" charset="0"/>
                <a:ea typeface="Arial" pitchFamily="34" charset="-122"/>
                <a:cs typeface="Arial" pitchFamily="34" charset="-120"/>
              </a:rPr>
              <a:t>$103.9</a:t>
            </a:r>
            <a:endParaRPr lang="en-US" sz="1300" dirty="0"/>
          </a:p>
        </p:txBody>
      </p:sp>
      <p:sp>
        <p:nvSpPr>
          <p:cNvPr id="15" name="Text 13"/>
          <p:cNvSpPr txBox="1"/>
          <p:nvPr/>
        </p:nvSpPr>
        <p:spPr>
          <a:xfrm>
            <a:off x="4800600" y="5349240"/>
            <a:ext cx="1417320" cy="502920"/>
          </a:xfrm>
          <a:prstGeom prst="rect">
            <a:avLst/>
          </a:prstGeom>
          <a:noFill/>
          <a:ln/>
        </p:spPr>
        <p:txBody>
          <a:bodyPr wrap="square" lIns="0" tIns="0" rIns="0" bIns="0" rtlCol="0" anchor="t"/>
          <a:lstStyle/>
          <a:p>
            <a:pPr algn="ctr" indent="0" marL="0">
              <a:buNone/>
            </a:pPr>
            <a:r>
              <a:rPr lang="en-US" sz="1100" dirty="0">
                <a:solidFill>
                  <a:srgbClr val="56636F"/>
                </a:solidFill>
                <a:latin typeface="Arial" pitchFamily="34" charset="0"/>
                <a:ea typeface="Arial" pitchFamily="34" charset="-122"/>
                <a:cs typeface="Arial" pitchFamily="34" charset="-120"/>
              </a:rPr>
              <a:t>Grid + battery</a:t>
            </a:r>
            <a:endParaRPr lang="en-US" sz="1100" dirty="0"/>
          </a:p>
        </p:txBody>
      </p:sp>
      <p:sp>
        <p:nvSpPr>
          <p:cNvPr id="16" name="Bar Hybrid"/>
          <p:cNvSpPr/>
          <p:nvPr/>
        </p:nvSpPr>
        <p:spPr>
          <a:xfrm>
            <a:off x="6446520" y="2377440"/>
            <a:ext cx="960120" cy="2880360"/>
          </a:xfrm>
          <a:prstGeom prst="rect">
            <a:avLst/>
          </a:prstGeom>
          <a:solidFill>
            <a:srgbClr val="1F5A44"/>
          </a:solidFill>
          <a:ln/>
        </p:spPr>
      </p:sp>
      <p:sp>
        <p:nvSpPr>
          <p:cNvPr id="17" name="Text 15"/>
          <p:cNvSpPr txBox="1"/>
          <p:nvPr/>
        </p:nvSpPr>
        <p:spPr>
          <a:xfrm>
            <a:off x="6263640" y="2029968"/>
            <a:ext cx="1325880" cy="292608"/>
          </a:xfrm>
          <a:prstGeom prst="rect">
            <a:avLst/>
          </a:prstGeom>
          <a:noFill/>
          <a:ln/>
        </p:spPr>
        <p:txBody>
          <a:bodyPr wrap="square" lIns="0" tIns="0" rIns="0" bIns="0" rtlCol="0" anchor="t"/>
          <a:lstStyle/>
          <a:p>
            <a:pPr algn="ctr" indent="0" marL="0">
              <a:buNone/>
            </a:pPr>
            <a:r>
              <a:rPr lang="en-US" sz="1300" b="1" dirty="0">
                <a:solidFill>
                  <a:srgbClr val="1C2631"/>
                </a:solidFill>
                <a:latin typeface="Arial" pitchFamily="34" charset="0"/>
                <a:ea typeface="Arial" pitchFamily="34" charset="-122"/>
                <a:cs typeface="Arial" pitchFamily="34" charset="-120"/>
              </a:rPr>
              <a:t>$113.6</a:t>
            </a:r>
            <a:endParaRPr lang="en-US" sz="1300" dirty="0"/>
          </a:p>
        </p:txBody>
      </p:sp>
      <p:sp>
        <p:nvSpPr>
          <p:cNvPr id="18" name="Text 16"/>
          <p:cNvSpPr txBox="1"/>
          <p:nvPr/>
        </p:nvSpPr>
        <p:spPr>
          <a:xfrm>
            <a:off x="6217920" y="5349240"/>
            <a:ext cx="1417320" cy="502920"/>
          </a:xfrm>
          <a:prstGeom prst="rect">
            <a:avLst/>
          </a:prstGeom>
          <a:noFill/>
          <a:ln/>
        </p:spPr>
        <p:txBody>
          <a:bodyPr wrap="square" lIns="0" tIns="0" rIns="0" bIns="0" rtlCol="0" anchor="t"/>
          <a:lstStyle/>
          <a:p>
            <a:pPr algn="ctr" indent="0" marL="0">
              <a:buNone/>
            </a:pPr>
            <a:r>
              <a:rPr lang="en-US" sz="1100" dirty="0">
                <a:solidFill>
                  <a:srgbClr val="56636F"/>
                </a:solidFill>
                <a:latin typeface="Arial" pitchFamily="34" charset="0"/>
                <a:ea typeface="Arial" pitchFamily="34" charset="-122"/>
                <a:cs typeface="Arial" pitchFamily="34" charset="-120"/>
              </a:rPr>
              <a:t>Hybrid</a:t>
            </a:r>
            <a:endParaRPr lang="en-US" sz="1100" dirty="0"/>
          </a:p>
        </p:txBody>
      </p:sp>
      <p:sp>
        <p:nvSpPr>
          <p:cNvPr id="19" name="Shape 17"/>
          <p:cNvSpPr/>
          <p:nvPr/>
        </p:nvSpPr>
        <p:spPr>
          <a:xfrm>
            <a:off x="548640" y="5257800"/>
            <a:ext cx="7223760" cy="0"/>
          </a:xfrm>
          <a:prstGeom prst="line">
            <a:avLst/>
          </a:prstGeom>
          <a:noFill/>
          <a:ln w="12700">
            <a:solidFill>
              <a:srgbClr val="B8C0C6"/>
            </a:solidFill>
            <a:prstDash val="solid"/>
          </a:ln>
        </p:spPr>
      </p:sp>
      <p:sp>
        <p:nvSpPr>
          <p:cNvPr id="20" name="Takeaway panel"/>
          <p:cNvSpPr/>
          <p:nvPr/>
        </p:nvSpPr>
        <p:spPr>
          <a:xfrm>
            <a:off x="8138160" y="1600200"/>
            <a:ext cx="3502152" cy="4251960"/>
          </a:xfrm>
          <a:prstGeom prst="rect">
            <a:avLst/>
          </a:prstGeom>
          <a:solidFill>
            <a:srgbClr val="EEF1EF"/>
          </a:solidFill>
          <a:ln/>
        </p:spPr>
      </p:sp>
      <p:sp>
        <p:nvSpPr>
          <p:cNvPr id="21" name="Text 19"/>
          <p:cNvSpPr txBox="1"/>
          <p:nvPr/>
        </p:nvSpPr>
        <p:spPr>
          <a:xfrm>
            <a:off x="8412480" y="1828800"/>
            <a:ext cx="3017520" cy="320040"/>
          </a:xfrm>
          <a:prstGeom prst="rect">
            <a:avLst/>
          </a:prstGeom>
          <a:noFill/>
          <a:ln/>
        </p:spPr>
        <p:txBody>
          <a:bodyPr wrap="square" lIns="0" tIns="0" rIns="0" bIns="0" rtlCol="0" anchor="t"/>
          <a:lstStyle/>
          <a:p>
            <a:pPr indent="0" marL="0">
              <a:buNone/>
            </a:pPr>
            <a:r>
              <a:rPr lang="en-US" sz="1300" b="1" dirty="0">
                <a:solidFill>
                  <a:srgbClr val="1F5A44"/>
                </a:solidFill>
                <a:latin typeface="Arial" pitchFamily="34" charset="0"/>
                <a:ea typeface="Arial" pitchFamily="34" charset="-122"/>
                <a:cs typeface="Arial" pitchFamily="34" charset="-120"/>
              </a:rPr>
              <a:t>What this means</a:t>
            </a:r>
            <a:endParaRPr lang="en-US" sz="1300" dirty="0"/>
          </a:p>
        </p:txBody>
      </p:sp>
      <p:sp>
        <p:nvSpPr>
          <p:cNvPr id="22" name="Text 20"/>
          <p:cNvSpPr txBox="1"/>
          <p:nvPr/>
        </p:nvSpPr>
        <p:spPr>
          <a:xfrm>
            <a:off x="8412480" y="2286000"/>
            <a:ext cx="3017520" cy="33832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56636F"/>
                </a:solidFill>
                <a:latin typeface="Arial" pitchFamily="34" charset="0"/>
                <a:ea typeface="Arial" pitchFamily="34" charset="-122"/>
                <a:cs typeface="Arial" pitchFamily="34" charset="-120"/>
              </a:rPr>
              <a:t>Green bars meet the 2035 clean firm step</a:t>
            </a:r>
            <a:endParaRPr lang="en-US" sz="1400" dirty="0"/>
          </a:p>
          <a:p>
            <a:pPr marL="342900" indent="-342900">
              <a:spcAft>
                <a:spcPts val="1000"/>
              </a:spcAft>
              <a:buSzPct val="100000"/>
              <a:buChar char="•"/>
            </a:pPr>
            <a:r>
              <a:rPr lang="en-US" sz="1400" dirty="0">
                <a:solidFill>
                  <a:srgbClr val="56636F"/>
                </a:solidFill>
                <a:latin typeface="Arial" pitchFamily="34" charset="0"/>
                <a:ea typeface="Arial" pitchFamily="34" charset="-122"/>
                <a:cs typeface="Arial" pitchFamily="34" charset="-120"/>
              </a:rPr>
              <a:t>Gas emits 62% more CO2 than the grid</a:t>
            </a:r>
            <a:endParaRPr lang="en-US" sz="1400" dirty="0"/>
          </a:p>
          <a:p>
            <a:pPr marL="342900" indent="-342900">
              <a:spcAft>
                <a:spcPts val="1000"/>
              </a:spcAft>
              <a:buSzPct val="100000"/>
              <a:buChar char="•"/>
            </a:pPr>
            <a:r>
              <a:rPr lang="en-US" sz="1400" dirty="0">
                <a:solidFill>
                  <a:srgbClr val="56636F"/>
                </a:solidFill>
                <a:latin typeface="Arial" pitchFamily="34" charset="0"/>
                <a:ea typeface="Arial" pitchFamily="34" charset="-122"/>
                <a:cs typeface="Arial" pitchFamily="34" charset="-120"/>
              </a:rPr>
              <a:t>Gas rises to $112 at the 2024 PA industrial gas price</a:t>
            </a:r>
            <a:endParaRPr lang="en-US" sz="1400" dirty="0"/>
          </a:p>
          <a:p>
            <a:pPr marL="342900" indent="-342900">
              <a:spcAft>
                <a:spcPts val="1000"/>
              </a:spcAft>
              <a:buSzPct val="100000"/>
              <a:buChar char="•"/>
            </a:pPr>
            <a:r>
              <a:rPr lang="en-US" sz="1400" dirty="0">
                <a:solidFill>
                  <a:srgbClr val="56636F"/>
                </a:solidFill>
                <a:latin typeface="Arial" pitchFamily="34" charset="0"/>
                <a:ea typeface="Arial" pitchFamily="34" charset="-122"/>
                <a:cs typeface="Arial" pitchFamily="34" charset="-120"/>
              </a:rPr>
              <a:t>Hybrid runs about 21% above grid only</a:t>
            </a:r>
            <a:endParaRPr lang="en-US" sz="1400" dirty="0"/>
          </a:p>
        </p:txBody>
      </p:sp>
      <p:sp>
        <p:nvSpPr>
          <p:cNvPr id="23" name="Source"/>
          <p:cNvSpPr txBox="1"/>
          <p:nvPr/>
        </p:nvSpPr>
        <p:spPr>
          <a:xfrm>
            <a:off x="548640" y="5989320"/>
            <a:ext cx="11091672" cy="256032"/>
          </a:xfrm>
          <a:prstGeom prst="rect">
            <a:avLst/>
          </a:prstGeom>
          <a:noFill/>
          <a:ln/>
        </p:spPr>
        <p:txBody>
          <a:bodyPr wrap="square" lIns="0" tIns="0" rIns="0" bIns="0" rtlCol="0" anchor="t"/>
          <a:lstStyle/>
          <a:p>
            <a:pPr indent="0" marL="0">
              <a:buNone/>
            </a:pPr>
            <a:r>
              <a:rPr lang="en-US" sz="900" dirty="0">
                <a:solidFill>
                  <a:srgbClr val="8A949C"/>
                </a:solidFill>
                <a:latin typeface="Arial" pitchFamily="34" charset="0"/>
                <a:ea typeface="Arial" pitchFamily="34" charset="-122"/>
                <a:cs typeface="Arial" pitchFamily="34" charset="-120"/>
              </a:rPr>
              <a:t>Source: SLAM analysis; PJM 2028/29 auction, EIA, EPA eGRID2023, NREL, PA GRID Standards</a:t>
            </a:r>
            <a:endParaRPr lang="en-US" sz="900" dirty="0"/>
          </a:p>
        </p:txBody>
      </p:sp>
      <p:sp>
        <p:nvSpPr>
          <p:cNvPr id="25" name="Slide Number Placeholder 0"/>
          <p:cNvSpPr>
            <a:spLocks noGrp="1"/>
          </p:cNvSpPr>
          <p:nvPr>
            <p:ph type="sldNum" sz="quarter" idx="4294967295"/>
          </p:nvPr>
        </p:nvSpPr>
        <p:spPr>
          <a:xfrm>
            <a:off x="11274552" y="6355080"/>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49C"/>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2600" dirty="0">
                <a:solidFill>
                  <a:srgbClr val="1C2631"/>
                </a:solidFill>
                <a:latin typeface="Georgia" pitchFamily="34" charset="0"/>
                <a:ea typeface="Georgia" pitchFamily="34" charset="-122"/>
                <a:cs typeface="Georgia" pitchFamily="34" charset="-120"/>
              </a:rPr>
              <a:t>[Headline that says who carries the cost and what KGE commits to in return]</a:t>
            </a:r>
            <a:endParaRPr lang="en-US" sz="2600" dirty="0"/>
          </a:p>
        </p:txBody>
      </p:sp>
      <p:sp>
        <p:nvSpPr>
          <p:cNvPr id="3" name="Text 1"/>
          <p:cNvSpPr txBox="1"/>
          <p:nvPr/>
        </p:nvSpPr>
        <p:spPr>
          <a:xfrm>
            <a:off x="548640" y="1645920"/>
            <a:ext cx="5303520" cy="365760"/>
          </a:xfrm>
          <a:prstGeom prst="rect">
            <a:avLst/>
          </a:prstGeom>
          <a:noFill/>
          <a:ln/>
        </p:spPr>
        <p:txBody>
          <a:bodyPr wrap="square" lIns="0" tIns="0" rIns="0" bIns="0" rtlCol="0" anchor="t"/>
          <a:lstStyle/>
          <a:p>
            <a:pPr indent="0" marL="0">
              <a:buNone/>
            </a:pPr>
            <a:r>
              <a:rPr lang="en-US" sz="1600" b="1" dirty="0">
                <a:solidFill>
                  <a:srgbClr val="1F5A44"/>
                </a:solidFill>
                <a:latin typeface="Arial" pitchFamily="34" charset="0"/>
                <a:ea typeface="Arial" pitchFamily="34" charset="-122"/>
                <a:cs typeface="Arial" pitchFamily="34" charset="-120"/>
              </a:rPr>
              <a:t>What the community is worried about</a:t>
            </a:r>
            <a:endParaRPr lang="en-US" sz="1600" dirty="0"/>
          </a:p>
        </p:txBody>
      </p:sp>
      <p:sp>
        <p:nvSpPr>
          <p:cNvPr id="4" name="Shape 2"/>
          <p:cNvSpPr/>
          <p:nvPr/>
        </p:nvSpPr>
        <p:spPr>
          <a:xfrm>
            <a:off x="548640" y="2103120"/>
            <a:ext cx="5303520" cy="0"/>
          </a:xfrm>
          <a:prstGeom prst="line">
            <a:avLst/>
          </a:prstGeom>
          <a:noFill/>
          <a:ln w="19050">
            <a:solidFill>
              <a:srgbClr val="1C2631"/>
            </a:solidFill>
            <a:prstDash val="solid"/>
          </a:ln>
        </p:spPr>
      </p:sp>
      <p:sp>
        <p:nvSpPr>
          <p:cNvPr id="5" name="Text 3"/>
          <p:cNvSpPr txBox="1"/>
          <p:nvPr/>
        </p:nvSpPr>
        <p:spPr>
          <a:xfrm>
            <a:off x="6336792" y="1645920"/>
            <a:ext cx="5303520" cy="365760"/>
          </a:xfrm>
          <a:prstGeom prst="rect">
            <a:avLst/>
          </a:prstGeom>
          <a:noFill/>
          <a:ln/>
        </p:spPr>
        <p:txBody>
          <a:bodyPr wrap="square" lIns="0" tIns="0" rIns="0" bIns="0" rtlCol="0" anchor="t"/>
          <a:lstStyle/>
          <a:p>
            <a:pPr indent="0" marL="0">
              <a:buNone/>
            </a:pPr>
            <a:r>
              <a:rPr lang="en-US" sz="1600" b="1" dirty="0">
                <a:solidFill>
                  <a:srgbClr val="1F5A44"/>
                </a:solidFill>
                <a:latin typeface="Arial" pitchFamily="34" charset="0"/>
                <a:ea typeface="Arial" pitchFamily="34" charset="-122"/>
                <a:cs typeface="Arial" pitchFamily="34" charset="-120"/>
              </a:rPr>
              <a:t>What KGE commits to</a:t>
            </a:r>
            <a:endParaRPr lang="en-US" sz="1600" dirty="0"/>
          </a:p>
        </p:txBody>
      </p:sp>
      <p:sp>
        <p:nvSpPr>
          <p:cNvPr id="6" name="Shape 4"/>
          <p:cNvSpPr/>
          <p:nvPr/>
        </p:nvSpPr>
        <p:spPr>
          <a:xfrm>
            <a:off x="6336792" y="2103120"/>
            <a:ext cx="5303520" cy="0"/>
          </a:xfrm>
          <a:prstGeom prst="line">
            <a:avLst/>
          </a:prstGeom>
          <a:noFill/>
          <a:ln w="19050">
            <a:solidFill>
              <a:srgbClr val="1C2631"/>
            </a:solidFill>
            <a:prstDash val="solid"/>
          </a:ln>
        </p:spPr>
      </p:sp>
      <p:sp>
        <p:nvSpPr>
          <p:cNvPr id="7" name="Text 5"/>
          <p:cNvSpPr txBox="1"/>
          <p:nvPr/>
        </p:nvSpPr>
        <p:spPr>
          <a:xfrm>
            <a:off x="548640" y="2331720"/>
            <a:ext cx="5303520" cy="777240"/>
          </a:xfrm>
          <a:prstGeom prst="rect">
            <a:avLst/>
          </a:prstGeom>
          <a:noFill/>
          <a:ln/>
        </p:spPr>
        <p:txBody>
          <a:bodyPr wrap="square" lIns="0" tIns="0" rIns="0" bIns="0" rtlCol="0" anchor="t"/>
          <a:lstStyle/>
          <a:p>
            <a:pPr indent="0" marL="0">
              <a:buNone/>
            </a:pPr>
            <a:r>
              <a:rPr lang="en-US" sz="1500" dirty="0">
                <a:solidFill>
                  <a:srgbClr val="56636F"/>
                </a:solidFill>
                <a:latin typeface="Arial" pitchFamily="34" charset="0"/>
                <a:ea typeface="Arial" pitchFamily="34" charset="-122"/>
                <a:cs typeface="Arial" pitchFamily="34" charset="-120"/>
              </a:rPr>
              <a:t>[Concern 1 and who raised it]</a:t>
            </a:r>
            <a:endParaRPr lang="en-US" sz="1500" dirty="0"/>
          </a:p>
        </p:txBody>
      </p:sp>
      <p:sp>
        <p:nvSpPr>
          <p:cNvPr id="8" name="Text 6"/>
          <p:cNvSpPr txBox="1"/>
          <p:nvPr/>
        </p:nvSpPr>
        <p:spPr>
          <a:xfrm>
            <a:off x="6336792" y="2331720"/>
            <a:ext cx="5303520" cy="777240"/>
          </a:xfrm>
          <a:prstGeom prst="rect">
            <a:avLst/>
          </a:prstGeom>
          <a:noFill/>
          <a:ln/>
        </p:spPr>
        <p:txBody>
          <a:bodyPr wrap="square" lIns="0" tIns="0" rIns="0" bIns="0" rtlCol="0" anchor="t"/>
          <a:lstStyle/>
          <a:p>
            <a:pPr indent="0" marL="0">
              <a:buNone/>
            </a:pPr>
            <a:r>
              <a:rPr lang="en-US" sz="1500" dirty="0">
                <a:solidFill>
                  <a:srgbClr val="56636F"/>
                </a:solidFill>
                <a:latin typeface="Arial" pitchFamily="34" charset="0"/>
                <a:ea typeface="Arial" pitchFamily="34" charset="-122"/>
                <a:cs typeface="Arial" pitchFamily="34" charset="-120"/>
              </a:rPr>
              <a:t>[Commitment that answers concern 1]</a:t>
            </a:r>
            <a:endParaRPr lang="en-US" sz="1500" dirty="0"/>
          </a:p>
        </p:txBody>
      </p:sp>
      <p:sp>
        <p:nvSpPr>
          <p:cNvPr id="9" name="Shape 7"/>
          <p:cNvSpPr/>
          <p:nvPr/>
        </p:nvSpPr>
        <p:spPr>
          <a:xfrm>
            <a:off x="548640" y="3291840"/>
            <a:ext cx="5303520" cy="0"/>
          </a:xfrm>
          <a:prstGeom prst="line">
            <a:avLst/>
          </a:prstGeom>
          <a:noFill/>
          <a:ln w="9525">
            <a:solidFill>
              <a:srgbClr val="D3D8DC"/>
            </a:solidFill>
            <a:prstDash val="solid"/>
          </a:ln>
        </p:spPr>
      </p:sp>
      <p:sp>
        <p:nvSpPr>
          <p:cNvPr id="10" name="Shape 8"/>
          <p:cNvSpPr/>
          <p:nvPr/>
        </p:nvSpPr>
        <p:spPr>
          <a:xfrm>
            <a:off x="6336792" y="3291840"/>
            <a:ext cx="5303520" cy="0"/>
          </a:xfrm>
          <a:prstGeom prst="line">
            <a:avLst/>
          </a:prstGeom>
          <a:noFill/>
          <a:ln w="9525">
            <a:solidFill>
              <a:srgbClr val="D3D8DC"/>
            </a:solidFill>
            <a:prstDash val="solid"/>
          </a:ln>
        </p:spPr>
      </p:sp>
      <p:sp>
        <p:nvSpPr>
          <p:cNvPr id="11" name="Text 9"/>
          <p:cNvSpPr txBox="1"/>
          <p:nvPr/>
        </p:nvSpPr>
        <p:spPr>
          <a:xfrm>
            <a:off x="548640" y="3520440"/>
            <a:ext cx="5303520" cy="777240"/>
          </a:xfrm>
          <a:prstGeom prst="rect">
            <a:avLst/>
          </a:prstGeom>
          <a:noFill/>
          <a:ln/>
        </p:spPr>
        <p:txBody>
          <a:bodyPr wrap="square" lIns="0" tIns="0" rIns="0" bIns="0" rtlCol="0" anchor="t"/>
          <a:lstStyle/>
          <a:p>
            <a:pPr indent="0" marL="0">
              <a:buNone/>
            </a:pPr>
            <a:r>
              <a:rPr lang="en-US" sz="1500" dirty="0">
                <a:solidFill>
                  <a:srgbClr val="56636F"/>
                </a:solidFill>
                <a:latin typeface="Arial" pitchFamily="34" charset="0"/>
                <a:ea typeface="Arial" pitchFamily="34" charset="-122"/>
                <a:cs typeface="Arial" pitchFamily="34" charset="-120"/>
              </a:rPr>
              <a:t>[Concern 2 and who raised it]</a:t>
            </a:r>
            <a:endParaRPr lang="en-US" sz="1500" dirty="0"/>
          </a:p>
        </p:txBody>
      </p:sp>
      <p:sp>
        <p:nvSpPr>
          <p:cNvPr id="12" name="Text 10"/>
          <p:cNvSpPr txBox="1"/>
          <p:nvPr/>
        </p:nvSpPr>
        <p:spPr>
          <a:xfrm>
            <a:off x="6336792" y="3520440"/>
            <a:ext cx="5303520" cy="777240"/>
          </a:xfrm>
          <a:prstGeom prst="rect">
            <a:avLst/>
          </a:prstGeom>
          <a:noFill/>
          <a:ln/>
        </p:spPr>
        <p:txBody>
          <a:bodyPr wrap="square" lIns="0" tIns="0" rIns="0" bIns="0" rtlCol="0" anchor="t"/>
          <a:lstStyle/>
          <a:p>
            <a:pPr indent="0" marL="0">
              <a:buNone/>
            </a:pPr>
            <a:r>
              <a:rPr lang="en-US" sz="1500" dirty="0">
                <a:solidFill>
                  <a:srgbClr val="56636F"/>
                </a:solidFill>
                <a:latin typeface="Arial" pitchFamily="34" charset="0"/>
                <a:ea typeface="Arial" pitchFamily="34" charset="-122"/>
                <a:cs typeface="Arial" pitchFamily="34" charset="-120"/>
              </a:rPr>
              <a:t>[Commitment that answers concern 2]</a:t>
            </a:r>
            <a:endParaRPr lang="en-US" sz="1500" dirty="0"/>
          </a:p>
        </p:txBody>
      </p:sp>
      <p:sp>
        <p:nvSpPr>
          <p:cNvPr id="13" name="Shape 11"/>
          <p:cNvSpPr/>
          <p:nvPr/>
        </p:nvSpPr>
        <p:spPr>
          <a:xfrm>
            <a:off x="548640" y="4480560"/>
            <a:ext cx="5303520" cy="0"/>
          </a:xfrm>
          <a:prstGeom prst="line">
            <a:avLst/>
          </a:prstGeom>
          <a:noFill/>
          <a:ln w="9525">
            <a:solidFill>
              <a:srgbClr val="D3D8DC"/>
            </a:solidFill>
            <a:prstDash val="solid"/>
          </a:ln>
        </p:spPr>
      </p:sp>
      <p:sp>
        <p:nvSpPr>
          <p:cNvPr id="14" name="Shape 12"/>
          <p:cNvSpPr/>
          <p:nvPr/>
        </p:nvSpPr>
        <p:spPr>
          <a:xfrm>
            <a:off x="6336792" y="4480560"/>
            <a:ext cx="5303520" cy="0"/>
          </a:xfrm>
          <a:prstGeom prst="line">
            <a:avLst/>
          </a:prstGeom>
          <a:noFill/>
          <a:ln w="9525">
            <a:solidFill>
              <a:srgbClr val="D3D8DC"/>
            </a:solidFill>
            <a:prstDash val="solid"/>
          </a:ln>
        </p:spPr>
      </p:sp>
      <p:sp>
        <p:nvSpPr>
          <p:cNvPr id="15" name="Text 13"/>
          <p:cNvSpPr txBox="1"/>
          <p:nvPr/>
        </p:nvSpPr>
        <p:spPr>
          <a:xfrm>
            <a:off x="548640" y="4709160"/>
            <a:ext cx="5303520" cy="777240"/>
          </a:xfrm>
          <a:prstGeom prst="rect">
            <a:avLst/>
          </a:prstGeom>
          <a:noFill/>
          <a:ln/>
        </p:spPr>
        <p:txBody>
          <a:bodyPr wrap="square" lIns="0" tIns="0" rIns="0" bIns="0" rtlCol="0" anchor="t"/>
          <a:lstStyle/>
          <a:p>
            <a:pPr indent="0" marL="0">
              <a:buNone/>
            </a:pPr>
            <a:r>
              <a:rPr lang="en-US" sz="1500" dirty="0">
                <a:solidFill>
                  <a:srgbClr val="56636F"/>
                </a:solidFill>
                <a:latin typeface="Arial" pitchFamily="34" charset="0"/>
                <a:ea typeface="Arial" pitchFamily="34" charset="-122"/>
                <a:cs typeface="Arial" pitchFamily="34" charset="-120"/>
              </a:rPr>
              <a:t>[Concern 3 and who raised it]</a:t>
            </a:r>
            <a:endParaRPr lang="en-US" sz="1500" dirty="0"/>
          </a:p>
        </p:txBody>
      </p:sp>
      <p:sp>
        <p:nvSpPr>
          <p:cNvPr id="16" name="Text 14"/>
          <p:cNvSpPr txBox="1"/>
          <p:nvPr/>
        </p:nvSpPr>
        <p:spPr>
          <a:xfrm>
            <a:off x="6336792" y="4709160"/>
            <a:ext cx="5303520" cy="777240"/>
          </a:xfrm>
          <a:prstGeom prst="rect">
            <a:avLst/>
          </a:prstGeom>
          <a:noFill/>
          <a:ln/>
        </p:spPr>
        <p:txBody>
          <a:bodyPr wrap="square" lIns="0" tIns="0" rIns="0" bIns="0" rtlCol="0" anchor="t"/>
          <a:lstStyle/>
          <a:p>
            <a:pPr indent="0" marL="0">
              <a:buNone/>
            </a:pPr>
            <a:r>
              <a:rPr lang="en-US" sz="1500" dirty="0">
                <a:solidFill>
                  <a:srgbClr val="56636F"/>
                </a:solidFill>
                <a:latin typeface="Arial" pitchFamily="34" charset="0"/>
                <a:ea typeface="Arial" pitchFamily="34" charset="-122"/>
                <a:cs typeface="Arial" pitchFamily="34" charset="-120"/>
              </a:rPr>
              <a:t>[Commitment that answers concern 3]</a:t>
            </a:r>
            <a:endParaRPr lang="en-US" sz="1500" dirty="0"/>
          </a:p>
        </p:txBody>
      </p:sp>
      <p:sp>
        <p:nvSpPr>
          <p:cNvPr id="17" name="Source"/>
          <p:cNvSpPr txBox="1"/>
          <p:nvPr/>
        </p:nvSpPr>
        <p:spPr>
          <a:xfrm>
            <a:off x="548640" y="5989320"/>
            <a:ext cx="11091672" cy="256032"/>
          </a:xfrm>
          <a:prstGeom prst="rect">
            <a:avLst/>
          </a:prstGeom>
          <a:noFill/>
          <a:ln/>
        </p:spPr>
        <p:txBody>
          <a:bodyPr wrap="square" lIns="0" tIns="0" rIns="0" bIns="0" rtlCol="0" anchor="t"/>
          <a:lstStyle/>
          <a:p>
            <a:pPr indent="0" marL="0">
              <a:buNone/>
            </a:pPr>
            <a:r>
              <a:rPr lang="en-US" sz="900" dirty="0">
                <a:solidFill>
                  <a:srgbClr val="8A949C"/>
                </a:solidFill>
                <a:latin typeface="Arial" pitchFamily="34" charset="0"/>
                <a:ea typeface="Arial" pitchFamily="34" charset="-122"/>
                <a:cs typeface="Arial" pitchFamily="34" charset="-120"/>
              </a:rPr>
              <a:t>Source: [Case interviews; public comment; team analysis]</a:t>
            </a:r>
            <a:endParaRPr lang="en-US" sz="900" dirty="0"/>
          </a:p>
        </p:txBody>
      </p:sp>
      <p:sp>
        <p:nvSpPr>
          <p:cNvPr id="25" name="Slide Number Placeholder 0"/>
          <p:cNvSpPr>
            <a:spLocks noGrp="1"/>
          </p:cNvSpPr>
          <p:nvPr>
            <p:ph type="sldNum" sz="quarter" idx="4294967295"/>
          </p:nvPr>
        </p:nvSpPr>
        <p:spPr>
          <a:xfrm>
            <a:off x="11274552" y="6355080"/>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49C"/>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2600" dirty="0">
                <a:solidFill>
                  <a:srgbClr val="1C2631"/>
                </a:solidFill>
                <a:latin typeface="Georgia" pitchFamily="34" charset="0"/>
                <a:ea typeface="Georgia" pitchFamily="34" charset="-122"/>
                <a:cs typeface="Georgia" pitchFamily="34" charset="-120"/>
              </a:rPr>
              <a:t>[Headline that says the largest risk is contained and how]</a:t>
            </a:r>
            <a:endParaRPr lang="en-US" sz="2600" dirty="0"/>
          </a:p>
        </p:txBody>
      </p:sp>
      <p:graphicFrame>
        <p:nvGraphicFramePr>
          <p:cNvPr id="10" name="Risk 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377440"/>
                <a:gridCol w="1645920"/>
                <a:gridCol w="1645920"/>
                <a:gridCol w="3959352"/>
                <a:gridCol w="1463040"/>
              </a:tblGrid>
              <a:tr h="457200">
                <a:tc>
                  <a:txBody>
                    <a:bodyPr/>
                    <a:lstStyle/>
                    <a:p>
                      <a:pPr indent="0" marL="0">
                        <a:buNone/>
                      </a:pPr>
                      <a:r>
                        <a:rPr lang="en-US" sz="1200" b="1" dirty="0">
                          <a:solidFill>
                            <a:srgbClr val="56636F"/>
                          </a:solidFill>
                          <a:latin typeface="Arial" pitchFamily="34" charset="0"/>
                          <a:ea typeface="Arial" pitchFamily="34" charset="-122"/>
                          <a:cs typeface="Arial" pitchFamily="34" charset="-120"/>
                        </a:rPr>
                        <a:t>Risk</a:t>
                      </a:r>
                      <a:endParaRPr lang="en-US" sz="12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19050" cap="flat" cmpd="sng" algn="ctr">
                      <a:solidFill>
                        <a:srgbClr val="1C2631"/>
                      </a:solidFill>
                      <a:prstDash val="solid"/>
                      <a:round/>
                      <a:headEnd type="none" w="med" len="med"/>
                      <a:tailEnd type="none" w="med" len="med"/>
                    </a:lnB>
                  </a:tcPr>
                </a:tc>
                <a:tc>
                  <a:txBody>
                    <a:bodyPr/>
                    <a:lstStyle/>
                    <a:p>
                      <a:pPr indent="0" marL="0">
                        <a:buNone/>
                      </a:pPr>
                      <a:r>
                        <a:rPr lang="en-US" sz="1200" b="1" dirty="0">
                          <a:solidFill>
                            <a:srgbClr val="56636F"/>
                          </a:solidFill>
                          <a:latin typeface="Arial" pitchFamily="34" charset="0"/>
                          <a:ea typeface="Arial" pitchFamily="34" charset="-122"/>
                          <a:cs typeface="Arial" pitchFamily="34" charset="-120"/>
                        </a:rPr>
                        <a:t>Likelihood</a:t>
                      </a:r>
                      <a:endParaRPr lang="en-US" sz="12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19050" cap="flat" cmpd="sng" algn="ctr">
                      <a:solidFill>
                        <a:srgbClr val="1C2631"/>
                      </a:solidFill>
                      <a:prstDash val="solid"/>
                      <a:round/>
                      <a:headEnd type="none" w="med" len="med"/>
                      <a:tailEnd type="none" w="med" len="med"/>
                    </a:lnB>
                  </a:tcPr>
                </a:tc>
                <a:tc>
                  <a:txBody>
                    <a:bodyPr/>
                    <a:lstStyle/>
                    <a:p>
                      <a:pPr indent="0" marL="0">
                        <a:buNone/>
                      </a:pPr>
                      <a:r>
                        <a:rPr lang="en-US" sz="1200" b="1" dirty="0">
                          <a:solidFill>
                            <a:srgbClr val="56636F"/>
                          </a:solidFill>
                          <a:latin typeface="Arial" pitchFamily="34" charset="0"/>
                          <a:ea typeface="Arial" pitchFamily="34" charset="-122"/>
                          <a:cs typeface="Arial" pitchFamily="34" charset="-120"/>
                        </a:rPr>
                        <a:t>Impact</a:t>
                      </a:r>
                      <a:endParaRPr lang="en-US" sz="12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19050" cap="flat" cmpd="sng" algn="ctr">
                      <a:solidFill>
                        <a:srgbClr val="1C2631"/>
                      </a:solidFill>
                      <a:prstDash val="solid"/>
                      <a:round/>
                      <a:headEnd type="none" w="med" len="med"/>
                      <a:tailEnd type="none" w="med" len="med"/>
                    </a:lnB>
                  </a:tcPr>
                </a:tc>
                <a:tc>
                  <a:txBody>
                    <a:bodyPr/>
                    <a:lstStyle/>
                    <a:p>
                      <a:pPr indent="0" marL="0">
                        <a:buNone/>
                      </a:pPr>
                      <a:r>
                        <a:rPr lang="en-US" sz="1200" b="1" dirty="0">
                          <a:solidFill>
                            <a:srgbClr val="56636F"/>
                          </a:solidFill>
                          <a:latin typeface="Arial" pitchFamily="34" charset="0"/>
                          <a:ea typeface="Arial" pitchFamily="34" charset="-122"/>
                          <a:cs typeface="Arial" pitchFamily="34" charset="-120"/>
                        </a:rPr>
                        <a:t>Mitigation</a:t>
                      </a:r>
                      <a:endParaRPr lang="en-US" sz="12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19050" cap="flat" cmpd="sng" algn="ctr">
                      <a:solidFill>
                        <a:srgbClr val="1C2631"/>
                      </a:solidFill>
                      <a:prstDash val="solid"/>
                      <a:round/>
                      <a:headEnd type="none" w="med" len="med"/>
                      <a:tailEnd type="none" w="med" len="med"/>
                    </a:lnB>
                  </a:tcPr>
                </a:tc>
                <a:tc>
                  <a:txBody>
                    <a:bodyPr/>
                    <a:lstStyle/>
                    <a:p>
                      <a:pPr indent="0" marL="0">
                        <a:buNone/>
                      </a:pPr>
                      <a:r>
                        <a:rPr lang="en-US" sz="1200" b="1" dirty="0">
                          <a:solidFill>
                            <a:srgbClr val="56636F"/>
                          </a:solidFill>
                          <a:latin typeface="Arial" pitchFamily="34" charset="0"/>
                          <a:ea typeface="Arial" pitchFamily="34" charset="-122"/>
                          <a:cs typeface="Arial" pitchFamily="34" charset="-120"/>
                        </a:rPr>
                        <a:t>Owner</a:t>
                      </a:r>
                      <a:endParaRPr lang="en-US" sz="12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19050" cap="flat" cmpd="sng" algn="ctr">
                      <a:solidFill>
                        <a:srgbClr val="1C2631"/>
                      </a:solidFill>
                      <a:prstDash val="solid"/>
                      <a:round/>
                      <a:headEnd type="none" w="med" len="med"/>
                      <a:tailEnd type="none" w="med" len="med"/>
                    </a:lnB>
                  </a:tcPr>
                </a:tc>
              </a:tr>
              <a:tr h="777240">
                <a:tc>
                  <a:txBody>
                    <a:bodyPr/>
                    <a:lstStyle/>
                    <a:p>
                      <a:pPr indent="0" marL="0">
                        <a:buNone/>
                      </a:pPr>
                      <a:r>
                        <a:rPr lang="en-US" sz="1300" b="1" dirty="0">
                          <a:solidFill>
                            <a:srgbClr val="1C2631"/>
                          </a:solidFill>
                          <a:latin typeface="Arial" pitchFamily="34" charset="0"/>
                          <a:ea typeface="Arial" pitchFamily="34" charset="-122"/>
                          <a:cs typeface="Arial" pitchFamily="34" charset="-120"/>
                        </a:rPr>
                        <a:t>[Risk 1]</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[High / Med / Low]</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[High / Med / Low]</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[What KGE does about it]</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[Team]</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r>
              <a:tr h="777240">
                <a:tc>
                  <a:txBody>
                    <a:bodyPr/>
                    <a:lstStyle/>
                    <a:p>
                      <a:pPr indent="0" marL="0">
                        <a:buNone/>
                      </a:pPr>
                      <a:r>
                        <a:rPr lang="en-US" sz="1300" b="1" dirty="0">
                          <a:solidFill>
                            <a:srgbClr val="1C2631"/>
                          </a:solidFill>
                          <a:latin typeface="Arial" pitchFamily="34" charset="0"/>
                          <a:ea typeface="Arial" pitchFamily="34" charset="-122"/>
                          <a:cs typeface="Arial" pitchFamily="34" charset="-120"/>
                        </a:rPr>
                        <a:t>[Risk 2]</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r>
              <a:tr h="777240">
                <a:tc>
                  <a:txBody>
                    <a:bodyPr/>
                    <a:lstStyle/>
                    <a:p>
                      <a:pPr indent="0" marL="0">
                        <a:buNone/>
                      </a:pPr>
                      <a:r>
                        <a:rPr lang="en-US" sz="1300" b="1" dirty="0">
                          <a:solidFill>
                            <a:srgbClr val="1C2631"/>
                          </a:solidFill>
                          <a:latin typeface="Arial" pitchFamily="34" charset="0"/>
                          <a:ea typeface="Arial" pitchFamily="34" charset="-122"/>
                          <a:cs typeface="Arial" pitchFamily="34" charset="-120"/>
                        </a:rPr>
                        <a:t>[Risk 3]</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r>
              <a:tr h="777240">
                <a:tc>
                  <a:txBody>
                    <a:bodyPr/>
                    <a:lstStyle/>
                    <a:p>
                      <a:pPr indent="0" marL="0">
                        <a:buNone/>
                      </a:pPr>
                      <a:r>
                        <a:rPr lang="en-US" sz="1300" b="1" dirty="0">
                          <a:solidFill>
                            <a:srgbClr val="1C2631"/>
                          </a:solidFill>
                          <a:latin typeface="Arial" pitchFamily="34" charset="0"/>
                          <a:ea typeface="Arial" pitchFamily="34" charset="-122"/>
                          <a:cs typeface="Arial" pitchFamily="34" charset="-120"/>
                        </a:rPr>
                        <a:t>[Risk 4]</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c>
                  <a:txBody>
                    <a:bodyPr/>
                    <a:lstStyle/>
                    <a:p>
                      <a:pPr indent="0" marL="0">
                        <a:buNone/>
                      </a:pPr>
                      <a:r>
                        <a:rPr lang="en-US" sz="1300" dirty="0">
                          <a:solidFill>
                            <a:srgbClr val="1C2631"/>
                          </a:solidFill>
                          <a:latin typeface="Arial" pitchFamily="34" charset="0"/>
                          <a:ea typeface="Arial" pitchFamily="34" charset="-122"/>
                          <a:cs typeface="Arial" pitchFamily="34" charset="-120"/>
                        </a:rPr>
                        <a:t>[ ]</a:t>
                      </a:r>
                      <a:endParaRPr lang="en-US" sz="13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3D8DC"/>
                      </a:solidFill>
                      <a:prstDash val="solid"/>
                      <a:round/>
                      <a:headEnd type="none" w="med" len="med"/>
                      <a:tailEnd type="none" w="med" len="med"/>
                    </a:lnB>
                  </a:tcPr>
                </a:tc>
              </a:tr>
            </a:tbl>
          </a:graphicData>
        </a:graphic>
      </p:graphicFrame>
      <p:sp>
        <p:nvSpPr>
          <p:cNvPr id="4" name="Source"/>
          <p:cNvSpPr txBox="1"/>
          <p:nvPr/>
        </p:nvSpPr>
        <p:spPr>
          <a:xfrm>
            <a:off x="548640" y="5989320"/>
            <a:ext cx="11091672" cy="256032"/>
          </a:xfrm>
          <a:prstGeom prst="rect">
            <a:avLst/>
          </a:prstGeom>
          <a:noFill/>
          <a:ln/>
        </p:spPr>
        <p:txBody>
          <a:bodyPr wrap="square" lIns="0" tIns="0" rIns="0" bIns="0" rtlCol="0" anchor="t"/>
          <a:lstStyle/>
          <a:p>
            <a:pPr indent="0" marL="0">
              <a:buNone/>
            </a:pPr>
            <a:r>
              <a:rPr lang="en-US" sz="900" dirty="0">
                <a:solidFill>
                  <a:srgbClr val="8A949C"/>
                </a:solidFill>
                <a:latin typeface="Arial" pitchFamily="34" charset="0"/>
                <a:ea typeface="Arial" pitchFamily="34" charset="-122"/>
                <a:cs typeface="Arial" pitchFamily="34" charset="-120"/>
              </a:rPr>
              <a:t>Source: [Team analysis]</a:t>
            </a:r>
            <a:endParaRPr lang="en-US" sz="900" dirty="0"/>
          </a:p>
        </p:txBody>
      </p:sp>
      <p:sp>
        <p:nvSpPr>
          <p:cNvPr id="25" name="Slide Number Placeholder 0"/>
          <p:cNvSpPr>
            <a:spLocks noGrp="1"/>
          </p:cNvSpPr>
          <p:nvPr>
            <p:ph type="sldNum" sz="quarter" idx="4294967295"/>
          </p:nvPr>
        </p:nvSpPr>
        <p:spPr>
          <a:xfrm>
            <a:off x="11274552" y="6355080"/>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49C"/>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2600" dirty="0">
                <a:solidFill>
                  <a:srgbClr val="1C2631"/>
                </a:solidFill>
                <a:latin typeface="Georgia" pitchFamily="34" charset="0"/>
                <a:ea typeface="Georgia" pitchFamily="34" charset="-122"/>
                <a:cs typeface="Georgia" pitchFamily="34" charset="-120"/>
              </a:rPr>
              <a:t>[Headline that gives the first-power date if KGE decides this quarter]</a:t>
            </a:r>
            <a:endParaRPr lang="en-US" sz="2600" dirty="0"/>
          </a:p>
        </p:txBody>
      </p:sp>
      <p:sp>
        <p:nvSpPr>
          <p:cNvPr id="3" name="Text 1"/>
          <p:cNvSpPr txBox="1"/>
          <p:nvPr/>
        </p:nvSpPr>
        <p:spPr>
          <a:xfrm>
            <a:off x="3291840" y="1691640"/>
            <a:ext cx="1669694" cy="320040"/>
          </a:xfrm>
          <a:prstGeom prst="rect">
            <a:avLst/>
          </a:prstGeom>
          <a:noFill/>
          <a:ln/>
        </p:spPr>
        <p:txBody>
          <a:bodyPr wrap="square" lIns="0" tIns="0" rIns="0" bIns="0" rtlCol="0" anchor="t"/>
          <a:lstStyle/>
          <a:p>
            <a:pPr algn="ctr" indent="0" marL="0">
              <a:buNone/>
            </a:pPr>
            <a:r>
              <a:rPr lang="en-US" sz="1200" b="1" dirty="0">
                <a:solidFill>
                  <a:srgbClr val="56636F"/>
                </a:solidFill>
                <a:latin typeface="Arial" pitchFamily="34" charset="0"/>
                <a:ea typeface="Arial" pitchFamily="34" charset="-122"/>
                <a:cs typeface="Arial" pitchFamily="34" charset="-120"/>
              </a:rPr>
              <a:t>2027</a:t>
            </a:r>
            <a:endParaRPr lang="en-US" sz="1200" dirty="0"/>
          </a:p>
        </p:txBody>
      </p:sp>
      <p:sp>
        <p:nvSpPr>
          <p:cNvPr id="4" name="Text 2"/>
          <p:cNvSpPr txBox="1"/>
          <p:nvPr/>
        </p:nvSpPr>
        <p:spPr>
          <a:xfrm>
            <a:off x="4961534" y="1691640"/>
            <a:ext cx="1669694" cy="320040"/>
          </a:xfrm>
          <a:prstGeom prst="rect">
            <a:avLst/>
          </a:prstGeom>
          <a:noFill/>
          <a:ln/>
        </p:spPr>
        <p:txBody>
          <a:bodyPr wrap="square" lIns="0" tIns="0" rIns="0" bIns="0" rtlCol="0" anchor="t"/>
          <a:lstStyle/>
          <a:p>
            <a:pPr algn="ctr" indent="0" marL="0">
              <a:buNone/>
            </a:pPr>
            <a:r>
              <a:rPr lang="en-US" sz="1200" b="1" dirty="0">
                <a:solidFill>
                  <a:srgbClr val="56636F"/>
                </a:solidFill>
                <a:latin typeface="Arial" pitchFamily="34" charset="0"/>
                <a:ea typeface="Arial" pitchFamily="34" charset="-122"/>
                <a:cs typeface="Arial" pitchFamily="34" charset="-120"/>
              </a:rPr>
              <a:t>2028</a:t>
            </a:r>
            <a:endParaRPr lang="en-US" sz="1200" dirty="0"/>
          </a:p>
        </p:txBody>
      </p:sp>
      <p:sp>
        <p:nvSpPr>
          <p:cNvPr id="5" name="Text 3"/>
          <p:cNvSpPr txBox="1"/>
          <p:nvPr/>
        </p:nvSpPr>
        <p:spPr>
          <a:xfrm>
            <a:off x="6631229" y="1691640"/>
            <a:ext cx="1669694" cy="320040"/>
          </a:xfrm>
          <a:prstGeom prst="rect">
            <a:avLst/>
          </a:prstGeom>
          <a:noFill/>
          <a:ln/>
        </p:spPr>
        <p:txBody>
          <a:bodyPr wrap="square" lIns="0" tIns="0" rIns="0" bIns="0" rtlCol="0" anchor="t"/>
          <a:lstStyle/>
          <a:p>
            <a:pPr algn="ctr" indent="0" marL="0">
              <a:buNone/>
            </a:pPr>
            <a:r>
              <a:rPr lang="en-US" sz="1200" b="1" dirty="0">
                <a:solidFill>
                  <a:srgbClr val="56636F"/>
                </a:solidFill>
                <a:latin typeface="Arial" pitchFamily="34" charset="0"/>
                <a:ea typeface="Arial" pitchFamily="34" charset="-122"/>
                <a:cs typeface="Arial" pitchFamily="34" charset="-120"/>
              </a:rPr>
              <a:t>2029</a:t>
            </a:r>
            <a:endParaRPr lang="en-US" sz="1200" dirty="0"/>
          </a:p>
        </p:txBody>
      </p:sp>
      <p:sp>
        <p:nvSpPr>
          <p:cNvPr id="6" name="Text 4"/>
          <p:cNvSpPr txBox="1"/>
          <p:nvPr/>
        </p:nvSpPr>
        <p:spPr>
          <a:xfrm>
            <a:off x="8300923" y="1691640"/>
            <a:ext cx="1669694" cy="320040"/>
          </a:xfrm>
          <a:prstGeom prst="rect">
            <a:avLst/>
          </a:prstGeom>
          <a:noFill/>
          <a:ln/>
        </p:spPr>
        <p:txBody>
          <a:bodyPr wrap="square" lIns="0" tIns="0" rIns="0" bIns="0" rtlCol="0" anchor="t"/>
          <a:lstStyle/>
          <a:p>
            <a:pPr algn="ctr" indent="0" marL="0">
              <a:buNone/>
            </a:pPr>
            <a:r>
              <a:rPr lang="en-US" sz="1200" b="1" dirty="0">
                <a:solidFill>
                  <a:srgbClr val="56636F"/>
                </a:solidFill>
                <a:latin typeface="Arial" pitchFamily="34" charset="0"/>
                <a:ea typeface="Arial" pitchFamily="34" charset="-122"/>
                <a:cs typeface="Arial" pitchFamily="34" charset="-120"/>
              </a:rPr>
              <a:t>2030</a:t>
            </a:r>
            <a:endParaRPr lang="en-US" sz="1200" dirty="0"/>
          </a:p>
        </p:txBody>
      </p:sp>
      <p:sp>
        <p:nvSpPr>
          <p:cNvPr id="7" name="Text 5"/>
          <p:cNvSpPr txBox="1"/>
          <p:nvPr/>
        </p:nvSpPr>
        <p:spPr>
          <a:xfrm>
            <a:off x="9970618" y="1691640"/>
            <a:ext cx="1669694" cy="320040"/>
          </a:xfrm>
          <a:prstGeom prst="rect">
            <a:avLst/>
          </a:prstGeom>
          <a:noFill/>
          <a:ln/>
        </p:spPr>
        <p:txBody>
          <a:bodyPr wrap="square" lIns="0" tIns="0" rIns="0" bIns="0" rtlCol="0" anchor="t"/>
          <a:lstStyle/>
          <a:p>
            <a:pPr algn="ctr" indent="0" marL="0">
              <a:buNone/>
            </a:pPr>
            <a:r>
              <a:rPr lang="en-US" sz="1200" b="1" dirty="0">
                <a:solidFill>
                  <a:srgbClr val="56636F"/>
                </a:solidFill>
                <a:latin typeface="Arial" pitchFamily="34" charset="0"/>
                <a:ea typeface="Arial" pitchFamily="34" charset="-122"/>
                <a:cs typeface="Arial" pitchFamily="34" charset="-120"/>
              </a:rPr>
              <a:t>2031</a:t>
            </a:r>
            <a:endParaRPr lang="en-US" sz="1200" dirty="0"/>
          </a:p>
        </p:txBody>
      </p:sp>
      <p:sp>
        <p:nvSpPr>
          <p:cNvPr id="8" name="Shape 6"/>
          <p:cNvSpPr/>
          <p:nvPr/>
        </p:nvSpPr>
        <p:spPr>
          <a:xfrm>
            <a:off x="548640" y="2103120"/>
            <a:ext cx="11091672" cy="0"/>
          </a:xfrm>
          <a:prstGeom prst="line">
            <a:avLst/>
          </a:prstGeom>
          <a:noFill/>
          <a:ln w="19050">
            <a:solidFill>
              <a:srgbClr val="1C2631"/>
            </a:solidFill>
            <a:prstDash val="solid"/>
          </a:ln>
        </p:spPr>
      </p:sp>
      <p:sp>
        <p:nvSpPr>
          <p:cNvPr id="9" name="Shape 7"/>
          <p:cNvSpPr/>
          <p:nvPr/>
        </p:nvSpPr>
        <p:spPr>
          <a:xfrm>
            <a:off x="4961534" y="2148840"/>
            <a:ext cx="0" cy="3657600"/>
          </a:xfrm>
          <a:prstGeom prst="line">
            <a:avLst/>
          </a:prstGeom>
          <a:noFill/>
          <a:ln w="6350">
            <a:solidFill>
              <a:srgbClr val="D3D8DC"/>
            </a:solidFill>
            <a:prstDash val="dash"/>
          </a:ln>
        </p:spPr>
      </p:sp>
      <p:sp>
        <p:nvSpPr>
          <p:cNvPr id="10" name="Shape 8"/>
          <p:cNvSpPr/>
          <p:nvPr/>
        </p:nvSpPr>
        <p:spPr>
          <a:xfrm>
            <a:off x="6631229" y="2148840"/>
            <a:ext cx="0" cy="3657600"/>
          </a:xfrm>
          <a:prstGeom prst="line">
            <a:avLst/>
          </a:prstGeom>
          <a:noFill/>
          <a:ln w="6350">
            <a:solidFill>
              <a:srgbClr val="D3D8DC"/>
            </a:solidFill>
            <a:prstDash val="dash"/>
          </a:ln>
        </p:spPr>
      </p:sp>
      <p:sp>
        <p:nvSpPr>
          <p:cNvPr id="11" name="Shape 9"/>
          <p:cNvSpPr/>
          <p:nvPr/>
        </p:nvSpPr>
        <p:spPr>
          <a:xfrm>
            <a:off x="8300923" y="2148840"/>
            <a:ext cx="0" cy="3657600"/>
          </a:xfrm>
          <a:prstGeom prst="line">
            <a:avLst/>
          </a:prstGeom>
          <a:noFill/>
          <a:ln w="6350">
            <a:solidFill>
              <a:srgbClr val="D3D8DC"/>
            </a:solidFill>
            <a:prstDash val="dash"/>
          </a:ln>
        </p:spPr>
      </p:sp>
      <p:sp>
        <p:nvSpPr>
          <p:cNvPr id="12" name="Shape 10"/>
          <p:cNvSpPr/>
          <p:nvPr/>
        </p:nvSpPr>
        <p:spPr>
          <a:xfrm>
            <a:off x="9970618" y="2148840"/>
            <a:ext cx="0" cy="3657600"/>
          </a:xfrm>
          <a:prstGeom prst="line">
            <a:avLst/>
          </a:prstGeom>
          <a:noFill/>
          <a:ln w="6350">
            <a:solidFill>
              <a:srgbClr val="D3D8DC"/>
            </a:solidFill>
            <a:prstDash val="dash"/>
          </a:ln>
        </p:spPr>
      </p:sp>
      <p:sp>
        <p:nvSpPr>
          <p:cNvPr id="13" name="Text 11"/>
          <p:cNvSpPr txBox="1"/>
          <p:nvPr/>
        </p:nvSpPr>
        <p:spPr>
          <a:xfrm>
            <a:off x="548640" y="2395728"/>
            <a:ext cx="2651760" cy="365760"/>
          </a:xfrm>
          <a:prstGeom prst="rect">
            <a:avLst/>
          </a:prstGeom>
          <a:noFill/>
          <a:ln/>
        </p:spPr>
        <p:txBody>
          <a:bodyPr wrap="square" lIns="0" tIns="0" rIns="0" bIns="0" rtlCol="0" anchor="t"/>
          <a:lstStyle/>
          <a:p>
            <a:pPr indent="0" marL="0">
              <a:buNone/>
            </a:pPr>
            <a:r>
              <a:rPr lang="en-US" sz="1400" dirty="0">
                <a:solidFill>
                  <a:srgbClr val="1C2631"/>
                </a:solidFill>
                <a:latin typeface="Arial" pitchFamily="34" charset="0"/>
                <a:ea typeface="Arial" pitchFamily="34" charset="-122"/>
                <a:cs typeface="Arial" pitchFamily="34" charset="-120"/>
              </a:rPr>
              <a:t>[Approvals and permits]</a:t>
            </a:r>
            <a:endParaRPr lang="en-US" sz="1400" dirty="0"/>
          </a:p>
        </p:txBody>
      </p:sp>
      <p:sp>
        <p:nvSpPr>
          <p:cNvPr id="14" name="Bar 1"/>
          <p:cNvSpPr/>
          <p:nvPr/>
        </p:nvSpPr>
        <p:spPr>
          <a:xfrm>
            <a:off x="3291840" y="2404872"/>
            <a:ext cx="1669694" cy="329184"/>
          </a:xfrm>
          <a:prstGeom prst="rect">
            <a:avLst/>
          </a:prstGeom>
          <a:solidFill>
            <a:srgbClr val="1F5A44"/>
          </a:solidFill>
          <a:ln/>
        </p:spPr>
      </p:sp>
      <p:sp>
        <p:nvSpPr>
          <p:cNvPr id="15" name="Shape 13"/>
          <p:cNvSpPr/>
          <p:nvPr/>
        </p:nvSpPr>
        <p:spPr>
          <a:xfrm>
            <a:off x="548640" y="2926080"/>
            <a:ext cx="11091672" cy="0"/>
          </a:xfrm>
          <a:prstGeom prst="line">
            <a:avLst/>
          </a:prstGeom>
          <a:noFill/>
          <a:ln w="9525">
            <a:solidFill>
              <a:srgbClr val="D3D8DC"/>
            </a:solidFill>
            <a:prstDash val="solid"/>
          </a:ln>
        </p:spPr>
      </p:sp>
      <p:sp>
        <p:nvSpPr>
          <p:cNvPr id="16" name="Text 14"/>
          <p:cNvSpPr txBox="1"/>
          <p:nvPr/>
        </p:nvSpPr>
        <p:spPr>
          <a:xfrm>
            <a:off x="548640" y="3127248"/>
            <a:ext cx="2651760" cy="365760"/>
          </a:xfrm>
          <a:prstGeom prst="rect">
            <a:avLst/>
          </a:prstGeom>
          <a:noFill/>
          <a:ln/>
        </p:spPr>
        <p:txBody>
          <a:bodyPr wrap="square" lIns="0" tIns="0" rIns="0" bIns="0" rtlCol="0" anchor="t"/>
          <a:lstStyle/>
          <a:p>
            <a:pPr indent="0" marL="0">
              <a:buNone/>
            </a:pPr>
            <a:r>
              <a:rPr lang="en-US" sz="1400" dirty="0">
                <a:solidFill>
                  <a:srgbClr val="1C2631"/>
                </a:solidFill>
                <a:latin typeface="Arial" pitchFamily="34" charset="0"/>
                <a:ea typeface="Arial" pitchFamily="34" charset="-122"/>
                <a:cs typeface="Arial" pitchFamily="34" charset="-120"/>
              </a:rPr>
              <a:t>[Grid connection]</a:t>
            </a:r>
            <a:endParaRPr lang="en-US" sz="1400" dirty="0"/>
          </a:p>
        </p:txBody>
      </p:sp>
      <p:sp>
        <p:nvSpPr>
          <p:cNvPr id="17" name="Bar 2"/>
          <p:cNvSpPr/>
          <p:nvPr/>
        </p:nvSpPr>
        <p:spPr>
          <a:xfrm>
            <a:off x="4126687" y="3136392"/>
            <a:ext cx="4174236" cy="329184"/>
          </a:xfrm>
          <a:prstGeom prst="rect">
            <a:avLst/>
          </a:prstGeom>
          <a:solidFill>
            <a:srgbClr val="1F5A44"/>
          </a:solidFill>
          <a:ln/>
        </p:spPr>
      </p:sp>
      <p:sp>
        <p:nvSpPr>
          <p:cNvPr id="18" name="Shape 16"/>
          <p:cNvSpPr/>
          <p:nvPr/>
        </p:nvSpPr>
        <p:spPr>
          <a:xfrm>
            <a:off x="548640" y="3657600"/>
            <a:ext cx="11091672" cy="0"/>
          </a:xfrm>
          <a:prstGeom prst="line">
            <a:avLst/>
          </a:prstGeom>
          <a:noFill/>
          <a:ln w="9525">
            <a:solidFill>
              <a:srgbClr val="D3D8DC"/>
            </a:solidFill>
            <a:prstDash val="solid"/>
          </a:ln>
        </p:spPr>
      </p:sp>
      <p:sp>
        <p:nvSpPr>
          <p:cNvPr id="19" name="Text 17"/>
          <p:cNvSpPr txBox="1"/>
          <p:nvPr/>
        </p:nvSpPr>
        <p:spPr>
          <a:xfrm>
            <a:off x="548640" y="3858768"/>
            <a:ext cx="2651760" cy="365760"/>
          </a:xfrm>
          <a:prstGeom prst="rect">
            <a:avLst/>
          </a:prstGeom>
          <a:noFill/>
          <a:ln/>
        </p:spPr>
        <p:txBody>
          <a:bodyPr wrap="square" lIns="0" tIns="0" rIns="0" bIns="0" rtlCol="0" anchor="t"/>
          <a:lstStyle/>
          <a:p>
            <a:pPr indent="0" marL="0">
              <a:buNone/>
            </a:pPr>
            <a:r>
              <a:rPr lang="en-US" sz="1400" dirty="0">
                <a:solidFill>
                  <a:srgbClr val="1C2631"/>
                </a:solidFill>
                <a:latin typeface="Arial" pitchFamily="34" charset="0"/>
                <a:ea typeface="Arial" pitchFamily="34" charset="-122"/>
                <a:cs typeface="Arial" pitchFamily="34" charset="-120"/>
              </a:rPr>
              <a:t>[Phase 1 construction]</a:t>
            </a:r>
            <a:endParaRPr lang="en-US" sz="1400" dirty="0"/>
          </a:p>
        </p:txBody>
      </p:sp>
      <p:sp>
        <p:nvSpPr>
          <p:cNvPr id="20" name="Bar 3"/>
          <p:cNvSpPr/>
          <p:nvPr/>
        </p:nvSpPr>
        <p:spPr>
          <a:xfrm>
            <a:off x="4961534" y="3867912"/>
            <a:ext cx="3673328" cy="329184"/>
          </a:xfrm>
          <a:prstGeom prst="rect">
            <a:avLst/>
          </a:prstGeom>
          <a:solidFill>
            <a:srgbClr val="1F5A44"/>
          </a:solidFill>
          <a:ln/>
        </p:spPr>
      </p:sp>
      <p:sp>
        <p:nvSpPr>
          <p:cNvPr id="21" name="Shape 19"/>
          <p:cNvSpPr/>
          <p:nvPr/>
        </p:nvSpPr>
        <p:spPr>
          <a:xfrm>
            <a:off x="548640" y="4389120"/>
            <a:ext cx="11091672" cy="0"/>
          </a:xfrm>
          <a:prstGeom prst="line">
            <a:avLst/>
          </a:prstGeom>
          <a:noFill/>
          <a:ln w="9525">
            <a:solidFill>
              <a:srgbClr val="D3D8DC"/>
            </a:solidFill>
            <a:prstDash val="solid"/>
          </a:ln>
        </p:spPr>
      </p:sp>
      <p:sp>
        <p:nvSpPr>
          <p:cNvPr id="22" name="Text 20"/>
          <p:cNvSpPr txBox="1"/>
          <p:nvPr/>
        </p:nvSpPr>
        <p:spPr>
          <a:xfrm>
            <a:off x="548640" y="4590288"/>
            <a:ext cx="2651760" cy="365760"/>
          </a:xfrm>
          <a:prstGeom prst="rect">
            <a:avLst/>
          </a:prstGeom>
          <a:noFill/>
          <a:ln/>
        </p:spPr>
        <p:txBody>
          <a:bodyPr wrap="square" lIns="0" tIns="0" rIns="0" bIns="0" rtlCol="0" anchor="t"/>
          <a:lstStyle/>
          <a:p>
            <a:pPr indent="0" marL="0">
              <a:buNone/>
            </a:pPr>
            <a:r>
              <a:rPr lang="en-US" sz="1400" dirty="0">
                <a:solidFill>
                  <a:srgbClr val="1C2631"/>
                </a:solidFill>
                <a:latin typeface="Arial" pitchFamily="34" charset="0"/>
                <a:ea typeface="Arial" pitchFamily="34" charset="-122"/>
                <a:cs typeface="Arial" pitchFamily="34" charset="-120"/>
              </a:rPr>
              <a:t>[Phase 1 first power]</a:t>
            </a:r>
            <a:endParaRPr lang="en-US" sz="1400" dirty="0"/>
          </a:p>
        </p:txBody>
      </p:sp>
      <p:sp>
        <p:nvSpPr>
          <p:cNvPr id="23" name="Bar 4"/>
          <p:cNvSpPr/>
          <p:nvPr/>
        </p:nvSpPr>
        <p:spPr>
          <a:xfrm>
            <a:off x="8634862" y="4599432"/>
            <a:ext cx="584393" cy="329184"/>
          </a:xfrm>
          <a:prstGeom prst="rect">
            <a:avLst/>
          </a:prstGeom>
          <a:solidFill>
            <a:srgbClr val="1C2631"/>
          </a:solidFill>
          <a:ln/>
        </p:spPr>
      </p:sp>
      <p:sp>
        <p:nvSpPr>
          <p:cNvPr id="24" name="Shape 22"/>
          <p:cNvSpPr/>
          <p:nvPr/>
        </p:nvSpPr>
        <p:spPr>
          <a:xfrm>
            <a:off x="548640" y="5120640"/>
            <a:ext cx="11091672" cy="0"/>
          </a:xfrm>
          <a:prstGeom prst="line">
            <a:avLst/>
          </a:prstGeom>
          <a:noFill/>
          <a:ln w="9525">
            <a:solidFill>
              <a:srgbClr val="D3D8DC"/>
            </a:solidFill>
            <a:prstDash val="solid"/>
          </a:ln>
        </p:spPr>
      </p:sp>
      <p:sp>
        <p:nvSpPr>
          <p:cNvPr id="25" name="Text 23"/>
          <p:cNvSpPr txBox="1"/>
          <p:nvPr/>
        </p:nvSpPr>
        <p:spPr>
          <a:xfrm>
            <a:off x="548640" y="5321808"/>
            <a:ext cx="2651760" cy="365760"/>
          </a:xfrm>
          <a:prstGeom prst="rect">
            <a:avLst/>
          </a:prstGeom>
          <a:noFill/>
          <a:ln/>
        </p:spPr>
        <p:txBody>
          <a:bodyPr wrap="square" lIns="0" tIns="0" rIns="0" bIns="0" rtlCol="0" anchor="t"/>
          <a:lstStyle/>
          <a:p>
            <a:pPr indent="0" marL="0">
              <a:buNone/>
            </a:pPr>
            <a:r>
              <a:rPr lang="en-US" sz="1400" dirty="0">
                <a:solidFill>
                  <a:srgbClr val="1C2631"/>
                </a:solidFill>
                <a:latin typeface="Arial" pitchFamily="34" charset="0"/>
                <a:ea typeface="Arial" pitchFamily="34" charset="-122"/>
                <a:cs typeface="Arial" pitchFamily="34" charset="-120"/>
              </a:rPr>
              <a:t>[Later phases]</a:t>
            </a:r>
            <a:endParaRPr lang="en-US" sz="1400" dirty="0"/>
          </a:p>
        </p:txBody>
      </p:sp>
      <p:sp>
        <p:nvSpPr>
          <p:cNvPr id="26" name="Bar 5"/>
          <p:cNvSpPr/>
          <p:nvPr/>
        </p:nvSpPr>
        <p:spPr>
          <a:xfrm>
            <a:off x="8801832" y="5330952"/>
            <a:ext cx="2838480" cy="329184"/>
          </a:xfrm>
          <a:prstGeom prst="rect">
            <a:avLst/>
          </a:prstGeom>
          <a:solidFill>
            <a:srgbClr val="A9B4AD"/>
          </a:solidFill>
          <a:ln/>
        </p:spPr>
      </p:sp>
      <p:sp>
        <p:nvSpPr>
          <p:cNvPr id="27" name="Source"/>
          <p:cNvSpPr txBox="1"/>
          <p:nvPr/>
        </p:nvSpPr>
        <p:spPr>
          <a:xfrm>
            <a:off x="548640" y="5989320"/>
            <a:ext cx="11091672" cy="256032"/>
          </a:xfrm>
          <a:prstGeom prst="rect">
            <a:avLst/>
          </a:prstGeom>
          <a:noFill/>
          <a:ln/>
        </p:spPr>
        <p:txBody>
          <a:bodyPr wrap="square" lIns="0" tIns="0" rIns="0" bIns="0" rtlCol="0" anchor="t"/>
          <a:lstStyle/>
          <a:p>
            <a:pPr indent="0" marL="0">
              <a:buNone/>
            </a:pPr>
            <a:r>
              <a:rPr lang="en-US" sz="900" dirty="0">
                <a:solidFill>
                  <a:srgbClr val="8A949C"/>
                </a:solidFill>
                <a:latin typeface="Arial" pitchFamily="34" charset="0"/>
                <a:ea typeface="Arial" pitchFamily="34" charset="-122"/>
                <a:cs typeface="Arial" pitchFamily="34" charset="-120"/>
              </a:rPr>
              <a:t>Source: [Case timeline; PJM interconnection estimates]</a:t>
            </a:r>
            <a:endParaRPr lang="en-US" sz="900" dirty="0"/>
          </a:p>
        </p:txBody>
      </p:sp>
      <p:sp>
        <p:nvSpPr>
          <p:cNvPr id="25" name="Slide Number Placeholder 0"/>
          <p:cNvSpPr>
            <a:spLocks noGrp="1"/>
          </p:cNvSpPr>
          <p:nvPr>
            <p:ph type="sldNum" sz="quarter" idx="4294967295"/>
          </p:nvPr>
        </p:nvSpPr>
        <p:spPr>
          <a:xfrm>
            <a:off x="11274552" y="6355080"/>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49C"/>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371600"/>
          </a:xfrm>
          <a:prstGeom prst="rect">
            <a:avLst/>
          </a:prstGeom>
          <a:noFill/>
          <a:ln/>
        </p:spPr>
        <p:txBody>
          <a:bodyPr wrap="square" lIns="0" tIns="0" rIns="0" bIns="0" rtlCol="0" anchor="b"/>
          <a:lstStyle/>
          <a:p>
            <a:pPr algn="l" indent="0" marL="0">
              <a:buNone/>
            </a:pPr>
            <a:r>
              <a:rPr lang="en-US" sz="4400" dirty="0">
                <a:solidFill>
                  <a:srgbClr val="FFFFFF"/>
                </a:solidFill>
                <a:latin typeface="Georgia" pitchFamily="34" charset="0"/>
                <a:ea typeface="Georgia" pitchFamily="34" charset="-122"/>
                <a:cs typeface="Georgia" pitchFamily="34" charset="-120"/>
              </a:rPr>
              <a:t>[Recommendation restated as one decision]</a:t>
            </a:r>
            <a:endParaRPr lang="en-US" sz="4400" dirty="0"/>
          </a:p>
        </p:txBody>
      </p:sp>
      <p:sp>
        <p:nvSpPr>
          <p:cNvPr id="3" name="Text 0"/>
          <p:cNvSpPr/>
          <p:nvPr>
            <p:ph idx="101" type="body" hasCustomPrompt="1"/>
          </p:nvPr>
        </p:nvSpPr>
        <p:spPr>
          <a:xfrm>
            <a:off x="731520" y="3566160"/>
            <a:ext cx="10698480" cy="731520"/>
          </a:xfrm>
          <a:prstGeom prst="rect">
            <a:avLst/>
          </a:prstGeom>
          <a:noFill/>
          <a:ln/>
        </p:spPr>
        <p:txBody>
          <a:bodyPr wrap="square" lIns="0" tIns="0" rIns="0" bIns="0" rtlCol="0" anchor="t"/>
          <a:lstStyle/>
          <a:p>
            <a:pPr indent="0" marL="0">
              <a:buNone/>
            </a:pPr>
            <a:r>
              <a:rPr lang="en-US" sz="2000" dirty="0">
                <a:solidFill>
                  <a:srgbClr val="C5CED4"/>
                </a:solidFill>
                <a:latin typeface="Arial" pitchFamily="34" charset="0"/>
                <a:ea typeface="Arial" pitchFamily="34" charset="-122"/>
                <a:cs typeface="Arial" pitchFamily="34" charset="-120"/>
              </a:rPr>
              <a:t>[The first step KGE takes this quarter]</a:t>
            </a:r>
            <a:endParaRPr lang="en-US" sz="2000" dirty="0"/>
          </a:p>
        </p:txBody>
      </p:sp>
      <p:sp>
        <p:nvSpPr>
          <p:cNvPr id="4" name="Text 0"/>
          <p:cNvSpPr/>
          <p:nvPr>
            <p:ph idx="102" type="body" hasCustomPrompt="1"/>
          </p:nvPr>
        </p:nvSpPr>
        <p:spPr>
          <a:xfrm>
            <a:off x="731520" y="5715000"/>
            <a:ext cx="10698480" cy="548640"/>
          </a:xfrm>
          <a:prstGeom prst="rect">
            <a:avLst/>
          </a:prstGeom>
          <a:noFill/>
          <a:ln/>
        </p:spPr>
        <p:txBody>
          <a:bodyPr wrap="square" lIns="0" tIns="0" rIns="0" bIns="0" rtlCol="0" anchor="b"/>
          <a:lstStyle/>
          <a:p>
            <a:pPr indent="0" marL="0">
              <a:buNone/>
            </a:pPr>
            <a:r>
              <a:rPr lang="en-US" sz="1200" dirty="0">
                <a:solidFill>
                  <a:srgbClr val="8A949C"/>
                </a:solidFill>
                <a:latin typeface="Arial" pitchFamily="34" charset="0"/>
                <a:ea typeface="Arial" pitchFamily="34" charset="-122"/>
                <a:cs typeface="Arial" pitchFamily="34" charset="-120"/>
              </a:rPr>
              <a:t>SLAM Consulting  |  Questions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731520" y="2331720"/>
            <a:ext cx="5486400" cy="457200"/>
          </a:xfrm>
          <a:prstGeom prst="rect">
            <a:avLst/>
          </a:prstGeom>
          <a:noFill/>
          <a:ln/>
        </p:spPr>
        <p:txBody>
          <a:bodyPr wrap="square" lIns="0" tIns="0" rIns="0" bIns="0" rtlCol="0"/>
          <a:lstStyle/>
          <a:p>
            <a:pPr indent="0" marL="0">
              <a:buNone/>
            </a:pPr>
            <a:r>
              <a:rPr lang="en-US" sz="1600" b="1" dirty="0">
                <a:solidFill>
                  <a:srgbClr val="8FBFA6"/>
                </a:solidFill>
                <a:latin typeface="Arial" pitchFamily="34" charset="0"/>
                <a:ea typeface="Arial" pitchFamily="34" charset="-122"/>
                <a:cs typeface="Arial" pitchFamily="34" charset="-120"/>
              </a:rPr>
              <a:t>A</a:t>
            </a:r>
            <a:endParaRPr lang="en-US" sz="1600" dirty="0"/>
          </a:p>
        </p:txBody>
      </p:sp>
      <p:sp>
        <p:nvSpPr>
          <p:cNvPr id="3" name="Text 0"/>
          <p:cNvSpPr/>
          <p:nvPr>
            <p:ph idx="101" type="title" hasCustomPrompt="1"/>
          </p:nvPr>
        </p:nvSpPr>
        <p:spPr>
          <a:xfrm>
            <a:off x="731520" y="2788920"/>
            <a:ext cx="10698480" cy="1097280"/>
          </a:xfrm>
          <a:prstGeom prst="rect">
            <a:avLst/>
          </a:prstGeom>
          <a:noFill/>
          <a:ln/>
        </p:spPr>
        <p:txBody>
          <a:bodyPr wrap="square" lIns="0" tIns="0" rIns="0" bIns="0" rtlCol="0" anchor="t"/>
          <a:lstStyle/>
          <a:p>
            <a:pPr algn="l" indent="0" marL="0">
              <a:buNone/>
            </a:pPr>
            <a:r>
              <a:rPr lang="en-US" sz="4000" dirty="0">
                <a:solidFill>
                  <a:srgbClr val="FFFFFF"/>
                </a:solidFill>
                <a:latin typeface="Georgia" pitchFamily="34" charset="0"/>
                <a:ea typeface="Georgia" pitchFamily="34" charset="-122"/>
                <a:cs typeface="Georgia" pitchFamily="34" charset="-120"/>
              </a:rPr>
              <a:t>Appendix</a:t>
            </a:r>
            <a:endParaRPr lang="en-US" sz="4000" dirty="0"/>
          </a:p>
        </p:txBody>
      </p:sp>
      <p:sp>
        <p:nvSpPr>
          <p:cNvPr id="25" name="Slide Number Placeholder 0"/>
          <p:cNvSpPr>
            <a:spLocks noGrp="1"/>
          </p:cNvSpPr>
          <p:nvPr>
            <p:ph type="sldNum" sz="quarter" idx="4294967295"/>
          </p:nvPr>
        </p:nvSpPr>
        <p:spPr>
          <a:xfrm>
            <a:off x="11091672" y="6355080"/>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49C"/>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2600" dirty="0">
                <a:solidFill>
                  <a:srgbClr val="1C2631"/>
                </a:solidFill>
                <a:latin typeface="Georgia" pitchFamily="34" charset="0"/>
                <a:ea typeface="Georgia" pitchFamily="34" charset="-122"/>
                <a:cs typeface="Georgia" pitchFamily="34" charset="-120"/>
              </a:rPr>
              <a:t>Sources</a:t>
            </a:r>
            <a:endParaRPr lang="en-US" sz="2600" dirty="0"/>
          </a:p>
        </p:txBody>
      </p:sp>
      <p:sp>
        <p:nvSpPr>
          <p:cNvPr id="3" name="Text 1"/>
          <p:cNvSpPr txBox="1"/>
          <p:nvPr/>
        </p:nvSpPr>
        <p:spPr>
          <a:xfrm>
            <a:off x="548640" y="1691640"/>
            <a:ext cx="5303520" cy="41148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6636F"/>
                </a:solidFill>
                <a:latin typeface="Arial" pitchFamily="34" charset="0"/>
                <a:ea typeface="Arial" pitchFamily="34" charset="-122"/>
                <a:cs typeface="Arial" pitchFamily="34" charset="-120"/>
              </a:rPr>
              <a:t>PJM, 2028/2029 Base Residual Auction report</a:t>
            </a:r>
            <a:endParaRPr lang="en-US" sz="1300" dirty="0"/>
          </a:p>
          <a:p>
            <a:pPr marL="342900" indent="-342900">
              <a:spcAft>
                <a:spcPts val="800"/>
              </a:spcAft>
              <a:buSzPct val="100000"/>
              <a:buChar char="•"/>
            </a:pPr>
            <a:r>
              <a:rPr lang="en-US" sz="1300" dirty="0">
                <a:solidFill>
                  <a:srgbClr val="56636F"/>
                </a:solidFill>
                <a:latin typeface="Arial" pitchFamily="34" charset="0"/>
                <a:ea typeface="Arial" pitchFamily="34" charset="-122"/>
                <a:cs typeface="Arial" pitchFamily="34" charset="-120"/>
              </a:rPr>
              <a:t>PJM Independent Market Monitor, 27 July 2026</a:t>
            </a:r>
            <a:endParaRPr lang="en-US" sz="1300" dirty="0"/>
          </a:p>
          <a:p>
            <a:pPr marL="342900" indent="-342900">
              <a:spcAft>
                <a:spcPts val="800"/>
              </a:spcAft>
              <a:buSzPct val="100000"/>
              <a:buChar char="•"/>
            </a:pPr>
            <a:r>
              <a:rPr lang="en-US" sz="1300" dirty="0">
                <a:solidFill>
                  <a:srgbClr val="56636F"/>
                </a:solidFill>
                <a:latin typeface="Arial" pitchFamily="34" charset="0"/>
                <a:ea typeface="Arial" pitchFamily="34" charset="-122"/>
                <a:cs typeface="Arial" pitchFamily="34" charset="-120"/>
              </a:rPr>
              <a:t>PJM, 2025 State of the Market report</a:t>
            </a:r>
            <a:endParaRPr lang="en-US" sz="1300" dirty="0"/>
          </a:p>
          <a:p>
            <a:pPr marL="342900" indent="-342900">
              <a:spcAft>
                <a:spcPts val="800"/>
              </a:spcAft>
              <a:buSzPct val="100000"/>
              <a:buChar char="•"/>
            </a:pPr>
            <a:r>
              <a:rPr lang="en-US" sz="1300" dirty="0">
                <a:solidFill>
                  <a:srgbClr val="56636F"/>
                </a:solidFill>
                <a:latin typeface="Arial" pitchFamily="34" charset="0"/>
                <a:ea typeface="Arial" pitchFamily="34" charset="-122"/>
                <a:cs typeface="Arial" pitchFamily="34" charset="-120"/>
              </a:rPr>
              <a:t>EPA, eGRID2023 summary tables</a:t>
            </a:r>
            <a:endParaRPr lang="en-US" sz="1300" dirty="0"/>
          </a:p>
          <a:p>
            <a:pPr marL="342900" indent="-342900">
              <a:spcAft>
                <a:spcPts val="800"/>
              </a:spcAft>
              <a:buSzPct val="100000"/>
              <a:buChar char="•"/>
            </a:pPr>
            <a:r>
              <a:rPr lang="en-US" sz="1300" dirty="0">
                <a:solidFill>
                  <a:srgbClr val="56636F"/>
                </a:solidFill>
                <a:latin typeface="Arial" pitchFamily="34" charset="0"/>
                <a:ea typeface="Arial" pitchFamily="34" charset="-122"/>
                <a:cs typeface="Arial" pitchFamily="34" charset="-120"/>
              </a:rPr>
              <a:t>Duke University, Rethinking Load Growth</a:t>
            </a:r>
            <a:endParaRPr lang="en-US" sz="1300" dirty="0"/>
          </a:p>
          <a:p>
            <a:pPr marL="342900" indent="-342900">
              <a:spcAft>
                <a:spcPts val="800"/>
              </a:spcAft>
              <a:buSzPct val="100000"/>
              <a:buChar char="•"/>
            </a:pPr>
            <a:r>
              <a:rPr lang="en-US" sz="1300" dirty="0">
                <a:solidFill>
                  <a:srgbClr val="56636F"/>
                </a:solidFill>
                <a:latin typeface="Arial" pitchFamily="34" charset="0"/>
                <a:ea typeface="Arial" pitchFamily="34" charset="-122"/>
                <a:cs typeface="Arial" pitchFamily="34" charset="-120"/>
              </a:rPr>
              <a:t>PJM Board letter on large load additions, 16 January 2026</a:t>
            </a:r>
            <a:endParaRPr lang="en-US" sz="1300" dirty="0"/>
          </a:p>
        </p:txBody>
      </p:sp>
      <p:sp>
        <p:nvSpPr>
          <p:cNvPr id="4" name="Text 2"/>
          <p:cNvSpPr txBox="1"/>
          <p:nvPr/>
        </p:nvSpPr>
        <p:spPr>
          <a:xfrm>
            <a:off x="6336792" y="1691640"/>
            <a:ext cx="5303520" cy="41148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6636F"/>
                </a:solidFill>
                <a:latin typeface="Arial" pitchFamily="34" charset="0"/>
                <a:ea typeface="Arial" pitchFamily="34" charset="-122"/>
                <a:cs typeface="Arial" pitchFamily="34" charset="-120"/>
              </a:rPr>
              <a:t>Pennsylvania DCED, GRID Standards</a:t>
            </a:r>
            <a:endParaRPr lang="en-US" sz="1300" dirty="0"/>
          </a:p>
          <a:p>
            <a:pPr marL="342900" indent="-342900">
              <a:spcAft>
                <a:spcPts val="800"/>
              </a:spcAft>
              <a:buSzPct val="100000"/>
              <a:buChar char="•"/>
            </a:pPr>
            <a:r>
              <a:rPr lang="en-US" sz="1300" dirty="0">
                <a:solidFill>
                  <a:srgbClr val="56636F"/>
                </a:solidFill>
                <a:latin typeface="Arial" pitchFamily="34" charset="0"/>
                <a:ea typeface="Arial" pitchFamily="34" charset="-122"/>
                <a:cs typeface="Arial" pitchFamily="34" charset="-120"/>
              </a:rPr>
              <a:t>EIA, capital cost report (AEO2020)</a:t>
            </a:r>
            <a:endParaRPr lang="en-US" sz="1300" dirty="0"/>
          </a:p>
          <a:p>
            <a:pPr marL="342900" indent="-342900">
              <a:spcAft>
                <a:spcPts val="800"/>
              </a:spcAft>
              <a:buSzPct val="100000"/>
              <a:buChar char="•"/>
            </a:pPr>
            <a:r>
              <a:rPr lang="en-US" sz="1300" dirty="0">
                <a:solidFill>
                  <a:srgbClr val="56636F"/>
                </a:solidFill>
                <a:latin typeface="Arial" pitchFamily="34" charset="0"/>
                <a:ea typeface="Arial" pitchFamily="34" charset="-122"/>
                <a:cs typeface="Arial" pitchFamily="34" charset="-120"/>
              </a:rPr>
              <a:t>EIA, Short-Term Energy Outlook</a:t>
            </a:r>
            <a:endParaRPr lang="en-US" sz="1300" dirty="0"/>
          </a:p>
          <a:p>
            <a:pPr marL="342900" indent="-342900">
              <a:spcAft>
                <a:spcPts val="800"/>
              </a:spcAft>
              <a:buSzPct val="100000"/>
              <a:buChar char="•"/>
            </a:pPr>
            <a:r>
              <a:rPr lang="en-US" sz="1300" dirty="0">
                <a:solidFill>
                  <a:srgbClr val="56636F"/>
                </a:solidFill>
                <a:latin typeface="Arial" pitchFamily="34" charset="0"/>
                <a:ea typeface="Arial" pitchFamily="34" charset="-122"/>
                <a:cs typeface="Arial" pitchFamily="34" charset="-120"/>
              </a:rPr>
              <a:t>NREL, 2025 battery cost update</a:t>
            </a:r>
            <a:endParaRPr lang="en-US" sz="1300" dirty="0"/>
          </a:p>
          <a:p>
            <a:pPr marL="342900" indent="-342900">
              <a:spcAft>
                <a:spcPts val="800"/>
              </a:spcAft>
              <a:buSzPct val="100000"/>
              <a:buChar char="•"/>
            </a:pPr>
            <a:r>
              <a:rPr lang="en-US" sz="1300" dirty="0">
                <a:solidFill>
                  <a:srgbClr val="56636F"/>
                </a:solidFill>
                <a:latin typeface="Arial" pitchFamily="34" charset="0"/>
                <a:ea typeface="Arial" pitchFamily="34" charset="-122"/>
                <a:cs typeface="Arial" pitchFamily="34" charset="-120"/>
              </a:rPr>
              <a:t>LevelTen PPA price index, Q4 2025</a:t>
            </a:r>
            <a:endParaRPr lang="en-US" sz="1300" dirty="0"/>
          </a:p>
          <a:p>
            <a:pPr marL="342900" indent="-342900">
              <a:spcAft>
                <a:spcPts val="800"/>
              </a:spcAft>
              <a:buSzPct val="100000"/>
              <a:buChar char="•"/>
            </a:pPr>
            <a:r>
              <a:rPr lang="en-US" sz="1300" dirty="0">
                <a:solidFill>
                  <a:srgbClr val="56636F"/>
                </a:solidFill>
                <a:latin typeface="Arial" pitchFamily="34" charset="0"/>
                <a:ea typeface="Arial" pitchFamily="34" charset="-122"/>
                <a:cs typeface="Arial" pitchFamily="34" charset="-120"/>
              </a:rPr>
              <a:t>[Add team sources]</a:t>
            </a:r>
            <a:endParaRPr lang="en-US" sz="1300" dirty="0"/>
          </a:p>
        </p:txBody>
      </p:sp>
      <p:sp>
        <p:nvSpPr>
          <p:cNvPr id="25" name="Slide Number Placeholder 0"/>
          <p:cNvSpPr>
            <a:spLocks noGrp="1"/>
          </p:cNvSpPr>
          <p:nvPr>
            <p:ph type="sldNum" sz="quarter" idx="4294967295"/>
          </p:nvPr>
        </p:nvSpPr>
        <p:spPr>
          <a:xfrm>
            <a:off x="11274552" y="6355080"/>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49C"/>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SLAM Consulting">
  <a:themeElements>
    <a:clrScheme name="SLAM Consulting">
      <a:dk1>
        <a:srgbClr val="1C2631"/>
      </a:dk1>
      <a:lt1>
        <a:srgbClr val="FFFFFF"/>
      </a:lt1>
      <a:dk2>
        <a:srgbClr val="2E3A45"/>
      </a:dk2>
      <a:lt2>
        <a:srgbClr val="EEF1EF"/>
      </a:lt2>
      <a:accent1>
        <a:srgbClr val="1F5A44"/>
      </a:accent1>
      <a:accent2>
        <a:srgbClr val="56636F"/>
      </a:accent2>
      <a:accent3>
        <a:srgbClr val="7C8892"/>
      </a:accent3>
      <a:accent4>
        <a:srgbClr val="A9B4AD"/>
      </a:accent4>
      <a:accent5>
        <a:srgbClr val="3D7A62"/>
      </a:accent5>
      <a:accent6>
        <a:srgbClr val="B9C2C8"/>
      </a:accent6>
      <a:hlink>
        <a:srgbClr val="1F5A44"/>
      </a:hlink>
      <a:folHlink>
        <a:srgbClr val="56636F"/>
      </a:folHlink>
    </a:clrScheme>
    <a:fontScheme name="SLAM Consulting">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Ironwood Data Center | SLAM Consulting</dc:title>
  <dc:subject>PptxGenJS Presentation</dc:subject>
  <dc:creator>SLAM Consulting</dc:creator>
  <cp:lastModifiedBy>SLAM Consulting</cp:lastModifiedBy>
  <cp:revision>1</cp:revision>
  <dcterms:created xsi:type="dcterms:W3CDTF">2026-10-21T22:23:52Z</dcterms:created>
  <dcterms:modified xsi:type="dcterms:W3CDTF">2026-10-21T22:23:52Z</dcterms:modified>
</cp:coreProperties>
</file>