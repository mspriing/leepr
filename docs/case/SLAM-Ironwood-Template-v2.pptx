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firm name and the decision KGE faces, then introduce each presenter and the part they cover. Keep this under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The judges should know what KGE should do and why before any analysis. Every number here must match the section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page as the agenda and as the handoff between presenters. The shaded row moves to the next section each time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Outside in lists what the grid and the state are doing to Ironwood. Inside out lists what Ironwood does to the people around it. The navy box names the one issue where the two collide, which is the problem the recommendation solves. Skip any recap the judges could recite back from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each option on the same criteria the rest of the deck uses. Speed and emissions come from the power analysis. Gas connects in about 2.5 years, the hybrid in 3 and grid only in 4. The hybrid is the only option that meets the 2035 clean step. Move the shading if the team recommends a different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presenter covering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 bar with the team model. Keep the dashed hurdle line, since it lets the judges see the answer without reading a number. The sensitivity table in the appendix backs up the last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one driver of the difference between the base plan and the recommendation. Green adds value and red takes it away. Order the steps from largest to smallest so the biggest driver reads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presenter covering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for phase 1 at 480 MW, from the Ironwood energy snapshot dated 19 October 2026. Gas looks cheapest only while the plant buys gas near the Henry Hub price. At the price Pennsylvania industrial users paid in 2024, gas costs $112 per MWh, which is above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power option for phase 1. Further left is cheaper, lower is cleaner. Amber dots meet the state 2035 clean firm step. Clean contracts add about $10 per MWh and the hybrid about $20. The hybrid also connects in about three years instead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presenter covering community, risk and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each stakeholder by how hard the project hits them and how much say they have. The shaded corner is where the plan has to win. The panel on the right pairs each of those groups with a concrete commitment. Ethics judges reward this kind of stakeholder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each numbered risk in the grid by likelihood and impact, then match the number on the right with its mitigation and owner. Start with the risk in the darkest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 each bar to the team dates and keep the amber diamond on first power. Choose KPIs that track the promises made earlier, such as clean energy share, ratepayer impact and first-power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decisions, in the same words as the executive summary. Use one row per decision KGE has to make, up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these slides when a judge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 judge asks how sure we are about the hybrid cost. The grid price is the biggest swing. The battery size is the biggest lever KGE controls, since Duke University found most grid emergencies last under about two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links for every power source are in docs/IRONWOOD-ENERGY.md in the leepr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2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241280" cy="1280160"/>
          </a:xfrm>
          <a:prstGeom prst="rect">
            <a:avLst/>
          </a:prstGeom>
          <a:noFill/>
          <a:ln/>
        </p:spPr>
        <p:txBody>
          <a:bodyPr wrap="square" rtlCol="0"/>
          <a:lstStyle>
            <a:lvl1pPr algn="l" indent="0" marL="0">
              <a:buNone/>
              <a:defRPr lang="en-US" sz="4600" dirty="0">
                <a:solidFill>
                  <a:srgbClr val="FFFFFF"/>
                </a:solidFill>
                <a:latin typeface="Georgia" pitchFamily="34" charset="0"/>
                <a:ea typeface="Georgia" pitchFamily="34" charset="-122"/>
                <a:cs typeface="Georgia" pitchFamily="34" charset="-120"/>
              </a:defRPr>
            </a:lvl1pPr>
          </a:lstStyle>
          <a:p>
            <a:pPr algn="l" indent="0" marL="0">
              <a:buNone/>
            </a:pPr>
            <a:r>
              <a:rPr lang="en-US" sz="4600" dirty="0">
                <a:solidFill>
                  <a:srgbClr val="FFFFFF"/>
                </a:solidFill>
                <a:latin typeface="Georgia" pitchFamily="34" charset="0"/>
                <a:ea typeface="Georgia" pitchFamily="34" charset="-122"/>
                <a:cs typeface="Georgia" pitchFamily="34" charset="-120"/>
              </a:rPr>
              <a:t>Title</a:t>
            </a:r>
            <a:endParaRPr lang="en-US" sz="4600" dirty="0"/>
          </a:p>
        </p:txBody>
      </p:sp>
      <p:sp>
        <p:nvSpPr>
          <p:cNvPr id="3" name="Text 0"/>
          <p:cNvSpPr/>
          <p:nvPr>
            <p:ph idx="101" type="body" hasCustomPrompt="1"/>
          </p:nvPr>
        </p:nvSpPr>
        <p:spPr>
          <a:xfrm>
            <a:off x="731520" y="3611880"/>
            <a:ext cx="10241280" cy="640080"/>
          </a:xfrm>
          <a:prstGeom prst="rect">
            <a:avLst/>
          </a:prstGeom>
          <a:noFill/>
          <a:ln/>
        </p:spPr>
        <p:txBody>
          <a:bodyPr wrap="square" rtlCol="0"/>
          <a:lstStyle>
            <a:lvl1pPr algn="l" indent="0" marL="0">
              <a:buNone/>
              <a:defRPr lang="en-US" sz="2000" dirty="0">
                <a:solidFill>
                  <a:srgbClr val="C3CCD5"/>
                </a:solidFill>
                <a:latin typeface="Arial" pitchFamily="34" charset="0"/>
                <a:ea typeface="Arial" pitchFamily="34" charset="-122"/>
                <a:cs typeface="Arial" pitchFamily="34" charset="-120"/>
              </a:defRPr>
            </a:lvl1pPr>
          </a:lstStyle>
          <a:p>
            <a:pPr algn="l" indent="0" marL="0">
              <a:buNone/>
            </a:pPr>
            <a:r>
              <a:rPr lang="en-US" sz="2000" dirty="0">
                <a:solidFill>
                  <a:srgbClr val="C3CCD5"/>
                </a:solidFill>
                <a:latin typeface="Arial" pitchFamily="34" charset="0"/>
                <a:ea typeface="Arial" pitchFamily="34" charset="-122"/>
                <a:cs typeface="Arial"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rtlCol="0"/>
          <a:lstStyle>
            <a:lvl1pPr algn="l" indent="0" marL="0">
              <a:buNone/>
              <a:defRPr lang="en-US" sz="2400" dirty="0">
                <a:solidFill>
                  <a:srgbClr val="1A2433"/>
                </a:solidFill>
                <a:latin typeface="Georgia" pitchFamily="34" charset="0"/>
                <a:ea typeface="Georgia" pitchFamily="34" charset="-122"/>
                <a:cs typeface="Georgia" pitchFamily="34" charset="-120"/>
              </a:defRPr>
            </a:lvl1pPr>
          </a:lstStyle>
          <a:p>
            <a:pPr algn="l" indent="0" marL="0">
              <a:buNone/>
            </a:pPr>
            <a:r>
              <a:rPr lang="en-US" sz="2400" dirty="0">
                <a:solidFill>
                  <a:srgbClr val="1A2433"/>
                </a:solidFill>
                <a:latin typeface="Georgia" pitchFamily="34" charset="0"/>
                <a:ea typeface="Georgia" pitchFamily="34" charset="-122"/>
                <a:cs typeface="Georgia" pitchFamily="34" charset="-120"/>
              </a:rPr>
              <a:t>Action title</a:t>
            </a:r>
            <a:endParaRPr lang="en-US" sz="2400" dirty="0"/>
          </a:p>
        </p:txBody>
      </p:sp>
      <p:sp>
        <p:nvSpPr>
          <p:cNvPr id="3" name="Text 0"/>
          <p:cNvSpPr/>
          <p:nvPr/>
        </p:nvSpPr>
        <p:spPr>
          <a:xfrm>
            <a:off x="548640" y="6419088"/>
            <a:ext cx="3657600" cy="228600"/>
          </a:xfrm>
          <a:prstGeom prst="rect">
            <a:avLst/>
          </a:prstGeom>
          <a:noFill/>
          <a:ln/>
        </p:spPr>
        <p:txBody>
          <a:bodyPr wrap="square" lIns="0" tIns="0" rIns="0" bIns="0" rtlCol="0" anchor="ctr"/>
          <a:lstStyle/>
          <a:p>
            <a:pPr indent="0" marL="0">
              <a:buNone/>
            </a:pPr>
            <a:r>
              <a:rPr lang="en-US" sz="900" b="1" dirty="0">
                <a:solidFill>
                  <a:srgbClr val="8C959D"/>
                </a:solidFill>
                <a:latin typeface="Arial" pitchFamily="34" charset="0"/>
                <a:ea typeface="Arial" pitchFamily="34" charset="-122"/>
                <a:cs typeface="Arial" pitchFamily="34" charset="-120"/>
              </a:rPr>
              <a:t>SLAM Consulting</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85800"/>
            <a:ext cx="5486400" cy="365760"/>
          </a:xfrm>
          <a:prstGeom prst="rect">
            <a:avLst/>
          </a:prstGeom>
          <a:noFill/>
          <a:ln/>
        </p:spPr>
        <p:txBody>
          <a:bodyPr wrap="square" lIns="0" tIns="0" rIns="0" bIns="0" rtlCol="0" anchor="t"/>
          <a:lstStyle/>
          <a:p>
            <a:pPr indent="0" marL="0">
              <a:buNone/>
            </a:pPr>
            <a:r>
              <a:rPr lang="en-US" sz="1400" b="1" spc="100" kern="0" dirty="0">
                <a:solidFill>
                  <a:srgbClr val="E3A21A"/>
                </a:solidFill>
                <a:latin typeface="Arial" pitchFamily="34" charset="0"/>
                <a:ea typeface="Arial" pitchFamily="34" charset="-122"/>
                <a:cs typeface="Arial" pitchFamily="34" charset="-120"/>
              </a:rPr>
              <a:t>SLAM Consulting</a:t>
            </a:r>
            <a:endParaRPr lang="en-US" sz="1400" dirty="0"/>
          </a:p>
        </p:txBody>
      </p:sp>
      <p:sp>
        <p:nvSpPr>
          <p:cNvPr id="3" name="Text 0"/>
          <p:cNvSpPr/>
          <p:nvPr>
            <p:ph idx="100" type="title" hasCustomPrompt="1"/>
          </p:nvPr>
        </p:nvSpPr>
        <p:spPr>
          <a:xfrm>
            <a:off x="731520" y="2148840"/>
            <a:ext cx="10241280" cy="1280160"/>
          </a:xfrm>
          <a:prstGeom prst="rect">
            <a:avLst/>
          </a:prstGeom>
          <a:noFill/>
          <a:ln/>
        </p:spPr>
        <p:txBody>
          <a:bodyPr wrap="square" lIns="0" tIns="0" rIns="0" bIns="0" rtlCol="0" anchor="b"/>
          <a:lstStyle/>
          <a:p>
            <a:pPr algn="l" indent="0" marL="0">
              <a:buNone/>
            </a:pPr>
            <a:r>
              <a:rPr lang="en-US" sz="4600" dirty="0">
                <a:solidFill>
                  <a:srgbClr val="FFFFFF"/>
                </a:solidFill>
                <a:latin typeface="Georgia" pitchFamily="34" charset="0"/>
                <a:ea typeface="Georgia" pitchFamily="34" charset="-122"/>
                <a:cs typeface="Georgia" pitchFamily="34" charset="-120"/>
              </a:rPr>
              <a:t>Ironwood Data Center</a:t>
            </a:r>
            <a:endParaRPr lang="en-US" sz="4600" dirty="0"/>
          </a:p>
        </p:txBody>
      </p:sp>
      <p:sp>
        <p:nvSpPr>
          <p:cNvPr id="4" name="Text 0"/>
          <p:cNvSpPr/>
          <p:nvPr>
            <p:ph idx="101" type="body" hasCustomPrompt="1"/>
          </p:nvPr>
        </p:nvSpPr>
        <p:spPr>
          <a:xfrm>
            <a:off x="731520" y="3611880"/>
            <a:ext cx="10241280" cy="640080"/>
          </a:xfrm>
          <a:prstGeom prst="rect">
            <a:avLst/>
          </a:prstGeom>
          <a:noFill/>
          <a:ln/>
        </p:spPr>
        <p:txBody>
          <a:bodyPr wrap="square" lIns="0" tIns="0" rIns="0" bIns="0" rtlCol="0" anchor="t"/>
          <a:lstStyle/>
          <a:p>
            <a:pPr algn="l" indent="0" marL="0">
              <a:buNone/>
            </a:pPr>
            <a:r>
              <a:rPr lang="en-US" sz="2000" dirty="0">
                <a:solidFill>
                  <a:srgbClr val="C3CCD5"/>
                </a:solidFill>
                <a:latin typeface="Arial" pitchFamily="34" charset="0"/>
                <a:ea typeface="Arial" pitchFamily="34" charset="-122"/>
                <a:cs typeface="Arial" pitchFamily="34" charset="-120"/>
              </a:rPr>
              <a:t>A recommendation to KGE leadership</a:t>
            </a:r>
            <a:endParaRPr lang="en-US" sz="2000" dirty="0"/>
          </a:p>
        </p:txBody>
      </p:sp>
      <p:sp>
        <p:nvSpPr>
          <p:cNvPr id="5" name="Shape 3"/>
          <p:cNvSpPr/>
          <p:nvPr/>
        </p:nvSpPr>
        <p:spPr>
          <a:xfrm>
            <a:off x="731520" y="5120640"/>
            <a:ext cx="10725912" cy="0"/>
          </a:xfrm>
          <a:prstGeom prst="line">
            <a:avLst/>
          </a:prstGeom>
          <a:noFill/>
          <a:ln w="9525">
            <a:solidFill>
              <a:srgbClr val="34475C"/>
            </a:solidFill>
            <a:prstDash val="solid"/>
          </a:ln>
        </p:spPr>
      </p:sp>
      <p:sp>
        <p:nvSpPr>
          <p:cNvPr id="6" name="Text 4"/>
          <p:cNvSpPr txBox="1"/>
          <p:nvPr/>
        </p:nvSpPr>
        <p:spPr>
          <a:xfrm>
            <a:off x="731520" y="5303520"/>
            <a:ext cx="2377440" cy="274320"/>
          </a:xfrm>
          <a:prstGeom prst="rect">
            <a:avLst/>
          </a:prstGeom>
          <a:noFill/>
          <a:ln/>
        </p:spPr>
        <p:txBody>
          <a:bodyPr wrap="square" lIns="0" tIns="0" rIns="0" bIns="0" rtlCol="0" anchor="t"/>
          <a:lstStyle/>
          <a:p>
            <a:pPr indent="0" marL="0">
              <a:buNone/>
            </a:pPr>
            <a:r>
              <a:rPr lang="en-US" sz="1100" dirty="0">
                <a:solidFill>
                  <a:srgbClr val="8FA0B2"/>
                </a:solidFill>
                <a:latin typeface="Arial" pitchFamily="34" charset="0"/>
                <a:ea typeface="Arial" pitchFamily="34" charset="-122"/>
                <a:cs typeface="Arial" pitchFamily="34" charset="-120"/>
              </a:rPr>
              <a:t>Site</a:t>
            </a:r>
            <a:endParaRPr lang="en-US" sz="1100" dirty="0"/>
          </a:p>
        </p:txBody>
      </p:sp>
      <p:sp>
        <p:nvSpPr>
          <p:cNvPr id="7" name="Text 5"/>
          <p:cNvSpPr txBox="1"/>
          <p:nvPr/>
        </p:nvSpPr>
        <p:spPr>
          <a:xfrm>
            <a:off x="731520" y="5596128"/>
            <a:ext cx="2377440" cy="3657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Upper Mount Bethel, PA</a:t>
            </a:r>
            <a:endParaRPr lang="en-US" sz="1500" dirty="0"/>
          </a:p>
        </p:txBody>
      </p:sp>
      <p:sp>
        <p:nvSpPr>
          <p:cNvPr id="8" name="Text 6"/>
          <p:cNvSpPr txBox="1"/>
          <p:nvPr/>
        </p:nvSpPr>
        <p:spPr>
          <a:xfrm>
            <a:off x="3474720" y="5303520"/>
            <a:ext cx="2377440" cy="274320"/>
          </a:xfrm>
          <a:prstGeom prst="rect">
            <a:avLst/>
          </a:prstGeom>
          <a:noFill/>
          <a:ln/>
        </p:spPr>
        <p:txBody>
          <a:bodyPr wrap="square" lIns="0" tIns="0" rIns="0" bIns="0" rtlCol="0" anchor="t"/>
          <a:lstStyle/>
          <a:p>
            <a:pPr indent="0" marL="0">
              <a:buNone/>
            </a:pPr>
            <a:r>
              <a:rPr lang="en-US" sz="1100" dirty="0">
                <a:solidFill>
                  <a:srgbClr val="8FA0B2"/>
                </a:solidFill>
                <a:latin typeface="Arial" pitchFamily="34" charset="0"/>
                <a:ea typeface="Arial" pitchFamily="34" charset="-122"/>
                <a:cs typeface="Arial" pitchFamily="34" charset="-120"/>
              </a:rPr>
              <a:t>Phase 1</a:t>
            </a:r>
            <a:endParaRPr lang="en-US" sz="1100" dirty="0"/>
          </a:p>
        </p:txBody>
      </p:sp>
      <p:sp>
        <p:nvSpPr>
          <p:cNvPr id="9" name="Text 7"/>
          <p:cNvSpPr txBox="1"/>
          <p:nvPr/>
        </p:nvSpPr>
        <p:spPr>
          <a:xfrm>
            <a:off x="3474720" y="5596128"/>
            <a:ext cx="2377440" cy="3657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480 MW</a:t>
            </a:r>
            <a:endParaRPr lang="en-US" sz="1500" dirty="0"/>
          </a:p>
        </p:txBody>
      </p:sp>
      <p:sp>
        <p:nvSpPr>
          <p:cNvPr id="10" name="Text 8"/>
          <p:cNvSpPr txBox="1"/>
          <p:nvPr/>
        </p:nvSpPr>
        <p:spPr>
          <a:xfrm>
            <a:off x="5577840" y="5303520"/>
            <a:ext cx="2377440" cy="274320"/>
          </a:xfrm>
          <a:prstGeom prst="rect">
            <a:avLst/>
          </a:prstGeom>
          <a:noFill/>
          <a:ln/>
        </p:spPr>
        <p:txBody>
          <a:bodyPr wrap="square" lIns="0" tIns="0" rIns="0" bIns="0" rtlCol="0" anchor="t"/>
          <a:lstStyle/>
          <a:p>
            <a:pPr indent="0" marL="0">
              <a:buNone/>
            </a:pPr>
            <a:r>
              <a:rPr lang="en-US" sz="1100" dirty="0">
                <a:solidFill>
                  <a:srgbClr val="8FA0B2"/>
                </a:solidFill>
                <a:latin typeface="Arial" pitchFamily="34" charset="0"/>
                <a:ea typeface="Arial" pitchFamily="34" charset="-122"/>
                <a:cs typeface="Arial" pitchFamily="34" charset="-120"/>
              </a:rPr>
              <a:t>Full campus</a:t>
            </a:r>
            <a:endParaRPr lang="en-US" sz="1100" dirty="0"/>
          </a:p>
        </p:txBody>
      </p:sp>
      <p:sp>
        <p:nvSpPr>
          <p:cNvPr id="11" name="Text 9"/>
          <p:cNvSpPr txBox="1"/>
          <p:nvPr/>
        </p:nvSpPr>
        <p:spPr>
          <a:xfrm>
            <a:off x="5577840" y="5596128"/>
            <a:ext cx="2377440" cy="3657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2,000 MW</a:t>
            </a:r>
            <a:endParaRPr lang="en-US" sz="1500" dirty="0"/>
          </a:p>
        </p:txBody>
      </p:sp>
      <p:sp>
        <p:nvSpPr>
          <p:cNvPr id="12" name="Text 10"/>
          <p:cNvSpPr txBox="1"/>
          <p:nvPr/>
        </p:nvSpPr>
        <p:spPr>
          <a:xfrm>
            <a:off x="7680960" y="5303520"/>
            <a:ext cx="2377440" cy="274320"/>
          </a:xfrm>
          <a:prstGeom prst="rect">
            <a:avLst/>
          </a:prstGeom>
          <a:noFill/>
          <a:ln/>
        </p:spPr>
        <p:txBody>
          <a:bodyPr wrap="square" lIns="0" tIns="0" rIns="0" bIns="0" rtlCol="0" anchor="t"/>
          <a:lstStyle/>
          <a:p>
            <a:pPr indent="0" marL="0">
              <a:buNone/>
            </a:pPr>
            <a:r>
              <a:rPr lang="en-US" sz="1100" dirty="0">
                <a:solidFill>
                  <a:srgbClr val="8FA0B2"/>
                </a:solidFill>
                <a:latin typeface="Arial" pitchFamily="34" charset="0"/>
                <a:ea typeface="Arial" pitchFamily="34" charset="-122"/>
                <a:cs typeface="Arial" pitchFamily="34" charset="-120"/>
              </a:rPr>
              <a:t>Team</a:t>
            </a:r>
            <a:endParaRPr lang="en-US" sz="1100" dirty="0"/>
          </a:p>
        </p:txBody>
      </p:sp>
      <p:sp>
        <p:nvSpPr>
          <p:cNvPr id="13" name="Text 11"/>
          <p:cNvSpPr txBox="1"/>
          <p:nvPr/>
        </p:nvSpPr>
        <p:spPr>
          <a:xfrm>
            <a:off x="7680960" y="5596128"/>
            <a:ext cx="4480560" cy="3657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[Name], [Name], [Name], [Name]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[Recommendation in one sentence and the reason that wins it]</a:t>
            </a:r>
            <a:endParaRPr lang="en-US" sz="2400" dirty="0"/>
          </a:p>
        </p:txBody>
      </p:sp>
      <p:sp>
        <p:nvSpPr>
          <p:cNvPr id="3" name="Answer box"/>
          <p:cNvSpPr/>
          <p:nvPr/>
        </p:nvSpPr>
        <p:spPr>
          <a:xfrm>
            <a:off x="548640" y="1600200"/>
            <a:ext cx="3931920" cy="4251960"/>
          </a:xfrm>
          <a:prstGeom prst="rect">
            <a:avLst/>
          </a:prstGeom>
          <a:solidFill>
            <a:srgbClr val="0E2238"/>
          </a:solidFill>
          <a:ln/>
        </p:spPr>
      </p:sp>
      <p:sp>
        <p:nvSpPr>
          <p:cNvPr id="4" name="Text 2"/>
          <p:cNvSpPr txBox="1"/>
          <p:nvPr/>
        </p:nvSpPr>
        <p:spPr>
          <a:xfrm>
            <a:off x="868680" y="1874520"/>
            <a:ext cx="3291840" cy="320040"/>
          </a:xfrm>
          <a:prstGeom prst="rect">
            <a:avLst/>
          </a:prstGeom>
          <a:noFill/>
          <a:ln/>
        </p:spPr>
        <p:txBody>
          <a:bodyPr wrap="square" lIns="0" tIns="0" rIns="0" bIns="0" rtlCol="0" anchor="t"/>
          <a:lstStyle/>
          <a:p>
            <a:pPr indent="0" marL="0">
              <a:buNone/>
            </a:pPr>
            <a:r>
              <a:rPr lang="en-US" sz="1300" b="1" dirty="0">
                <a:solidFill>
                  <a:srgbClr val="E3A21A"/>
                </a:solidFill>
                <a:latin typeface="Arial" pitchFamily="34" charset="0"/>
                <a:ea typeface="Arial" pitchFamily="34" charset="-122"/>
                <a:cs typeface="Arial" pitchFamily="34" charset="-120"/>
              </a:rPr>
              <a:t>We recommend</a:t>
            </a:r>
            <a:endParaRPr lang="en-US" sz="1300" dirty="0"/>
          </a:p>
        </p:txBody>
      </p:sp>
      <p:sp>
        <p:nvSpPr>
          <p:cNvPr id="5" name="Text 3"/>
          <p:cNvSpPr txBox="1"/>
          <p:nvPr/>
        </p:nvSpPr>
        <p:spPr>
          <a:xfrm>
            <a:off x="868680" y="2286000"/>
            <a:ext cx="3291840" cy="2194560"/>
          </a:xfrm>
          <a:prstGeom prst="rect">
            <a:avLst/>
          </a:prstGeom>
          <a:noFill/>
          <a:ln/>
        </p:spPr>
        <p:txBody>
          <a:bodyPr wrap="square" lIns="0" tIns="0" rIns="0" bIns="0" rtlCol="0" anchor="t"/>
          <a:lstStyle/>
          <a:p>
            <a:pPr indent="0" marL="0">
              <a:buNone/>
            </a:pPr>
            <a:r>
              <a:rPr lang="en-US" sz="2400" dirty="0">
                <a:solidFill>
                  <a:srgbClr val="FFFFFF"/>
                </a:solidFill>
                <a:latin typeface="Georgia" pitchFamily="34" charset="0"/>
                <a:ea typeface="Georgia" pitchFamily="34" charset="-122"/>
                <a:cs typeface="Georgia" pitchFamily="34" charset="-120"/>
              </a:rPr>
              <a:t>[What KGE should do, stated as one decision]</a:t>
            </a:r>
            <a:endParaRPr lang="en-US" sz="2400" dirty="0"/>
          </a:p>
        </p:txBody>
      </p:sp>
      <p:sp>
        <p:nvSpPr>
          <p:cNvPr id="6" name="Shape 4"/>
          <p:cNvSpPr/>
          <p:nvPr/>
        </p:nvSpPr>
        <p:spPr>
          <a:xfrm>
            <a:off x="868680" y="4800600"/>
            <a:ext cx="3291840" cy="0"/>
          </a:xfrm>
          <a:prstGeom prst="line">
            <a:avLst/>
          </a:prstGeom>
          <a:noFill/>
          <a:ln w="9525">
            <a:solidFill>
              <a:srgbClr val="34475C"/>
            </a:solidFill>
            <a:prstDash val="solid"/>
          </a:ln>
        </p:spPr>
      </p:sp>
      <p:sp>
        <p:nvSpPr>
          <p:cNvPr id="7" name="Text 5"/>
          <p:cNvSpPr txBox="1"/>
          <p:nvPr/>
        </p:nvSpPr>
        <p:spPr>
          <a:xfrm>
            <a:off x="868680" y="4937760"/>
            <a:ext cx="3291840" cy="731520"/>
          </a:xfrm>
          <a:prstGeom prst="rect">
            <a:avLst/>
          </a:prstGeom>
          <a:noFill/>
          <a:ln/>
        </p:spPr>
        <p:txBody>
          <a:bodyPr wrap="square" lIns="0" tIns="0" rIns="0" bIns="0" rtlCol="0" anchor="t"/>
          <a:lstStyle/>
          <a:p>
            <a:pPr indent="0" marL="0">
              <a:buNone/>
            </a:pPr>
            <a:r>
              <a:rPr lang="en-US" sz="1300" dirty="0">
                <a:solidFill>
                  <a:srgbClr val="C3CCD5"/>
                </a:solidFill>
                <a:latin typeface="Arial" pitchFamily="34" charset="0"/>
                <a:ea typeface="Arial" pitchFamily="34" charset="-122"/>
                <a:cs typeface="Arial" pitchFamily="34" charset="-120"/>
              </a:rPr>
              <a:t>[The first step KGE approves today and when it happens]</a:t>
            </a:r>
            <a:endParaRPr lang="en-US" sz="1300" dirty="0"/>
          </a:p>
        </p:txBody>
      </p:sp>
      <p:sp>
        <p:nvSpPr>
          <p:cNvPr id="8" name="Text 6"/>
          <p:cNvSpPr txBox="1"/>
          <p:nvPr/>
        </p:nvSpPr>
        <p:spPr>
          <a:xfrm>
            <a:off x="4892040" y="1819656"/>
            <a:ext cx="1554480" cy="365760"/>
          </a:xfrm>
          <a:prstGeom prst="rect">
            <a:avLst/>
          </a:prstGeom>
          <a:noFill/>
          <a:ln/>
        </p:spPr>
        <p:txBody>
          <a:bodyPr wrap="square" lIns="0" tIns="0" rIns="0" bIns="0" rtlCol="0" anchor="t"/>
          <a:lstStyle/>
          <a:p>
            <a:pPr indent="0" marL="0">
              <a:buNone/>
            </a:pPr>
            <a:r>
              <a:rPr lang="en-US" sz="1500" b="1" dirty="0">
                <a:solidFill>
                  <a:srgbClr val="0E2238"/>
                </a:solidFill>
                <a:latin typeface="Arial" pitchFamily="34" charset="0"/>
                <a:ea typeface="Arial" pitchFamily="34" charset="-122"/>
                <a:cs typeface="Arial" pitchFamily="34" charset="-120"/>
              </a:rPr>
              <a:t>Returns</a:t>
            </a:r>
            <a:endParaRPr lang="en-US" sz="1500" dirty="0"/>
          </a:p>
        </p:txBody>
      </p:sp>
      <p:sp>
        <p:nvSpPr>
          <p:cNvPr id="9" name="Text 7"/>
          <p:cNvSpPr txBox="1"/>
          <p:nvPr/>
        </p:nvSpPr>
        <p:spPr>
          <a:xfrm>
            <a:off x="6492240" y="1819656"/>
            <a:ext cx="3474720" cy="73152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[IRR against the 10% hurdle and what drives it]</a:t>
            </a:r>
            <a:endParaRPr lang="en-US" sz="1400" dirty="0"/>
          </a:p>
        </p:txBody>
      </p:sp>
      <p:sp>
        <p:nvSpPr>
          <p:cNvPr id="10" name="Text 8"/>
          <p:cNvSpPr txBox="1"/>
          <p:nvPr/>
        </p:nvSpPr>
        <p:spPr>
          <a:xfrm>
            <a:off x="10058400" y="1746504"/>
            <a:ext cx="1581912" cy="502920"/>
          </a:xfrm>
          <a:prstGeom prst="rect">
            <a:avLst/>
          </a:prstGeom>
          <a:noFill/>
          <a:ln/>
        </p:spPr>
        <p:txBody>
          <a:bodyPr wrap="square" lIns="0" tIns="0" rIns="0" bIns="0" rtlCol="0" anchor="t"/>
          <a:lstStyle/>
          <a:p>
            <a:pPr algn="r" indent="0" marL="0">
              <a:buNone/>
            </a:pPr>
            <a:r>
              <a:rPr lang="en-US" sz="2400" dirty="0">
                <a:solidFill>
                  <a:srgbClr val="1A2433"/>
                </a:solidFill>
                <a:latin typeface="Georgia" pitchFamily="34" charset="0"/>
                <a:ea typeface="Georgia" pitchFamily="34" charset="-122"/>
                <a:cs typeface="Georgia" pitchFamily="34" charset="-120"/>
              </a:rPr>
              <a:t>[ %]</a:t>
            </a:r>
            <a:endParaRPr lang="en-US" sz="2400" dirty="0"/>
          </a:p>
        </p:txBody>
      </p:sp>
      <p:sp>
        <p:nvSpPr>
          <p:cNvPr id="11" name="Shape 9"/>
          <p:cNvSpPr/>
          <p:nvPr/>
        </p:nvSpPr>
        <p:spPr>
          <a:xfrm>
            <a:off x="4892040" y="2660904"/>
            <a:ext cx="6748272" cy="0"/>
          </a:xfrm>
          <a:prstGeom prst="line">
            <a:avLst/>
          </a:prstGeom>
          <a:noFill/>
          <a:ln w="9525">
            <a:solidFill>
              <a:srgbClr val="D3D6D2"/>
            </a:solidFill>
            <a:prstDash val="solid"/>
          </a:ln>
        </p:spPr>
      </p:sp>
      <p:sp>
        <p:nvSpPr>
          <p:cNvPr id="12" name="Text 10"/>
          <p:cNvSpPr txBox="1"/>
          <p:nvPr/>
        </p:nvSpPr>
        <p:spPr>
          <a:xfrm>
            <a:off x="4892040" y="2880360"/>
            <a:ext cx="1554480" cy="365760"/>
          </a:xfrm>
          <a:prstGeom prst="rect">
            <a:avLst/>
          </a:prstGeom>
          <a:noFill/>
          <a:ln/>
        </p:spPr>
        <p:txBody>
          <a:bodyPr wrap="square" lIns="0" tIns="0" rIns="0" bIns="0" rtlCol="0" anchor="t"/>
          <a:lstStyle/>
          <a:p>
            <a:pPr indent="0" marL="0">
              <a:buNone/>
            </a:pPr>
            <a:r>
              <a:rPr lang="en-US" sz="1500" b="1" dirty="0">
                <a:solidFill>
                  <a:srgbClr val="0E2238"/>
                </a:solidFill>
                <a:latin typeface="Arial" pitchFamily="34" charset="0"/>
                <a:ea typeface="Arial" pitchFamily="34" charset="-122"/>
                <a:cs typeface="Arial" pitchFamily="34" charset="-120"/>
              </a:rPr>
              <a:t>Power</a:t>
            </a:r>
            <a:endParaRPr lang="en-US" sz="1500" dirty="0"/>
          </a:p>
        </p:txBody>
      </p:sp>
      <p:sp>
        <p:nvSpPr>
          <p:cNvPr id="13" name="Text 11"/>
          <p:cNvSpPr txBox="1"/>
          <p:nvPr/>
        </p:nvSpPr>
        <p:spPr>
          <a:xfrm>
            <a:off x="6492240" y="2880360"/>
            <a:ext cx="3474720" cy="73152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[Supply option, cost per MWh and first-power year]</a:t>
            </a:r>
            <a:endParaRPr lang="en-US" sz="1400" dirty="0"/>
          </a:p>
        </p:txBody>
      </p:sp>
      <p:sp>
        <p:nvSpPr>
          <p:cNvPr id="14" name="Text 12"/>
          <p:cNvSpPr txBox="1"/>
          <p:nvPr/>
        </p:nvSpPr>
        <p:spPr>
          <a:xfrm>
            <a:off x="10058400" y="2807208"/>
            <a:ext cx="1581912" cy="502920"/>
          </a:xfrm>
          <a:prstGeom prst="rect">
            <a:avLst/>
          </a:prstGeom>
          <a:noFill/>
          <a:ln/>
        </p:spPr>
        <p:txBody>
          <a:bodyPr wrap="square" lIns="0" tIns="0" rIns="0" bIns="0" rtlCol="0" anchor="t"/>
          <a:lstStyle/>
          <a:p>
            <a:pPr algn="r" indent="0" marL="0">
              <a:buNone/>
            </a:pPr>
            <a:r>
              <a:rPr lang="en-US" sz="2400" dirty="0">
                <a:solidFill>
                  <a:srgbClr val="1A2433"/>
                </a:solidFill>
                <a:latin typeface="Georgia" pitchFamily="34" charset="0"/>
                <a:ea typeface="Georgia" pitchFamily="34" charset="-122"/>
                <a:cs typeface="Georgia" pitchFamily="34" charset="-120"/>
              </a:rPr>
              <a:t>[$ /MWh]</a:t>
            </a:r>
            <a:endParaRPr lang="en-US" sz="2400" dirty="0"/>
          </a:p>
        </p:txBody>
      </p:sp>
      <p:sp>
        <p:nvSpPr>
          <p:cNvPr id="15" name="Shape 13"/>
          <p:cNvSpPr/>
          <p:nvPr/>
        </p:nvSpPr>
        <p:spPr>
          <a:xfrm>
            <a:off x="4892040" y="3721608"/>
            <a:ext cx="6748272" cy="0"/>
          </a:xfrm>
          <a:prstGeom prst="line">
            <a:avLst/>
          </a:prstGeom>
          <a:noFill/>
          <a:ln w="9525">
            <a:solidFill>
              <a:srgbClr val="D3D6D2"/>
            </a:solidFill>
            <a:prstDash val="solid"/>
          </a:ln>
        </p:spPr>
      </p:sp>
      <p:sp>
        <p:nvSpPr>
          <p:cNvPr id="16" name="Text 14"/>
          <p:cNvSpPr txBox="1"/>
          <p:nvPr/>
        </p:nvSpPr>
        <p:spPr>
          <a:xfrm>
            <a:off x="4892040" y="3941064"/>
            <a:ext cx="1554480" cy="365760"/>
          </a:xfrm>
          <a:prstGeom prst="rect">
            <a:avLst/>
          </a:prstGeom>
          <a:noFill/>
          <a:ln/>
        </p:spPr>
        <p:txBody>
          <a:bodyPr wrap="square" lIns="0" tIns="0" rIns="0" bIns="0" rtlCol="0" anchor="t"/>
          <a:lstStyle/>
          <a:p>
            <a:pPr indent="0" marL="0">
              <a:buNone/>
            </a:pPr>
            <a:r>
              <a:rPr lang="en-US" sz="1500" b="1" dirty="0">
                <a:solidFill>
                  <a:srgbClr val="0E2238"/>
                </a:solidFill>
                <a:latin typeface="Arial" pitchFamily="34" charset="0"/>
                <a:ea typeface="Arial" pitchFamily="34" charset="-122"/>
                <a:cs typeface="Arial" pitchFamily="34" charset="-120"/>
              </a:rPr>
              <a:t>Community</a:t>
            </a:r>
            <a:endParaRPr lang="en-US" sz="1500" dirty="0"/>
          </a:p>
        </p:txBody>
      </p:sp>
      <p:sp>
        <p:nvSpPr>
          <p:cNvPr id="17" name="Text 15"/>
          <p:cNvSpPr txBox="1"/>
          <p:nvPr/>
        </p:nvSpPr>
        <p:spPr>
          <a:xfrm>
            <a:off x="6492240" y="3941064"/>
            <a:ext cx="3474720" cy="73152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[Who carries the cost and what KGE commits to]</a:t>
            </a:r>
            <a:endParaRPr lang="en-US" sz="1400" dirty="0"/>
          </a:p>
        </p:txBody>
      </p:sp>
      <p:sp>
        <p:nvSpPr>
          <p:cNvPr id="18" name="Text 16"/>
          <p:cNvSpPr txBox="1"/>
          <p:nvPr/>
        </p:nvSpPr>
        <p:spPr>
          <a:xfrm>
            <a:off x="10058400" y="3867912"/>
            <a:ext cx="1581912" cy="502920"/>
          </a:xfrm>
          <a:prstGeom prst="rect">
            <a:avLst/>
          </a:prstGeom>
          <a:noFill/>
          <a:ln/>
        </p:spPr>
        <p:txBody>
          <a:bodyPr wrap="square" lIns="0" tIns="0" rIns="0" bIns="0" rtlCol="0" anchor="t"/>
          <a:lstStyle/>
          <a:p>
            <a:pPr algn="r" indent="0" marL="0">
              <a:buNone/>
            </a:pPr>
            <a:r>
              <a:rPr lang="en-US" sz="2400" dirty="0">
                <a:solidFill>
                  <a:srgbClr val="1A2433"/>
                </a:solidFill>
                <a:latin typeface="Georgia" pitchFamily="34" charset="0"/>
                <a:ea typeface="Georgia" pitchFamily="34" charset="-122"/>
                <a:cs typeface="Georgia" pitchFamily="34" charset="-120"/>
              </a:rPr>
              <a:t>[$ M]</a:t>
            </a:r>
            <a:endParaRPr lang="en-US" sz="2400" dirty="0"/>
          </a:p>
        </p:txBody>
      </p:sp>
      <p:sp>
        <p:nvSpPr>
          <p:cNvPr id="19" name="Shape 17"/>
          <p:cNvSpPr/>
          <p:nvPr/>
        </p:nvSpPr>
        <p:spPr>
          <a:xfrm>
            <a:off x="4892040" y="4782312"/>
            <a:ext cx="6748272" cy="0"/>
          </a:xfrm>
          <a:prstGeom prst="line">
            <a:avLst/>
          </a:prstGeom>
          <a:noFill/>
          <a:ln w="9525">
            <a:solidFill>
              <a:srgbClr val="D3D6D2"/>
            </a:solidFill>
            <a:prstDash val="solid"/>
          </a:ln>
        </p:spPr>
      </p:sp>
      <p:sp>
        <p:nvSpPr>
          <p:cNvPr id="20" name="Text 18"/>
          <p:cNvSpPr txBox="1"/>
          <p:nvPr/>
        </p:nvSpPr>
        <p:spPr>
          <a:xfrm>
            <a:off x="4892040" y="5001768"/>
            <a:ext cx="1554480" cy="365760"/>
          </a:xfrm>
          <a:prstGeom prst="rect">
            <a:avLst/>
          </a:prstGeom>
          <a:noFill/>
          <a:ln/>
        </p:spPr>
        <p:txBody>
          <a:bodyPr wrap="square" lIns="0" tIns="0" rIns="0" bIns="0" rtlCol="0" anchor="t"/>
          <a:lstStyle/>
          <a:p>
            <a:pPr indent="0" marL="0">
              <a:buNone/>
            </a:pPr>
            <a:r>
              <a:rPr lang="en-US" sz="1500" b="1" dirty="0">
                <a:solidFill>
                  <a:srgbClr val="0E2238"/>
                </a:solidFill>
                <a:latin typeface="Arial" pitchFamily="34" charset="0"/>
                <a:ea typeface="Arial" pitchFamily="34" charset="-122"/>
                <a:cs typeface="Arial" pitchFamily="34" charset="-120"/>
              </a:rPr>
              <a:t>Risk</a:t>
            </a:r>
            <a:endParaRPr lang="en-US" sz="1500" dirty="0"/>
          </a:p>
        </p:txBody>
      </p:sp>
      <p:sp>
        <p:nvSpPr>
          <p:cNvPr id="21" name="Text 19"/>
          <p:cNvSpPr txBox="1"/>
          <p:nvPr/>
        </p:nvSpPr>
        <p:spPr>
          <a:xfrm>
            <a:off x="6492240" y="5001768"/>
            <a:ext cx="3474720" cy="73152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[Largest risk and how the plan contains it]</a:t>
            </a:r>
            <a:endParaRPr lang="en-US" sz="1400" dirty="0"/>
          </a:p>
        </p:txBody>
      </p:sp>
      <p:sp>
        <p:nvSpPr>
          <p:cNvPr id="22" name="Text 20"/>
          <p:cNvSpPr txBox="1"/>
          <p:nvPr/>
        </p:nvSpPr>
        <p:spPr>
          <a:xfrm>
            <a:off x="10058400" y="4928616"/>
            <a:ext cx="1581912" cy="502920"/>
          </a:xfrm>
          <a:prstGeom prst="rect">
            <a:avLst/>
          </a:prstGeom>
          <a:noFill/>
          <a:ln/>
        </p:spPr>
        <p:txBody>
          <a:bodyPr wrap="square" lIns="0" tIns="0" rIns="0" bIns="0" rtlCol="0" anchor="t"/>
          <a:lstStyle/>
          <a:p>
            <a:pPr algn="r" indent="0" marL="0">
              <a:buNone/>
            </a:pPr>
            <a:r>
              <a:rPr lang="en-US" sz="2400" dirty="0">
                <a:solidFill>
                  <a:srgbClr val="1A2433"/>
                </a:solidFill>
                <a:latin typeface="Georgia" pitchFamily="34" charset="0"/>
                <a:ea typeface="Georgia" pitchFamily="34" charset="-122"/>
                <a:cs typeface="Georgia" pitchFamily="34" charset="-120"/>
              </a:rPr>
              <a:t>[ ]</a:t>
            </a:r>
            <a:endParaRPr lang="en-US" sz="24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Agenda</a:t>
            </a:r>
            <a:endParaRPr lang="en-US" sz="2400" dirty="0"/>
          </a:p>
        </p:txBody>
      </p:sp>
      <p:sp>
        <p:nvSpPr>
          <p:cNvPr id="3" name="Current section"/>
          <p:cNvSpPr/>
          <p:nvPr/>
        </p:nvSpPr>
        <p:spPr>
          <a:xfrm>
            <a:off x="548640" y="1691640"/>
            <a:ext cx="11091672" cy="960120"/>
          </a:xfrm>
          <a:prstGeom prst="rect">
            <a:avLst/>
          </a:prstGeom>
          <a:solidFill>
            <a:srgbClr val="FBF0D6"/>
          </a:solidFill>
          <a:ln/>
        </p:spPr>
      </p:sp>
      <p:sp>
        <p:nvSpPr>
          <p:cNvPr id="4" name="Shape 2"/>
          <p:cNvSpPr/>
          <p:nvPr/>
        </p:nvSpPr>
        <p:spPr>
          <a:xfrm>
            <a:off x="548640" y="1691640"/>
            <a:ext cx="11091672" cy="0"/>
          </a:xfrm>
          <a:prstGeom prst="line">
            <a:avLst/>
          </a:prstGeom>
          <a:noFill/>
          <a:ln w="15875">
            <a:solidFill>
              <a:srgbClr val="E3A21A"/>
            </a:solidFill>
            <a:prstDash val="solid"/>
          </a:ln>
        </p:spPr>
      </p:sp>
      <p:sp>
        <p:nvSpPr>
          <p:cNvPr id="5" name="Text 3"/>
          <p:cNvSpPr txBox="1"/>
          <p:nvPr/>
        </p:nvSpPr>
        <p:spPr>
          <a:xfrm>
            <a:off x="822960" y="1947672"/>
            <a:ext cx="548640" cy="502920"/>
          </a:xfrm>
          <a:prstGeom prst="rect">
            <a:avLst/>
          </a:prstGeom>
          <a:noFill/>
          <a:ln/>
        </p:spPr>
        <p:txBody>
          <a:bodyPr wrap="square" lIns="0" tIns="0" rIns="0" bIns="0" rtlCol="0" anchor="t"/>
          <a:lstStyle/>
          <a:p>
            <a:pPr indent="0" marL="0">
              <a:buNone/>
            </a:pPr>
            <a:r>
              <a:rPr lang="en-US" sz="2600" dirty="0">
                <a:solidFill>
                  <a:srgbClr val="0E2238"/>
                </a:solidFill>
                <a:latin typeface="Georgia" pitchFamily="34" charset="0"/>
                <a:ea typeface="Georgia" pitchFamily="34" charset="-122"/>
                <a:cs typeface="Georgia" pitchFamily="34" charset="-120"/>
              </a:rPr>
              <a:t>1</a:t>
            </a:r>
            <a:endParaRPr lang="en-US" sz="2600" dirty="0"/>
          </a:p>
        </p:txBody>
      </p:sp>
      <p:sp>
        <p:nvSpPr>
          <p:cNvPr id="6" name="Text 4"/>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b="1" dirty="0">
                <a:solidFill>
                  <a:srgbClr val="1A2433"/>
                </a:solidFill>
                <a:latin typeface="Arial" pitchFamily="34" charset="0"/>
                <a:ea typeface="Arial" pitchFamily="34" charset="-122"/>
                <a:cs typeface="Arial" pitchFamily="34" charset="-120"/>
              </a:rPr>
              <a:t>Recommendation and situation</a:t>
            </a:r>
            <a:endParaRPr lang="en-US" sz="2000" dirty="0"/>
          </a:p>
        </p:txBody>
      </p:sp>
      <p:sp>
        <p:nvSpPr>
          <p:cNvPr id="7" name="Text 5"/>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[Presenter]</a:t>
            </a:r>
            <a:endParaRPr lang="en-US" sz="1400" dirty="0"/>
          </a:p>
        </p:txBody>
      </p:sp>
      <p:sp>
        <p:nvSpPr>
          <p:cNvPr id="8" name="Text 6"/>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4F5B66"/>
                </a:solidFill>
                <a:latin typeface="Arial" pitchFamily="34" charset="0"/>
                <a:ea typeface="Arial" pitchFamily="34" charset="-122"/>
                <a:cs typeface="Arial" pitchFamily="34" charset="-120"/>
              </a:rPr>
              <a:t>3 min</a:t>
            </a:r>
            <a:endParaRPr lang="en-US" sz="1400" dirty="0"/>
          </a:p>
        </p:txBody>
      </p:sp>
      <p:sp>
        <p:nvSpPr>
          <p:cNvPr id="9" name="Shape 7"/>
          <p:cNvSpPr/>
          <p:nvPr/>
        </p:nvSpPr>
        <p:spPr>
          <a:xfrm>
            <a:off x="548640" y="2651760"/>
            <a:ext cx="11091672" cy="0"/>
          </a:xfrm>
          <a:prstGeom prst="line">
            <a:avLst/>
          </a:prstGeom>
          <a:noFill/>
          <a:ln w="9525">
            <a:solidFill>
              <a:srgbClr val="D3D6D2"/>
            </a:solidFill>
            <a:prstDash val="solid"/>
          </a:ln>
        </p:spPr>
      </p:sp>
      <p:sp>
        <p:nvSpPr>
          <p:cNvPr id="10" name="Text 8"/>
          <p:cNvSpPr txBox="1"/>
          <p:nvPr/>
        </p:nvSpPr>
        <p:spPr>
          <a:xfrm>
            <a:off x="822960" y="290779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2</a:t>
            </a:r>
            <a:endParaRPr lang="en-US" sz="2600" dirty="0"/>
          </a:p>
        </p:txBody>
      </p:sp>
      <p:sp>
        <p:nvSpPr>
          <p:cNvPr id="11" name="Text 9"/>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Financial case</a:t>
            </a:r>
            <a:endParaRPr lang="en-US" sz="2000" dirty="0"/>
          </a:p>
        </p:txBody>
      </p:sp>
      <p:sp>
        <p:nvSpPr>
          <p:cNvPr id="12" name="Text 10"/>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13" name="Text 11"/>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14" name="Shape 12"/>
          <p:cNvSpPr/>
          <p:nvPr/>
        </p:nvSpPr>
        <p:spPr>
          <a:xfrm>
            <a:off x="548640" y="3611880"/>
            <a:ext cx="11091672" cy="0"/>
          </a:xfrm>
          <a:prstGeom prst="line">
            <a:avLst/>
          </a:prstGeom>
          <a:noFill/>
          <a:ln w="9525">
            <a:solidFill>
              <a:srgbClr val="D3D6D2"/>
            </a:solidFill>
            <a:prstDash val="solid"/>
          </a:ln>
        </p:spPr>
      </p:sp>
      <p:sp>
        <p:nvSpPr>
          <p:cNvPr id="15" name="Text 13"/>
          <p:cNvSpPr txBox="1"/>
          <p:nvPr/>
        </p:nvSpPr>
        <p:spPr>
          <a:xfrm>
            <a:off x="822960" y="386791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3</a:t>
            </a:r>
            <a:endParaRPr lang="en-US" sz="2600" dirty="0"/>
          </a:p>
        </p:txBody>
      </p:sp>
      <p:sp>
        <p:nvSpPr>
          <p:cNvPr id="16" name="Text 14"/>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Power and energy</a:t>
            </a:r>
            <a:endParaRPr lang="en-US" sz="2000" dirty="0"/>
          </a:p>
        </p:txBody>
      </p:sp>
      <p:sp>
        <p:nvSpPr>
          <p:cNvPr id="17" name="Text 15"/>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18" name="Text 16"/>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19" name="Shape 17"/>
          <p:cNvSpPr/>
          <p:nvPr/>
        </p:nvSpPr>
        <p:spPr>
          <a:xfrm>
            <a:off x="548640" y="4572000"/>
            <a:ext cx="11091672" cy="0"/>
          </a:xfrm>
          <a:prstGeom prst="line">
            <a:avLst/>
          </a:prstGeom>
          <a:noFill/>
          <a:ln w="9525">
            <a:solidFill>
              <a:srgbClr val="D3D6D2"/>
            </a:solidFill>
            <a:prstDash val="solid"/>
          </a:ln>
        </p:spPr>
      </p:sp>
      <p:sp>
        <p:nvSpPr>
          <p:cNvPr id="20" name="Text 18"/>
          <p:cNvSpPr txBox="1"/>
          <p:nvPr/>
        </p:nvSpPr>
        <p:spPr>
          <a:xfrm>
            <a:off x="822960" y="482803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4</a:t>
            </a:r>
            <a:endParaRPr lang="en-US" sz="26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3D6D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on why KGE has to decide now]</a:t>
            </a:r>
            <a:endParaRPr lang="en-US" sz="2400" dirty="0"/>
          </a:p>
        </p:txBody>
      </p:sp>
      <p:sp>
        <p:nvSpPr>
          <p:cNvPr id="3" name="Text 1"/>
          <p:cNvSpPr txBox="1"/>
          <p:nvPr/>
        </p:nvSpPr>
        <p:spPr>
          <a:xfrm>
            <a:off x="548640" y="1600200"/>
            <a:ext cx="3566160" cy="320040"/>
          </a:xfrm>
          <a:prstGeom prst="rect">
            <a:avLst/>
          </a:prstGeom>
          <a:noFill/>
          <a:ln/>
        </p:spPr>
        <p:txBody>
          <a:bodyPr wrap="square" lIns="0" tIns="0" rIns="0" bIns="0" rtlCol="0" anchor="t"/>
          <a:lstStyle/>
          <a:p>
            <a:pPr indent="0" marL="0">
              <a:buNone/>
            </a:pPr>
            <a:r>
              <a:rPr lang="en-US" sz="1500" b="1" dirty="0">
                <a:solidFill>
                  <a:srgbClr val="0E2238"/>
                </a:solidFill>
                <a:latin typeface="Arial" pitchFamily="34" charset="0"/>
                <a:ea typeface="Arial" pitchFamily="34" charset="-122"/>
                <a:cs typeface="Arial" pitchFamily="34" charset="-120"/>
              </a:rPr>
              <a:t>Outside in</a:t>
            </a:r>
            <a:endParaRPr lang="en-US" sz="1500" dirty="0"/>
          </a:p>
        </p:txBody>
      </p:sp>
      <p:sp>
        <p:nvSpPr>
          <p:cNvPr id="4" name="Text 2"/>
          <p:cNvSpPr txBox="1"/>
          <p:nvPr/>
        </p:nvSpPr>
        <p:spPr>
          <a:xfrm>
            <a:off x="548640" y="1920240"/>
            <a:ext cx="3566160" cy="274320"/>
          </a:xfrm>
          <a:prstGeom prst="rect">
            <a:avLst/>
          </a:prstGeom>
          <a:noFill/>
          <a:ln/>
        </p:spPr>
        <p:txBody>
          <a:bodyPr wrap="square" lIns="0" tIns="0" rIns="0" bIns="0" rtlCol="0" anchor="t"/>
          <a:lstStyle/>
          <a:p>
            <a:pPr indent="0" marL="0">
              <a:buNone/>
            </a:pPr>
            <a:r>
              <a:rPr lang="en-US" sz="1200" dirty="0">
                <a:solidFill>
                  <a:srgbClr val="8C959D"/>
                </a:solidFill>
                <a:latin typeface="Arial" pitchFamily="34" charset="0"/>
                <a:ea typeface="Arial" pitchFamily="34" charset="-122"/>
                <a:cs typeface="Arial" pitchFamily="34" charset="-120"/>
              </a:rPr>
              <a:t>How the grid and state policy press on Ironwood</a:t>
            </a:r>
            <a:endParaRPr lang="en-US" sz="1200" dirty="0"/>
          </a:p>
        </p:txBody>
      </p:sp>
      <p:sp>
        <p:nvSpPr>
          <p:cNvPr id="5" name="Shape 3"/>
          <p:cNvSpPr/>
          <p:nvPr/>
        </p:nvSpPr>
        <p:spPr>
          <a:xfrm>
            <a:off x="548640" y="2286000"/>
            <a:ext cx="3566160" cy="0"/>
          </a:xfrm>
          <a:prstGeom prst="line">
            <a:avLst/>
          </a:prstGeom>
          <a:noFill/>
          <a:ln w="15875">
            <a:solidFill>
              <a:srgbClr val="1A2433"/>
            </a:solidFill>
            <a:prstDash val="solid"/>
          </a:ln>
        </p:spPr>
      </p:sp>
      <p:sp>
        <p:nvSpPr>
          <p:cNvPr id="6" name="Text 4"/>
          <p:cNvSpPr txBox="1"/>
          <p:nvPr/>
        </p:nvSpPr>
        <p:spPr>
          <a:xfrm>
            <a:off x="548640" y="2468880"/>
            <a:ext cx="3566160" cy="822960"/>
          </a:xfrm>
          <a:prstGeom prst="rect">
            <a:avLst/>
          </a:prstGeom>
          <a:noFill/>
          <a:ln/>
        </p:spPr>
        <p:txBody>
          <a:bodyPr wrap="square" lIns="0" tIns="0" rIns="0" bIns="0" rtlCol="0" anchor="t"/>
          <a:lstStyle/>
          <a:p>
            <a:pPr indent="0" marL="0">
              <a:buNone/>
            </a:pPr>
            <a:r>
              <a:rPr lang="en-US" sz="1400" dirty="0">
                <a:solidFill>
                  <a:srgbClr val="1A2433"/>
                </a:solidFill>
                <a:latin typeface="Arial" pitchFamily="34" charset="0"/>
                <a:ea typeface="Arial" pitchFamily="34" charset="-122"/>
                <a:cs typeface="Arial" pitchFamily="34" charset="-120"/>
              </a:rPr>
              <a:t>PJM fell 6,831 MW short of its reliability target in the 2028/29 auction</a:t>
            </a:r>
            <a:endParaRPr lang="en-US" sz="1400" dirty="0"/>
          </a:p>
        </p:txBody>
      </p:sp>
      <p:sp>
        <p:nvSpPr>
          <p:cNvPr id="7" name="Shape 5"/>
          <p:cNvSpPr/>
          <p:nvPr/>
        </p:nvSpPr>
        <p:spPr>
          <a:xfrm>
            <a:off x="548640" y="3429000"/>
            <a:ext cx="3566160" cy="0"/>
          </a:xfrm>
          <a:prstGeom prst="line">
            <a:avLst/>
          </a:prstGeom>
          <a:noFill/>
          <a:ln w="9525">
            <a:solidFill>
              <a:srgbClr val="D3D6D2"/>
            </a:solidFill>
            <a:prstDash val="solid"/>
          </a:ln>
        </p:spPr>
      </p:sp>
      <p:sp>
        <p:nvSpPr>
          <p:cNvPr id="8" name="Text 6"/>
          <p:cNvSpPr txBox="1"/>
          <p:nvPr/>
        </p:nvSpPr>
        <p:spPr>
          <a:xfrm>
            <a:off x="548640" y="3611880"/>
            <a:ext cx="3566160" cy="822960"/>
          </a:xfrm>
          <a:prstGeom prst="rect">
            <a:avLst/>
          </a:prstGeom>
          <a:noFill/>
          <a:ln/>
        </p:spPr>
        <p:txBody>
          <a:bodyPr wrap="square" lIns="0" tIns="0" rIns="0" bIns="0" rtlCol="0" anchor="t"/>
          <a:lstStyle/>
          <a:p>
            <a:pPr indent="0" marL="0">
              <a:buNone/>
            </a:pPr>
            <a:r>
              <a:rPr lang="en-US" sz="1400" dirty="0">
                <a:solidFill>
                  <a:srgbClr val="1A2433"/>
                </a:solidFill>
                <a:latin typeface="Arial" pitchFamily="34" charset="0"/>
                <a:ea typeface="Arial" pitchFamily="34" charset="-122"/>
                <a:cs typeface="Arial" pitchFamily="34" charset="-120"/>
              </a:rPr>
              <a:t>Data centers drove 46% of PJM capacity charges over the last four auctions</a:t>
            </a:r>
            <a:endParaRPr lang="en-US" sz="1400" dirty="0"/>
          </a:p>
        </p:txBody>
      </p:sp>
      <p:sp>
        <p:nvSpPr>
          <p:cNvPr id="9" name="Shape 7"/>
          <p:cNvSpPr/>
          <p:nvPr/>
        </p:nvSpPr>
        <p:spPr>
          <a:xfrm>
            <a:off x="548640" y="4572000"/>
            <a:ext cx="3566160" cy="0"/>
          </a:xfrm>
          <a:prstGeom prst="line">
            <a:avLst/>
          </a:prstGeom>
          <a:noFill/>
          <a:ln w="9525">
            <a:solidFill>
              <a:srgbClr val="D3D6D2"/>
            </a:solidFill>
            <a:prstDash val="solid"/>
          </a:ln>
        </p:spPr>
      </p:sp>
      <p:sp>
        <p:nvSpPr>
          <p:cNvPr id="10" name="Text 8"/>
          <p:cNvSpPr txBox="1"/>
          <p:nvPr/>
        </p:nvSpPr>
        <p:spPr>
          <a:xfrm>
            <a:off x="548640" y="4754880"/>
            <a:ext cx="3566160" cy="822960"/>
          </a:xfrm>
          <a:prstGeom prst="rect">
            <a:avLst/>
          </a:prstGeom>
          <a:noFill/>
          <a:ln/>
        </p:spPr>
        <p:txBody>
          <a:bodyPr wrap="square" lIns="0" tIns="0" rIns="0" bIns="0" rtlCol="0" anchor="t"/>
          <a:lstStyle/>
          <a:p>
            <a:pPr indent="0" marL="0">
              <a:buNone/>
            </a:pPr>
            <a:r>
              <a:rPr lang="en-US" sz="1400" dirty="0">
                <a:solidFill>
                  <a:srgbClr val="1A2433"/>
                </a:solidFill>
                <a:latin typeface="Arial" pitchFamily="34" charset="0"/>
                <a:ea typeface="Arial" pitchFamily="34" charset="-122"/>
                <a:cs typeface="Arial" pitchFamily="34" charset="-120"/>
              </a:rPr>
              <a:t>Pennsylvania requires 32% clean firm energy by 2035</a:t>
            </a:r>
            <a:endParaRPr lang="en-US" sz="1400" dirty="0"/>
          </a:p>
        </p:txBody>
      </p:sp>
      <p:sp>
        <p:nvSpPr>
          <p:cNvPr id="11" name="Text 9"/>
          <p:cNvSpPr txBox="1"/>
          <p:nvPr/>
        </p:nvSpPr>
        <p:spPr>
          <a:xfrm>
            <a:off x="8074152" y="1600200"/>
            <a:ext cx="3566160" cy="320040"/>
          </a:xfrm>
          <a:prstGeom prst="rect">
            <a:avLst/>
          </a:prstGeom>
          <a:noFill/>
          <a:ln/>
        </p:spPr>
        <p:txBody>
          <a:bodyPr wrap="square" lIns="0" tIns="0" rIns="0" bIns="0" rtlCol="0" anchor="t"/>
          <a:lstStyle/>
          <a:p>
            <a:pPr indent="0" marL="0">
              <a:buNone/>
            </a:pPr>
            <a:r>
              <a:rPr lang="en-US" sz="1500" b="1" dirty="0">
                <a:solidFill>
                  <a:srgbClr val="0E2238"/>
                </a:solidFill>
                <a:latin typeface="Arial" pitchFamily="34" charset="0"/>
                <a:ea typeface="Arial" pitchFamily="34" charset="-122"/>
                <a:cs typeface="Arial" pitchFamily="34" charset="-120"/>
              </a:rPr>
              <a:t>Inside out</a:t>
            </a:r>
            <a:endParaRPr lang="en-US" sz="1500" dirty="0"/>
          </a:p>
        </p:txBody>
      </p:sp>
      <p:sp>
        <p:nvSpPr>
          <p:cNvPr id="12" name="Text 10"/>
          <p:cNvSpPr txBox="1"/>
          <p:nvPr/>
        </p:nvSpPr>
        <p:spPr>
          <a:xfrm>
            <a:off x="8074152" y="1920240"/>
            <a:ext cx="3566160" cy="274320"/>
          </a:xfrm>
          <a:prstGeom prst="rect">
            <a:avLst/>
          </a:prstGeom>
          <a:noFill/>
          <a:ln/>
        </p:spPr>
        <p:txBody>
          <a:bodyPr wrap="square" lIns="0" tIns="0" rIns="0" bIns="0" rtlCol="0" anchor="t"/>
          <a:lstStyle/>
          <a:p>
            <a:pPr indent="0" marL="0">
              <a:buNone/>
            </a:pPr>
            <a:r>
              <a:rPr lang="en-US" sz="1200" dirty="0">
                <a:solidFill>
                  <a:srgbClr val="8C959D"/>
                </a:solidFill>
                <a:latin typeface="Arial" pitchFamily="34" charset="0"/>
                <a:ea typeface="Arial" pitchFamily="34" charset="-122"/>
                <a:cs typeface="Arial" pitchFamily="34" charset="-120"/>
              </a:rPr>
              <a:t>How Ironwood presses on the region</a:t>
            </a:r>
            <a:endParaRPr lang="en-US" sz="1200" dirty="0"/>
          </a:p>
        </p:txBody>
      </p:sp>
      <p:sp>
        <p:nvSpPr>
          <p:cNvPr id="13" name="Shape 11"/>
          <p:cNvSpPr/>
          <p:nvPr/>
        </p:nvSpPr>
        <p:spPr>
          <a:xfrm>
            <a:off x="8074152" y="2286000"/>
            <a:ext cx="3566160" cy="0"/>
          </a:xfrm>
          <a:prstGeom prst="line">
            <a:avLst/>
          </a:prstGeom>
          <a:noFill/>
          <a:ln w="15875">
            <a:solidFill>
              <a:srgbClr val="1A2433"/>
            </a:solidFill>
            <a:prstDash val="solid"/>
          </a:ln>
        </p:spPr>
      </p:sp>
      <p:sp>
        <p:nvSpPr>
          <p:cNvPr id="14" name="Text 12"/>
          <p:cNvSpPr txBox="1"/>
          <p:nvPr/>
        </p:nvSpPr>
        <p:spPr>
          <a:xfrm>
            <a:off x="8074152" y="2468880"/>
            <a:ext cx="3566160" cy="822960"/>
          </a:xfrm>
          <a:prstGeom prst="rect">
            <a:avLst/>
          </a:prstGeom>
          <a:noFill/>
          <a:ln/>
        </p:spPr>
        <p:txBody>
          <a:bodyPr wrap="square" lIns="0" tIns="0" rIns="0" bIns="0" rtlCol="0" anchor="t"/>
          <a:lstStyle/>
          <a:p>
            <a:pPr indent="0" marL="0">
              <a:buNone/>
            </a:pPr>
            <a:r>
              <a:rPr lang="en-US" sz="1400" dirty="0">
                <a:solidFill>
                  <a:srgbClr val="1A2433"/>
                </a:solidFill>
                <a:latin typeface="Arial" pitchFamily="34" charset="0"/>
                <a:ea typeface="Arial" pitchFamily="34" charset="-122"/>
                <a:cs typeface="Arial" pitchFamily="34" charset="-120"/>
              </a:rPr>
              <a:t>[Grid upgrade costs and who pays them]</a:t>
            </a:r>
            <a:endParaRPr lang="en-US" sz="1400" dirty="0"/>
          </a:p>
        </p:txBody>
      </p:sp>
      <p:sp>
        <p:nvSpPr>
          <p:cNvPr id="15" name="Shape 13"/>
          <p:cNvSpPr/>
          <p:nvPr/>
        </p:nvSpPr>
        <p:spPr>
          <a:xfrm>
            <a:off x="8074152" y="3429000"/>
            <a:ext cx="3566160" cy="0"/>
          </a:xfrm>
          <a:prstGeom prst="line">
            <a:avLst/>
          </a:prstGeom>
          <a:noFill/>
          <a:ln w="9525">
            <a:solidFill>
              <a:srgbClr val="D3D6D2"/>
            </a:solidFill>
            <a:prstDash val="solid"/>
          </a:ln>
        </p:spPr>
      </p:sp>
      <p:sp>
        <p:nvSpPr>
          <p:cNvPr id="16" name="Text 14"/>
          <p:cNvSpPr txBox="1"/>
          <p:nvPr/>
        </p:nvSpPr>
        <p:spPr>
          <a:xfrm>
            <a:off x="8074152" y="3611880"/>
            <a:ext cx="3566160" cy="822960"/>
          </a:xfrm>
          <a:prstGeom prst="rect">
            <a:avLst/>
          </a:prstGeom>
          <a:noFill/>
          <a:ln/>
        </p:spPr>
        <p:txBody>
          <a:bodyPr wrap="square" lIns="0" tIns="0" rIns="0" bIns="0" rtlCol="0" anchor="t"/>
          <a:lstStyle/>
          <a:p>
            <a:pPr indent="0" marL="0">
              <a:buNone/>
            </a:pPr>
            <a:r>
              <a:rPr lang="en-US" sz="1400" dirty="0">
                <a:solidFill>
                  <a:srgbClr val="1A2433"/>
                </a:solidFill>
                <a:latin typeface="Arial" pitchFamily="34" charset="0"/>
                <a:ea typeface="Arial" pitchFamily="34" charset="-122"/>
                <a:cs typeface="Arial" pitchFamily="34" charset="-120"/>
              </a:rPr>
              <a:t>[Land, water and noise for nearby residents]</a:t>
            </a:r>
            <a:endParaRPr lang="en-US" sz="1400" dirty="0"/>
          </a:p>
        </p:txBody>
      </p:sp>
      <p:sp>
        <p:nvSpPr>
          <p:cNvPr id="17" name="Shape 15"/>
          <p:cNvSpPr/>
          <p:nvPr/>
        </p:nvSpPr>
        <p:spPr>
          <a:xfrm>
            <a:off x="8074152" y="4572000"/>
            <a:ext cx="3566160" cy="0"/>
          </a:xfrm>
          <a:prstGeom prst="line">
            <a:avLst/>
          </a:prstGeom>
          <a:noFill/>
          <a:ln w="9525">
            <a:solidFill>
              <a:srgbClr val="D3D6D2"/>
            </a:solidFill>
            <a:prstDash val="solid"/>
          </a:ln>
        </p:spPr>
      </p:sp>
      <p:sp>
        <p:nvSpPr>
          <p:cNvPr id="18" name="Text 16"/>
          <p:cNvSpPr txBox="1"/>
          <p:nvPr/>
        </p:nvSpPr>
        <p:spPr>
          <a:xfrm>
            <a:off x="8074152" y="4754880"/>
            <a:ext cx="3566160" cy="822960"/>
          </a:xfrm>
          <a:prstGeom prst="rect">
            <a:avLst/>
          </a:prstGeom>
          <a:noFill/>
          <a:ln/>
        </p:spPr>
        <p:txBody>
          <a:bodyPr wrap="square" lIns="0" tIns="0" rIns="0" bIns="0" rtlCol="0" anchor="t"/>
          <a:lstStyle/>
          <a:p>
            <a:pPr indent="0" marL="0">
              <a:buNone/>
            </a:pPr>
            <a:r>
              <a:rPr lang="en-US" sz="1400" dirty="0">
                <a:solidFill>
                  <a:srgbClr val="1A2433"/>
                </a:solidFill>
                <a:latin typeface="Arial" pitchFamily="34" charset="0"/>
                <a:ea typeface="Arial" pitchFamily="34" charset="-122"/>
                <a:cs typeface="Arial" pitchFamily="34" charset="-120"/>
              </a:rPr>
              <a:t>[Jobs and tax base for the township]</a:t>
            </a:r>
            <a:endParaRPr lang="en-US" sz="1400" dirty="0"/>
          </a:p>
        </p:txBody>
      </p:sp>
      <p:sp>
        <p:nvSpPr>
          <p:cNvPr id="19" name="Overlap box"/>
          <p:cNvSpPr/>
          <p:nvPr/>
        </p:nvSpPr>
        <p:spPr>
          <a:xfrm>
            <a:off x="4526280" y="2286000"/>
            <a:ext cx="3136392" cy="3429000"/>
          </a:xfrm>
          <a:prstGeom prst="rect">
            <a:avLst/>
          </a:prstGeom>
          <a:solidFill>
            <a:srgbClr val="0E2238"/>
          </a:solidFill>
          <a:ln/>
        </p:spPr>
      </p:sp>
      <p:sp>
        <p:nvSpPr>
          <p:cNvPr id="20" name="Text 18"/>
          <p:cNvSpPr txBox="1"/>
          <p:nvPr/>
        </p:nvSpPr>
        <p:spPr>
          <a:xfrm>
            <a:off x="4754880" y="2514600"/>
            <a:ext cx="2679192" cy="320040"/>
          </a:xfrm>
          <a:prstGeom prst="rect">
            <a:avLst/>
          </a:prstGeom>
          <a:noFill/>
          <a:ln/>
        </p:spPr>
        <p:txBody>
          <a:bodyPr wrap="square" lIns="0" tIns="0" rIns="0" bIns="0" rtlCol="0" anchor="t"/>
          <a:lstStyle/>
          <a:p>
            <a:pPr indent="0" marL="0">
              <a:buNone/>
            </a:pPr>
            <a:r>
              <a:rPr lang="en-US" sz="1300" b="1" dirty="0">
                <a:solidFill>
                  <a:srgbClr val="E3A21A"/>
                </a:solidFill>
                <a:latin typeface="Arial" pitchFamily="34" charset="0"/>
                <a:ea typeface="Arial" pitchFamily="34" charset="-122"/>
                <a:cs typeface="Arial" pitchFamily="34" charset="-120"/>
              </a:rPr>
              <a:t>Where the two meet</a:t>
            </a:r>
            <a:endParaRPr lang="en-US" sz="1300" dirty="0"/>
          </a:p>
        </p:txBody>
      </p:sp>
      <p:sp>
        <p:nvSpPr>
          <p:cNvPr id="21" name="Text 19"/>
          <p:cNvSpPr txBox="1"/>
          <p:nvPr/>
        </p:nvSpPr>
        <p:spPr>
          <a:xfrm>
            <a:off x="4754880" y="2926080"/>
            <a:ext cx="2679192" cy="2560320"/>
          </a:xfrm>
          <a:prstGeom prst="rect">
            <a:avLst/>
          </a:prstGeom>
          <a:noFill/>
          <a:ln/>
        </p:spPr>
        <p:txBody>
          <a:bodyPr wrap="square" lIns="0" tIns="0" rIns="0" bIns="0" rtlCol="0" anchor="t"/>
          <a:lstStyle/>
          <a:p>
            <a:pPr indent="0" marL="0">
              <a:buNone/>
            </a:pPr>
            <a:r>
              <a:rPr lang="en-US" sz="2000" dirty="0">
                <a:solidFill>
                  <a:srgbClr val="FFFFFF"/>
                </a:solidFill>
                <a:latin typeface="Georgia" pitchFamily="34" charset="0"/>
                <a:ea typeface="Georgia" pitchFamily="34" charset="-122"/>
                <a:cs typeface="Georgia" pitchFamily="34" charset="-120"/>
              </a:rPr>
              <a:t>[The tension this recommendation resolves, in one sentence]</a:t>
            </a:r>
            <a:endParaRPr lang="en-US" sz="2000" dirty="0"/>
          </a:p>
        </p:txBody>
      </p:sp>
      <p:sp>
        <p:nvSpPr>
          <p:cNvPr id="2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PJM 2028/29 Base Residual Auction; PJM Independent Market Monitor, July 2026; PA GRID Standards;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naming the winning option and the criterion that decides it]</a:t>
            </a:r>
            <a:endParaRPr lang="en-US" sz="2400" dirty="0"/>
          </a:p>
        </p:txBody>
      </p:sp>
      <p:sp>
        <p:nvSpPr>
          <p:cNvPr id="3" name="Sticker"/>
          <p:cNvSpPr txBox="1"/>
          <p:nvPr/>
        </p:nvSpPr>
        <p:spPr>
          <a:xfrm>
            <a:off x="10561320" y="475488"/>
            <a:ext cx="1078992" cy="274320"/>
          </a:xfrm>
          <a:prstGeom prst="rect">
            <a:avLst/>
          </a:prstGeom>
          <a:noFill/>
          <a:ln w="9525">
            <a:solidFill>
              <a:srgbClr val="A3ABB2"/>
            </a:solidFill>
          </a:ln>
        </p:spPr>
        <p:txBody>
          <a:bodyPr wrap="square" lIns="0" tIns="0" rIns="0" bIns="0" rtlCol="0" anchor="ctr"/>
          <a:lstStyle/>
          <a:p>
            <a:pPr algn="ctr" indent="0" marL="0">
              <a:buNone/>
            </a:pPr>
            <a:r>
              <a:rPr lang="en-US" sz="900" b="1" dirty="0">
                <a:solidFill>
                  <a:srgbClr val="4F5B66"/>
                </a:solidFill>
                <a:latin typeface="Arial" pitchFamily="34" charset="0"/>
                <a:ea typeface="Arial" pitchFamily="34" charset="-122"/>
                <a:cs typeface="Arial" pitchFamily="34" charset="-120"/>
              </a:rPr>
              <a:t>Illustrative</a:t>
            </a:r>
            <a:endParaRPr lang="en-US" sz="900" dirty="0"/>
          </a:p>
        </p:txBody>
      </p:sp>
      <p:sp>
        <p:nvSpPr>
          <p:cNvPr id="4" name="Text 2"/>
          <p:cNvSpPr txBox="1"/>
          <p:nvPr/>
        </p:nvSpPr>
        <p:spPr>
          <a:xfrm>
            <a:off x="3977640" y="1600200"/>
            <a:ext cx="1280160" cy="548640"/>
          </a:xfrm>
          <a:prstGeom prst="rect">
            <a:avLst/>
          </a:prstGeom>
          <a:noFill/>
          <a:ln/>
        </p:spPr>
        <p:txBody>
          <a:bodyPr wrap="square" lIns="0" tIns="0" rIns="0" bIns="0" rtlCol="0" anchor="b"/>
          <a:lstStyle/>
          <a:p>
            <a:pPr algn="ctr" indent="0" marL="0">
              <a:buNone/>
            </a:pPr>
            <a:r>
              <a:rPr lang="en-US" sz="1200" b="1" dirty="0">
                <a:solidFill>
                  <a:srgbClr val="4F5B66"/>
                </a:solidFill>
                <a:latin typeface="Arial" pitchFamily="34" charset="0"/>
                <a:ea typeface="Arial" pitchFamily="34" charset="-122"/>
                <a:cs typeface="Arial" pitchFamily="34" charset="-120"/>
              </a:rPr>
              <a:t>Return vs 10% hurdle</a:t>
            </a:r>
            <a:endParaRPr lang="en-US" sz="1200" dirty="0"/>
          </a:p>
        </p:txBody>
      </p:sp>
      <p:sp>
        <p:nvSpPr>
          <p:cNvPr id="5" name="Text 3"/>
          <p:cNvSpPr txBox="1"/>
          <p:nvPr/>
        </p:nvSpPr>
        <p:spPr>
          <a:xfrm>
            <a:off x="5257800" y="1600200"/>
            <a:ext cx="1280160" cy="548640"/>
          </a:xfrm>
          <a:prstGeom prst="rect">
            <a:avLst/>
          </a:prstGeom>
          <a:noFill/>
          <a:ln/>
        </p:spPr>
        <p:txBody>
          <a:bodyPr wrap="square" lIns="0" tIns="0" rIns="0" bIns="0" rtlCol="0" anchor="b"/>
          <a:lstStyle/>
          <a:p>
            <a:pPr algn="ctr" indent="0" marL="0">
              <a:buNone/>
            </a:pPr>
            <a:r>
              <a:rPr lang="en-US" sz="1200" b="1" dirty="0">
                <a:solidFill>
                  <a:srgbClr val="4F5B66"/>
                </a:solidFill>
                <a:latin typeface="Arial" pitchFamily="34" charset="0"/>
                <a:ea typeface="Arial" pitchFamily="34" charset="-122"/>
                <a:cs typeface="Arial" pitchFamily="34" charset="-120"/>
              </a:rPr>
              <a:t>Speed to power</a:t>
            </a:r>
            <a:endParaRPr lang="en-US" sz="1200" dirty="0"/>
          </a:p>
        </p:txBody>
      </p:sp>
      <p:sp>
        <p:nvSpPr>
          <p:cNvPr id="6" name="Text 4"/>
          <p:cNvSpPr txBox="1"/>
          <p:nvPr/>
        </p:nvSpPr>
        <p:spPr>
          <a:xfrm>
            <a:off x="6537960" y="1600200"/>
            <a:ext cx="1280160" cy="548640"/>
          </a:xfrm>
          <a:prstGeom prst="rect">
            <a:avLst/>
          </a:prstGeom>
          <a:noFill/>
          <a:ln/>
        </p:spPr>
        <p:txBody>
          <a:bodyPr wrap="square" lIns="0" tIns="0" rIns="0" bIns="0" rtlCol="0" anchor="b"/>
          <a:lstStyle/>
          <a:p>
            <a:pPr algn="ctr" indent="0" marL="0">
              <a:buNone/>
            </a:pPr>
            <a:r>
              <a:rPr lang="en-US" sz="1200" b="1" dirty="0">
                <a:solidFill>
                  <a:srgbClr val="4F5B66"/>
                </a:solidFill>
                <a:latin typeface="Arial" pitchFamily="34" charset="0"/>
                <a:ea typeface="Arial" pitchFamily="34" charset="-122"/>
                <a:cs typeface="Arial" pitchFamily="34" charset="-120"/>
              </a:rPr>
              <a:t>Emissions</a:t>
            </a:r>
            <a:endParaRPr lang="en-US" sz="1200" dirty="0"/>
          </a:p>
        </p:txBody>
      </p:sp>
      <p:sp>
        <p:nvSpPr>
          <p:cNvPr id="7" name="Text 5"/>
          <p:cNvSpPr txBox="1"/>
          <p:nvPr/>
        </p:nvSpPr>
        <p:spPr>
          <a:xfrm>
            <a:off x="7818120" y="1600200"/>
            <a:ext cx="1280160" cy="548640"/>
          </a:xfrm>
          <a:prstGeom prst="rect">
            <a:avLst/>
          </a:prstGeom>
          <a:noFill/>
          <a:ln/>
        </p:spPr>
        <p:txBody>
          <a:bodyPr wrap="square" lIns="0" tIns="0" rIns="0" bIns="0" rtlCol="0" anchor="b"/>
          <a:lstStyle/>
          <a:p>
            <a:pPr algn="ctr" indent="0" marL="0">
              <a:buNone/>
            </a:pPr>
            <a:r>
              <a:rPr lang="en-US" sz="1200" b="1" dirty="0">
                <a:solidFill>
                  <a:srgbClr val="4F5B66"/>
                </a:solidFill>
                <a:latin typeface="Arial" pitchFamily="34" charset="0"/>
                <a:ea typeface="Arial" pitchFamily="34" charset="-122"/>
                <a:cs typeface="Arial" pitchFamily="34" charset="-120"/>
              </a:rPr>
              <a:t>Community burden</a:t>
            </a:r>
            <a:endParaRPr lang="en-US" sz="1200" dirty="0"/>
          </a:p>
        </p:txBody>
      </p:sp>
      <p:sp>
        <p:nvSpPr>
          <p:cNvPr id="8" name="Text 6"/>
          <p:cNvSpPr txBox="1"/>
          <p:nvPr/>
        </p:nvSpPr>
        <p:spPr>
          <a:xfrm>
            <a:off x="9098280" y="1600200"/>
            <a:ext cx="1280160" cy="548640"/>
          </a:xfrm>
          <a:prstGeom prst="rect">
            <a:avLst/>
          </a:prstGeom>
          <a:noFill/>
          <a:ln/>
        </p:spPr>
        <p:txBody>
          <a:bodyPr wrap="square" lIns="0" tIns="0" rIns="0" bIns="0" rtlCol="0" anchor="b"/>
          <a:lstStyle/>
          <a:p>
            <a:pPr algn="ctr" indent="0" marL="0">
              <a:buNone/>
            </a:pPr>
            <a:r>
              <a:rPr lang="en-US" sz="1200" b="1" dirty="0">
                <a:solidFill>
                  <a:srgbClr val="4F5B66"/>
                </a:solidFill>
                <a:latin typeface="Arial" pitchFamily="34" charset="0"/>
                <a:ea typeface="Arial" pitchFamily="34" charset="-122"/>
                <a:cs typeface="Arial" pitchFamily="34" charset="-120"/>
              </a:rPr>
              <a:t>Legal and policy risk</a:t>
            </a:r>
            <a:endParaRPr lang="en-US" sz="1200" dirty="0"/>
          </a:p>
        </p:txBody>
      </p:sp>
      <p:sp>
        <p:nvSpPr>
          <p:cNvPr id="9" name="Text 7"/>
          <p:cNvSpPr txBox="1"/>
          <p:nvPr/>
        </p:nvSpPr>
        <p:spPr>
          <a:xfrm>
            <a:off x="10378440" y="1600200"/>
            <a:ext cx="1280160" cy="548640"/>
          </a:xfrm>
          <a:prstGeom prst="rect">
            <a:avLst/>
          </a:prstGeom>
          <a:noFill/>
          <a:ln/>
        </p:spPr>
        <p:txBody>
          <a:bodyPr wrap="square" lIns="0" tIns="0" rIns="0" bIns="0" rtlCol="0" anchor="b"/>
          <a:lstStyle/>
          <a:p>
            <a:pPr algn="ctr" indent="0" marL="0">
              <a:buNone/>
            </a:pPr>
            <a:r>
              <a:rPr lang="en-US" sz="1200" b="1" dirty="0">
                <a:solidFill>
                  <a:srgbClr val="4F5B66"/>
                </a:solidFill>
                <a:latin typeface="Arial" pitchFamily="34" charset="0"/>
                <a:ea typeface="Arial" pitchFamily="34" charset="-122"/>
                <a:cs typeface="Arial" pitchFamily="34" charset="-120"/>
              </a:rPr>
              <a:t>Overall</a:t>
            </a:r>
            <a:endParaRPr lang="en-US" sz="1200" dirty="0"/>
          </a:p>
        </p:txBody>
      </p:sp>
      <p:sp>
        <p:nvSpPr>
          <p:cNvPr id="10" name="Shape 8"/>
          <p:cNvSpPr/>
          <p:nvPr/>
        </p:nvSpPr>
        <p:spPr>
          <a:xfrm>
            <a:off x="548640" y="2240280"/>
            <a:ext cx="11091672" cy="0"/>
          </a:xfrm>
          <a:prstGeom prst="line">
            <a:avLst/>
          </a:prstGeom>
          <a:noFill/>
          <a:ln w="15875">
            <a:solidFill>
              <a:srgbClr val="1A2433"/>
            </a:solidFill>
            <a:prstDash val="solid"/>
          </a:ln>
        </p:spPr>
      </p:sp>
      <p:sp>
        <p:nvSpPr>
          <p:cNvPr id="11" name="Text 9"/>
          <p:cNvSpPr txBox="1"/>
          <p:nvPr/>
        </p:nvSpPr>
        <p:spPr>
          <a:xfrm>
            <a:off x="731520" y="2395728"/>
            <a:ext cx="3108960" cy="320040"/>
          </a:xfrm>
          <a:prstGeom prst="rect">
            <a:avLst/>
          </a:prstGeom>
          <a:noFill/>
          <a:ln/>
        </p:spPr>
        <p:txBody>
          <a:bodyPr wrap="square" lIns="0" tIns="0" rIns="0" bIns="0" rtlCol="0" anchor="t"/>
          <a:lstStyle/>
          <a:p>
            <a:pPr indent="0" marL="0">
              <a:buNone/>
            </a:pPr>
            <a:r>
              <a:rPr lang="en-US" sz="1500" b="1" dirty="0">
                <a:solidFill>
                  <a:srgbClr val="1A2433"/>
                </a:solidFill>
                <a:latin typeface="Arial" pitchFamily="34" charset="0"/>
                <a:ea typeface="Arial" pitchFamily="34" charset="-122"/>
                <a:cs typeface="Arial" pitchFamily="34" charset="-120"/>
              </a:rPr>
              <a:t>Grid only</a:t>
            </a:r>
            <a:endParaRPr lang="en-US" sz="1500" dirty="0"/>
          </a:p>
        </p:txBody>
      </p:sp>
      <p:sp>
        <p:nvSpPr>
          <p:cNvPr id="12" name="Text 10"/>
          <p:cNvSpPr txBox="1"/>
          <p:nvPr/>
        </p:nvSpPr>
        <p:spPr>
          <a:xfrm>
            <a:off x="731520" y="2715768"/>
            <a:ext cx="3108960" cy="274320"/>
          </a:xfrm>
          <a:prstGeom prst="rect">
            <a:avLst/>
          </a:prstGeom>
          <a:noFill/>
          <a:ln/>
        </p:spPr>
        <p:txBody>
          <a:bodyPr wrap="square" lIns="0" tIns="0" rIns="0" bIns="0" rtlCol="0" anchor="t"/>
          <a:lstStyle/>
          <a:p>
            <a:pPr indent="0" marL="0">
              <a:buNone/>
            </a:pPr>
            <a:r>
              <a:rPr lang="en-US" sz="1200" dirty="0">
                <a:solidFill>
                  <a:srgbClr val="8C959D"/>
                </a:solidFill>
                <a:latin typeface="Arial" pitchFamily="34" charset="0"/>
                <a:ea typeface="Arial" pitchFamily="34" charset="-122"/>
                <a:cs typeface="Arial" pitchFamily="34" charset="-120"/>
              </a:rPr>
              <a:t>The base plan</a:t>
            </a:r>
            <a:endParaRPr lang="en-US" sz="1200" dirty="0"/>
          </a:p>
        </p:txBody>
      </p:sp>
      <p:sp>
        <p:nvSpPr>
          <p:cNvPr id="13" name="Shape 11"/>
          <p:cNvSpPr/>
          <p:nvPr/>
        </p:nvSpPr>
        <p:spPr>
          <a:xfrm>
            <a:off x="4453128" y="2510028"/>
            <a:ext cx="329184" cy="329184"/>
          </a:xfrm>
          <a:prstGeom prst="ellipse">
            <a:avLst/>
          </a:prstGeom>
          <a:solidFill>
            <a:srgbClr val="FFFFFF"/>
          </a:solidFill>
          <a:ln w="12700">
            <a:solidFill>
              <a:srgbClr val="0E2238"/>
            </a:solidFill>
            <a:prstDash val="solid"/>
          </a:ln>
        </p:spPr>
      </p:sp>
      <p:sp>
        <p:nvSpPr>
          <p:cNvPr id="14" name="Shape 12"/>
          <p:cNvSpPr/>
          <p:nvPr/>
        </p:nvSpPr>
        <p:spPr>
          <a:xfrm>
            <a:off x="4453128" y="2510028"/>
            <a:ext cx="329184" cy="329184"/>
          </a:xfrm>
          <a:prstGeom prst="pie">
            <a:avLst>
              <a:gd name="adj1" fmla="val 16200000"/>
              <a:gd name="adj2" fmla="val 5400000"/>
            </a:avLst>
          </a:prstGeom>
          <a:solidFill>
            <a:srgbClr val="0E2238"/>
          </a:solidFill>
          <a:ln w="12700">
            <a:solidFill>
              <a:srgbClr val="0E2238"/>
            </a:solidFill>
            <a:prstDash val="solid"/>
          </a:ln>
        </p:spPr>
      </p:sp>
      <p:sp>
        <p:nvSpPr>
          <p:cNvPr id="15" name="Shape 13"/>
          <p:cNvSpPr/>
          <p:nvPr/>
        </p:nvSpPr>
        <p:spPr>
          <a:xfrm>
            <a:off x="5733288" y="2510028"/>
            <a:ext cx="329184" cy="329184"/>
          </a:xfrm>
          <a:prstGeom prst="ellipse">
            <a:avLst/>
          </a:prstGeom>
          <a:solidFill>
            <a:srgbClr val="FFFFFF"/>
          </a:solidFill>
          <a:ln w="12700">
            <a:solidFill>
              <a:srgbClr val="0E2238"/>
            </a:solidFill>
            <a:prstDash val="solid"/>
          </a:ln>
        </p:spPr>
      </p:sp>
      <p:sp>
        <p:nvSpPr>
          <p:cNvPr id="16" name="Shape 14"/>
          <p:cNvSpPr/>
          <p:nvPr/>
        </p:nvSpPr>
        <p:spPr>
          <a:xfrm>
            <a:off x="5733288" y="2510028"/>
            <a:ext cx="329184" cy="329184"/>
          </a:xfrm>
          <a:prstGeom prst="pie">
            <a:avLst>
              <a:gd name="adj1" fmla="val 16200000"/>
              <a:gd name="adj2" fmla="val 21600000"/>
            </a:avLst>
          </a:prstGeom>
          <a:solidFill>
            <a:srgbClr val="0E2238"/>
          </a:solidFill>
          <a:ln w="12700">
            <a:solidFill>
              <a:srgbClr val="0E2238"/>
            </a:solidFill>
            <a:prstDash val="solid"/>
          </a:ln>
        </p:spPr>
      </p:sp>
      <p:sp>
        <p:nvSpPr>
          <p:cNvPr id="17" name="Shape 15"/>
          <p:cNvSpPr/>
          <p:nvPr/>
        </p:nvSpPr>
        <p:spPr>
          <a:xfrm>
            <a:off x="7013448" y="2510028"/>
            <a:ext cx="329184" cy="329184"/>
          </a:xfrm>
          <a:prstGeom prst="ellipse">
            <a:avLst/>
          </a:prstGeom>
          <a:solidFill>
            <a:srgbClr val="FFFFFF"/>
          </a:solidFill>
          <a:ln w="12700">
            <a:solidFill>
              <a:srgbClr val="0E2238"/>
            </a:solidFill>
            <a:prstDash val="solid"/>
          </a:ln>
        </p:spPr>
      </p:sp>
      <p:sp>
        <p:nvSpPr>
          <p:cNvPr id="18" name="Shape 16"/>
          <p:cNvSpPr/>
          <p:nvPr/>
        </p:nvSpPr>
        <p:spPr>
          <a:xfrm>
            <a:off x="7013448" y="2510028"/>
            <a:ext cx="329184" cy="329184"/>
          </a:xfrm>
          <a:prstGeom prst="pie">
            <a:avLst>
              <a:gd name="adj1" fmla="val 16200000"/>
              <a:gd name="adj2" fmla="val 5400000"/>
            </a:avLst>
          </a:prstGeom>
          <a:solidFill>
            <a:srgbClr val="0E2238"/>
          </a:solidFill>
          <a:ln w="12700">
            <a:solidFill>
              <a:srgbClr val="0E2238"/>
            </a:solidFill>
            <a:prstDash val="solid"/>
          </a:ln>
        </p:spPr>
      </p:sp>
      <p:sp>
        <p:nvSpPr>
          <p:cNvPr id="19" name="Shape 17"/>
          <p:cNvSpPr/>
          <p:nvPr/>
        </p:nvSpPr>
        <p:spPr>
          <a:xfrm>
            <a:off x="8293608" y="2510028"/>
            <a:ext cx="329184" cy="329184"/>
          </a:xfrm>
          <a:prstGeom prst="ellipse">
            <a:avLst/>
          </a:prstGeom>
          <a:solidFill>
            <a:srgbClr val="FFFFFF"/>
          </a:solidFill>
          <a:ln w="12700">
            <a:solidFill>
              <a:srgbClr val="0E2238"/>
            </a:solidFill>
            <a:prstDash val="solid"/>
          </a:ln>
        </p:spPr>
      </p:sp>
      <p:sp>
        <p:nvSpPr>
          <p:cNvPr id="20" name="Shape 18"/>
          <p:cNvSpPr/>
          <p:nvPr/>
        </p:nvSpPr>
        <p:spPr>
          <a:xfrm>
            <a:off x="8293608" y="2510028"/>
            <a:ext cx="329184" cy="329184"/>
          </a:xfrm>
          <a:prstGeom prst="pie">
            <a:avLst>
              <a:gd name="adj1" fmla="val 16200000"/>
              <a:gd name="adj2" fmla="val 5400000"/>
            </a:avLst>
          </a:prstGeom>
          <a:solidFill>
            <a:srgbClr val="0E2238"/>
          </a:solidFill>
          <a:ln w="12700">
            <a:solidFill>
              <a:srgbClr val="0E2238"/>
            </a:solidFill>
            <a:prstDash val="solid"/>
          </a:ln>
        </p:spPr>
      </p:sp>
      <p:sp>
        <p:nvSpPr>
          <p:cNvPr id="21" name="Shape 19"/>
          <p:cNvSpPr/>
          <p:nvPr/>
        </p:nvSpPr>
        <p:spPr>
          <a:xfrm>
            <a:off x="9573768" y="2510028"/>
            <a:ext cx="329184" cy="329184"/>
          </a:xfrm>
          <a:prstGeom prst="ellipse">
            <a:avLst/>
          </a:prstGeom>
          <a:solidFill>
            <a:srgbClr val="FFFFFF"/>
          </a:solidFill>
          <a:ln w="12700">
            <a:solidFill>
              <a:srgbClr val="0E2238"/>
            </a:solidFill>
            <a:prstDash val="solid"/>
          </a:ln>
        </p:spPr>
      </p:sp>
      <p:sp>
        <p:nvSpPr>
          <p:cNvPr id="22" name="Shape 20"/>
          <p:cNvSpPr/>
          <p:nvPr/>
        </p:nvSpPr>
        <p:spPr>
          <a:xfrm>
            <a:off x="9573768" y="2510028"/>
            <a:ext cx="329184" cy="329184"/>
          </a:xfrm>
          <a:prstGeom prst="pie">
            <a:avLst>
              <a:gd name="adj1" fmla="val 16200000"/>
              <a:gd name="adj2" fmla="val 5400000"/>
            </a:avLst>
          </a:prstGeom>
          <a:solidFill>
            <a:srgbClr val="0E2238"/>
          </a:solidFill>
          <a:ln w="12700">
            <a:solidFill>
              <a:srgbClr val="0E2238"/>
            </a:solidFill>
            <a:prstDash val="solid"/>
          </a:ln>
        </p:spPr>
      </p:sp>
      <p:sp>
        <p:nvSpPr>
          <p:cNvPr id="23" name="Shape 21"/>
          <p:cNvSpPr/>
          <p:nvPr/>
        </p:nvSpPr>
        <p:spPr>
          <a:xfrm>
            <a:off x="10853928" y="2510028"/>
            <a:ext cx="329184" cy="329184"/>
          </a:xfrm>
          <a:prstGeom prst="ellipse">
            <a:avLst/>
          </a:prstGeom>
          <a:solidFill>
            <a:srgbClr val="FFFFFF"/>
          </a:solidFill>
          <a:ln w="12700">
            <a:solidFill>
              <a:srgbClr val="0E2238"/>
            </a:solidFill>
            <a:prstDash val="solid"/>
          </a:ln>
        </p:spPr>
      </p:sp>
      <p:sp>
        <p:nvSpPr>
          <p:cNvPr id="24" name="Shape 22"/>
          <p:cNvSpPr/>
          <p:nvPr/>
        </p:nvSpPr>
        <p:spPr>
          <a:xfrm>
            <a:off x="10853928" y="2510028"/>
            <a:ext cx="329184" cy="329184"/>
          </a:xfrm>
          <a:prstGeom prst="pie">
            <a:avLst>
              <a:gd name="adj1" fmla="val 16200000"/>
              <a:gd name="adj2" fmla="val 5400000"/>
            </a:avLst>
          </a:prstGeom>
          <a:solidFill>
            <a:srgbClr val="0E2238"/>
          </a:solidFill>
          <a:ln w="12700">
            <a:solidFill>
              <a:srgbClr val="0E2238"/>
            </a:solidFill>
            <a:prstDash val="solid"/>
          </a:ln>
        </p:spPr>
      </p:sp>
      <p:sp>
        <p:nvSpPr>
          <p:cNvPr id="25" name="Shape 23"/>
          <p:cNvSpPr/>
          <p:nvPr/>
        </p:nvSpPr>
        <p:spPr>
          <a:xfrm>
            <a:off x="548640" y="3108960"/>
            <a:ext cx="11091672" cy="0"/>
          </a:xfrm>
          <a:prstGeom prst="line">
            <a:avLst/>
          </a:prstGeom>
          <a:noFill/>
          <a:ln w="9525">
            <a:solidFill>
              <a:srgbClr val="D3D6D2"/>
            </a:solidFill>
            <a:prstDash val="solid"/>
          </a:ln>
        </p:spPr>
      </p:sp>
      <p:sp>
        <p:nvSpPr>
          <p:cNvPr id="26" name="Text 24"/>
          <p:cNvSpPr txBox="1"/>
          <p:nvPr/>
        </p:nvSpPr>
        <p:spPr>
          <a:xfrm>
            <a:off x="731520" y="3264408"/>
            <a:ext cx="3108960" cy="320040"/>
          </a:xfrm>
          <a:prstGeom prst="rect">
            <a:avLst/>
          </a:prstGeom>
          <a:noFill/>
          <a:ln/>
        </p:spPr>
        <p:txBody>
          <a:bodyPr wrap="square" lIns="0" tIns="0" rIns="0" bIns="0" rtlCol="0" anchor="t"/>
          <a:lstStyle/>
          <a:p>
            <a:pPr indent="0" marL="0">
              <a:buNone/>
            </a:pPr>
            <a:r>
              <a:rPr lang="en-US" sz="1500" b="1" dirty="0">
                <a:solidFill>
                  <a:srgbClr val="1A2433"/>
                </a:solidFill>
                <a:latin typeface="Arial" pitchFamily="34" charset="0"/>
                <a:ea typeface="Arial" pitchFamily="34" charset="-122"/>
                <a:cs typeface="Arial" pitchFamily="34" charset="-120"/>
              </a:rPr>
              <a:t>Onsite gas</a:t>
            </a:r>
            <a:endParaRPr lang="en-US" sz="1500" dirty="0"/>
          </a:p>
        </p:txBody>
      </p:sp>
      <p:sp>
        <p:nvSpPr>
          <p:cNvPr id="27" name="Text 25"/>
          <p:cNvSpPr txBox="1"/>
          <p:nvPr/>
        </p:nvSpPr>
        <p:spPr>
          <a:xfrm>
            <a:off x="731520" y="3584448"/>
            <a:ext cx="3108960" cy="274320"/>
          </a:xfrm>
          <a:prstGeom prst="rect">
            <a:avLst/>
          </a:prstGeom>
          <a:noFill/>
          <a:ln/>
        </p:spPr>
        <p:txBody>
          <a:bodyPr wrap="square" lIns="0" tIns="0" rIns="0" bIns="0" rtlCol="0" anchor="t"/>
          <a:lstStyle/>
          <a:p>
            <a:pPr indent="0" marL="0">
              <a:buNone/>
            </a:pPr>
            <a:r>
              <a:rPr lang="en-US" sz="1200" dirty="0">
                <a:solidFill>
                  <a:srgbClr val="8C959D"/>
                </a:solidFill>
                <a:latin typeface="Arial" pitchFamily="34" charset="0"/>
                <a:ea typeface="Arial" pitchFamily="34" charset="-122"/>
                <a:cs typeface="Arial" pitchFamily="34" charset="-120"/>
              </a:rPr>
              <a:t>Engines on site</a:t>
            </a:r>
            <a:endParaRPr lang="en-US" sz="1200" dirty="0"/>
          </a:p>
        </p:txBody>
      </p:sp>
      <p:sp>
        <p:nvSpPr>
          <p:cNvPr id="28" name="Shape 26"/>
          <p:cNvSpPr/>
          <p:nvPr/>
        </p:nvSpPr>
        <p:spPr>
          <a:xfrm>
            <a:off x="4453128" y="3378708"/>
            <a:ext cx="329184" cy="329184"/>
          </a:xfrm>
          <a:prstGeom prst="ellipse">
            <a:avLst/>
          </a:prstGeom>
          <a:solidFill>
            <a:srgbClr val="FFFFFF"/>
          </a:solidFill>
          <a:ln w="12700">
            <a:solidFill>
              <a:srgbClr val="0E2238"/>
            </a:solidFill>
            <a:prstDash val="solid"/>
          </a:ln>
        </p:spPr>
      </p:sp>
      <p:sp>
        <p:nvSpPr>
          <p:cNvPr id="29" name="Shape 27"/>
          <p:cNvSpPr/>
          <p:nvPr/>
        </p:nvSpPr>
        <p:spPr>
          <a:xfrm>
            <a:off x="4453128" y="3378708"/>
            <a:ext cx="329184" cy="329184"/>
          </a:xfrm>
          <a:prstGeom prst="pie">
            <a:avLst>
              <a:gd name="adj1" fmla="val 16200000"/>
              <a:gd name="adj2" fmla="val 10800000"/>
            </a:avLst>
          </a:prstGeom>
          <a:solidFill>
            <a:srgbClr val="0E2238"/>
          </a:solidFill>
          <a:ln w="12700">
            <a:solidFill>
              <a:srgbClr val="0E2238"/>
            </a:solidFill>
            <a:prstDash val="solid"/>
          </a:ln>
        </p:spPr>
      </p:sp>
      <p:sp>
        <p:nvSpPr>
          <p:cNvPr id="30" name="Shape 28"/>
          <p:cNvSpPr/>
          <p:nvPr/>
        </p:nvSpPr>
        <p:spPr>
          <a:xfrm>
            <a:off x="5733288" y="3378708"/>
            <a:ext cx="329184" cy="329184"/>
          </a:xfrm>
          <a:prstGeom prst="ellipse">
            <a:avLst/>
          </a:prstGeom>
          <a:solidFill>
            <a:srgbClr val="FFFFFF"/>
          </a:solidFill>
          <a:ln w="12700">
            <a:solidFill>
              <a:srgbClr val="0E2238"/>
            </a:solidFill>
            <a:prstDash val="solid"/>
          </a:ln>
        </p:spPr>
      </p:sp>
      <p:sp>
        <p:nvSpPr>
          <p:cNvPr id="31" name="Shape 29"/>
          <p:cNvSpPr/>
          <p:nvPr/>
        </p:nvSpPr>
        <p:spPr>
          <a:xfrm>
            <a:off x="5733288" y="3378708"/>
            <a:ext cx="329184" cy="329184"/>
          </a:xfrm>
          <a:prstGeom prst="ellipse">
            <a:avLst/>
          </a:prstGeom>
          <a:solidFill>
            <a:srgbClr val="0E2238"/>
          </a:solidFill>
          <a:ln w="12700">
            <a:solidFill>
              <a:srgbClr val="0E2238"/>
            </a:solidFill>
            <a:prstDash val="solid"/>
          </a:ln>
        </p:spPr>
      </p:sp>
      <p:sp>
        <p:nvSpPr>
          <p:cNvPr id="32" name="Shape 30"/>
          <p:cNvSpPr/>
          <p:nvPr/>
        </p:nvSpPr>
        <p:spPr>
          <a:xfrm>
            <a:off x="7013448" y="3378708"/>
            <a:ext cx="329184" cy="329184"/>
          </a:xfrm>
          <a:prstGeom prst="ellipse">
            <a:avLst/>
          </a:prstGeom>
          <a:solidFill>
            <a:srgbClr val="FFFFFF"/>
          </a:solidFill>
          <a:ln w="12700">
            <a:solidFill>
              <a:srgbClr val="0E2238"/>
            </a:solidFill>
            <a:prstDash val="solid"/>
          </a:ln>
        </p:spPr>
      </p:sp>
      <p:sp>
        <p:nvSpPr>
          <p:cNvPr id="33" name="Shape 31"/>
          <p:cNvSpPr/>
          <p:nvPr/>
        </p:nvSpPr>
        <p:spPr>
          <a:xfrm>
            <a:off x="8293608" y="3378708"/>
            <a:ext cx="329184" cy="329184"/>
          </a:xfrm>
          <a:prstGeom prst="ellipse">
            <a:avLst/>
          </a:prstGeom>
          <a:solidFill>
            <a:srgbClr val="FFFFFF"/>
          </a:solidFill>
          <a:ln w="12700">
            <a:solidFill>
              <a:srgbClr val="0E2238"/>
            </a:solidFill>
            <a:prstDash val="solid"/>
          </a:ln>
        </p:spPr>
      </p:sp>
      <p:sp>
        <p:nvSpPr>
          <p:cNvPr id="34" name="Shape 32"/>
          <p:cNvSpPr/>
          <p:nvPr/>
        </p:nvSpPr>
        <p:spPr>
          <a:xfrm>
            <a:off x="8293608" y="3378708"/>
            <a:ext cx="329184" cy="329184"/>
          </a:xfrm>
          <a:prstGeom prst="pie">
            <a:avLst>
              <a:gd name="adj1" fmla="val 16200000"/>
              <a:gd name="adj2" fmla="val 21600000"/>
            </a:avLst>
          </a:prstGeom>
          <a:solidFill>
            <a:srgbClr val="0E2238"/>
          </a:solidFill>
          <a:ln w="12700">
            <a:solidFill>
              <a:srgbClr val="0E2238"/>
            </a:solidFill>
            <a:prstDash val="solid"/>
          </a:ln>
        </p:spPr>
      </p:sp>
      <p:sp>
        <p:nvSpPr>
          <p:cNvPr id="35" name="Shape 33"/>
          <p:cNvSpPr/>
          <p:nvPr/>
        </p:nvSpPr>
        <p:spPr>
          <a:xfrm>
            <a:off x="9573768" y="3378708"/>
            <a:ext cx="329184" cy="329184"/>
          </a:xfrm>
          <a:prstGeom prst="ellipse">
            <a:avLst/>
          </a:prstGeom>
          <a:solidFill>
            <a:srgbClr val="FFFFFF"/>
          </a:solidFill>
          <a:ln w="12700">
            <a:solidFill>
              <a:srgbClr val="0E2238"/>
            </a:solidFill>
            <a:prstDash val="solid"/>
          </a:ln>
        </p:spPr>
      </p:sp>
      <p:sp>
        <p:nvSpPr>
          <p:cNvPr id="36" name="Shape 34"/>
          <p:cNvSpPr/>
          <p:nvPr/>
        </p:nvSpPr>
        <p:spPr>
          <a:xfrm>
            <a:off x="9573768" y="3378708"/>
            <a:ext cx="329184" cy="329184"/>
          </a:xfrm>
          <a:prstGeom prst="pie">
            <a:avLst>
              <a:gd name="adj1" fmla="val 16200000"/>
              <a:gd name="adj2" fmla="val 21600000"/>
            </a:avLst>
          </a:prstGeom>
          <a:solidFill>
            <a:srgbClr val="0E2238"/>
          </a:solidFill>
          <a:ln w="12700">
            <a:solidFill>
              <a:srgbClr val="0E2238"/>
            </a:solidFill>
            <a:prstDash val="solid"/>
          </a:ln>
        </p:spPr>
      </p:sp>
      <p:sp>
        <p:nvSpPr>
          <p:cNvPr id="37" name="Shape 35"/>
          <p:cNvSpPr/>
          <p:nvPr/>
        </p:nvSpPr>
        <p:spPr>
          <a:xfrm>
            <a:off x="10853928" y="3378708"/>
            <a:ext cx="329184" cy="329184"/>
          </a:xfrm>
          <a:prstGeom prst="ellipse">
            <a:avLst/>
          </a:prstGeom>
          <a:solidFill>
            <a:srgbClr val="FFFFFF"/>
          </a:solidFill>
          <a:ln w="12700">
            <a:solidFill>
              <a:srgbClr val="0E2238"/>
            </a:solidFill>
            <a:prstDash val="solid"/>
          </a:ln>
        </p:spPr>
      </p:sp>
      <p:sp>
        <p:nvSpPr>
          <p:cNvPr id="38" name="Shape 36"/>
          <p:cNvSpPr/>
          <p:nvPr/>
        </p:nvSpPr>
        <p:spPr>
          <a:xfrm>
            <a:off x="10853928" y="3378708"/>
            <a:ext cx="329184" cy="329184"/>
          </a:xfrm>
          <a:prstGeom prst="pie">
            <a:avLst>
              <a:gd name="adj1" fmla="val 16200000"/>
              <a:gd name="adj2" fmla="val 21600000"/>
            </a:avLst>
          </a:prstGeom>
          <a:solidFill>
            <a:srgbClr val="0E2238"/>
          </a:solidFill>
          <a:ln w="12700">
            <a:solidFill>
              <a:srgbClr val="0E2238"/>
            </a:solidFill>
            <a:prstDash val="solid"/>
          </a:ln>
        </p:spPr>
      </p:sp>
      <p:sp>
        <p:nvSpPr>
          <p:cNvPr id="39" name="Recommended row"/>
          <p:cNvSpPr/>
          <p:nvPr/>
        </p:nvSpPr>
        <p:spPr>
          <a:xfrm>
            <a:off x="548640" y="3977640"/>
            <a:ext cx="11091672" cy="868680"/>
          </a:xfrm>
          <a:prstGeom prst="rect">
            <a:avLst/>
          </a:prstGeom>
          <a:solidFill>
            <a:srgbClr val="FBF0D6"/>
          </a:solidFill>
          <a:ln/>
        </p:spPr>
      </p:sp>
      <p:sp>
        <p:nvSpPr>
          <p:cNvPr id="40" name="Shape 38"/>
          <p:cNvSpPr/>
          <p:nvPr/>
        </p:nvSpPr>
        <p:spPr>
          <a:xfrm>
            <a:off x="548640" y="3977640"/>
            <a:ext cx="11091672" cy="0"/>
          </a:xfrm>
          <a:prstGeom prst="line">
            <a:avLst/>
          </a:prstGeom>
          <a:noFill/>
          <a:ln w="9525">
            <a:solidFill>
              <a:srgbClr val="D3D6D2"/>
            </a:solidFill>
            <a:prstDash val="solid"/>
          </a:ln>
        </p:spPr>
      </p:sp>
      <p:sp>
        <p:nvSpPr>
          <p:cNvPr id="41" name="Text 39"/>
          <p:cNvSpPr txBox="1"/>
          <p:nvPr/>
        </p:nvSpPr>
        <p:spPr>
          <a:xfrm>
            <a:off x="731520" y="4133088"/>
            <a:ext cx="3108960" cy="320040"/>
          </a:xfrm>
          <a:prstGeom prst="rect">
            <a:avLst/>
          </a:prstGeom>
          <a:noFill/>
          <a:ln/>
        </p:spPr>
        <p:txBody>
          <a:bodyPr wrap="square" lIns="0" tIns="0" rIns="0" bIns="0" rtlCol="0" anchor="t"/>
          <a:lstStyle/>
          <a:p>
            <a:pPr indent="0" marL="0">
              <a:buNone/>
            </a:pPr>
            <a:r>
              <a:rPr lang="en-US" sz="1500" b="1" dirty="0">
                <a:solidFill>
                  <a:srgbClr val="1A2433"/>
                </a:solidFill>
                <a:latin typeface="Arial" pitchFamily="34" charset="0"/>
                <a:ea typeface="Arial" pitchFamily="34" charset="-122"/>
                <a:cs typeface="Arial" pitchFamily="34" charset="-120"/>
              </a:rPr>
              <a:t>Hybrid design</a:t>
            </a:r>
            <a:endParaRPr lang="en-US" sz="1500" dirty="0"/>
          </a:p>
        </p:txBody>
      </p:sp>
      <p:sp>
        <p:nvSpPr>
          <p:cNvPr id="42" name="Text 40"/>
          <p:cNvSpPr txBox="1"/>
          <p:nvPr/>
        </p:nvSpPr>
        <p:spPr>
          <a:xfrm>
            <a:off x="731520" y="4453128"/>
            <a:ext cx="3108960" cy="274320"/>
          </a:xfrm>
          <a:prstGeom prst="rect">
            <a:avLst/>
          </a:prstGeom>
          <a:noFill/>
          <a:ln/>
        </p:spPr>
        <p:txBody>
          <a:bodyPr wrap="square" lIns="0" tIns="0" rIns="0" bIns="0" rtlCol="0" anchor="t"/>
          <a:lstStyle/>
          <a:p>
            <a:pPr indent="0" marL="0">
              <a:buNone/>
            </a:pPr>
            <a:r>
              <a:rPr lang="en-US" sz="1200" dirty="0">
                <a:solidFill>
                  <a:srgbClr val="8C959D"/>
                </a:solidFill>
                <a:latin typeface="Arial" pitchFamily="34" charset="0"/>
                <a:ea typeface="Arial" pitchFamily="34" charset="-122"/>
                <a:cs typeface="Arial" pitchFamily="34" charset="-120"/>
              </a:rPr>
              <a:t>Battery plus clean contracts</a:t>
            </a:r>
            <a:endParaRPr lang="en-US" sz="1200" dirty="0"/>
          </a:p>
        </p:txBody>
      </p:sp>
      <p:sp>
        <p:nvSpPr>
          <p:cNvPr id="43" name="Shape 41"/>
          <p:cNvSpPr/>
          <p:nvPr/>
        </p:nvSpPr>
        <p:spPr>
          <a:xfrm>
            <a:off x="4453128" y="4247388"/>
            <a:ext cx="329184" cy="329184"/>
          </a:xfrm>
          <a:prstGeom prst="ellipse">
            <a:avLst/>
          </a:prstGeom>
          <a:solidFill>
            <a:srgbClr val="FFFFFF"/>
          </a:solidFill>
          <a:ln w="12700">
            <a:solidFill>
              <a:srgbClr val="0E2238"/>
            </a:solidFill>
            <a:prstDash val="solid"/>
          </a:ln>
        </p:spPr>
      </p:sp>
      <p:sp>
        <p:nvSpPr>
          <p:cNvPr id="44" name="Shape 42"/>
          <p:cNvSpPr/>
          <p:nvPr/>
        </p:nvSpPr>
        <p:spPr>
          <a:xfrm>
            <a:off x="4453128" y="4247388"/>
            <a:ext cx="329184" cy="329184"/>
          </a:xfrm>
          <a:prstGeom prst="pie">
            <a:avLst>
              <a:gd name="adj1" fmla="val 16200000"/>
              <a:gd name="adj2" fmla="val 5400000"/>
            </a:avLst>
          </a:prstGeom>
          <a:solidFill>
            <a:srgbClr val="0E2238"/>
          </a:solidFill>
          <a:ln w="12700">
            <a:solidFill>
              <a:srgbClr val="0E2238"/>
            </a:solidFill>
            <a:prstDash val="solid"/>
          </a:ln>
        </p:spPr>
      </p:sp>
      <p:sp>
        <p:nvSpPr>
          <p:cNvPr id="45" name="Shape 43"/>
          <p:cNvSpPr/>
          <p:nvPr/>
        </p:nvSpPr>
        <p:spPr>
          <a:xfrm>
            <a:off x="5733288" y="4247388"/>
            <a:ext cx="329184" cy="329184"/>
          </a:xfrm>
          <a:prstGeom prst="ellipse">
            <a:avLst/>
          </a:prstGeom>
          <a:solidFill>
            <a:srgbClr val="FFFFFF"/>
          </a:solidFill>
          <a:ln w="12700">
            <a:solidFill>
              <a:srgbClr val="0E2238"/>
            </a:solidFill>
            <a:prstDash val="solid"/>
          </a:ln>
        </p:spPr>
      </p:sp>
      <p:sp>
        <p:nvSpPr>
          <p:cNvPr id="46" name="Shape 44"/>
          <p:cNvSpPr/>
          <p:nvPr/>
        </p:nvSpPr>
        <p:spPr>
          <a:xfrm>
            <a:off x="5733288" y="4247388"/>
            <a:ext cx="329184" cy="329184"/>
          </a:xfrm>
          <a:prstGeom prst="pie">
            <a:avLst>
              <a:gd name="adj1" fmla="val 16200000"/>
              <a:gd name="adj2" fmla="val 10800000"/>
            </a:avLst>
          </a:prstGeom>
          <a:solidFill>
            <a:srgbClr val="0E2238"/>
          </a:solidFill>
          <a:ln w="12700">
            <a:solidFill>
              <a:srgbClr val="0E2238"/>
            </a:solidFill>
            <a:prstDash val="solid"/>
          </a:ln>
        </p:spPr>
      </p:sp>
      <p:sp>
        <p:nvSpPr>
          <p:cNvPr id="47" name="Shape 45"/>
          <p:cNvSpPr/>
          <p:nvPr/>
        </p:nvSpPr>
        <p:spPr>
          <a:xfrm>
            <a:off x="7013448" y="4247388"/>
            <a:ext cx="329184" cy="329184"/>
          </a:xfrm>
          <a:prstGeom prst="ellipse">
            <a:avLst/>
          </a:prstGeom>
          <a:solidFill>
            <a:srgbClr val="FFFFFF"/>
          </a:solidFill>
          <a:ln w="12700">
            <a:solidFill>
              <a:srgbClr val="0E2238"/>
            </a:solidFill>
            <a:prstDash val="solid"/>
          </a:ln>
        </p:spPr>
      </p:sp>
      <p:sp>
        <p:nvSpPr>
          <p:cNvPr id="48" name="Shape 46"/>
          <p:cNvSpPr/>
          <p:nvPr/>
        </p:nvSpPr>
        <p:spPr>
          <a:xfrm>
            <a:off x="7013448" y="4247388"/>
            <a:ext cx="329184" cy="329184"/>
          </a:xfrm>
          <a:prstGeom prst="ellipse">
            <a:avLst/>
          </a:prstGeom>
          <a:solidFill>
            <a:srgbClr val="0E2238"/>
          </a:solidFill>
          <a:ln w="12700">
            <a:solidFill>
              <a:srgbClr val="0E2238"/>
            </a:solidFill>
            <a:prstDash val="solid"/>
          </a:ln>
        </p:spPr>
      </p:sp>
      <p:sp>
        <p:nvSpPr>
          <p:cNvPr id="49" name="Shape 47"/>
          <p:cNvSpPr/>
          <p:nvPr/>
        </p:nvSpPr>
        <p:spPr>
          <a:xfrm>
            <a:off x="8293608" y="4247388"/>
            <a:ext cx="329184" cy="329184"/>
          </a:xfrm>
          <a:prstGeom prst="ellipse">
            <a:avLst/>
          </a:prstGeom>
          <a:solidFill>
            <a:srgbClr val="FFFFFF"/>
          </a:solidFill>
          <a:ln w="12700">
            <a:solidFill>
              <a:srgbClr val="0E2238"/>
            </a:solidFill>
            <a:prstDash val="solid"/>
          </a:ln>
        </p:spPr>
      </p:sp>
      <p:sp>
        <p:nvSpPr>
          <p:cNvPr id="50" name="Shape 48"/>
          <p:cNvSpPr/>
          <p:nvPr/>
        </p:nvSpPr>
        <p:spPr>
          <a:xfrm>
            <a:off x="8293608" y="4247388"/>
            <a:ext cx="329184" cy="329184"/>
          </a:xfrm>
          <a:prstGeom prst="pie">
            <a:avLst>
              <a:gd name="adj1" fmla="val 16200000"/>
              <a:gd name="adj2" fmla="val 10800000"/>
            </a:avLst>
          </a:prstGeom>
          <a:solidFill>
            <a:srgbClr val="0E2238"/>
          </a:solidFill>
          <a:ln w="12700">
            <a:solidFill>
              <a:srgbClr val="0E2238"/>
            </a:solidFill>
            <a:prstDash val="solid"/>
          </a:ln>
        </p:spPr>
      </p:sp>
      <p:sp>
        <p:nvSpPr>
          <p:cNvPr id="51" name="Shape 49"/>
          <p:cNvSpPr/>
          <p:nvPr/>
        </p:nvSpPr>
        <p:spPr>
          <a:xfrm>
            <a:off x="9573768" y="4247388"/>
            <a:ext cx="329184" cy="329184"/>
          </a:xfrm>
          <a:prstGeom prst="ellipse">
            <a:avLst/>
          </a:prstGeom>
          <a:solidFill>
            <a:srgbClr val="FFFFFF"/>
          </a:solidFill>
          <a:ln w="12700">
            <a:solidFill>
              <a:srgbClr val="0E2238"/>
            </a:solidFill>
            <a:prstDash val="solid"/>
          </a:ln>
        </p:spPr>
      </p:sp>
      <p:sp>
        <p:nvSpPr>
          <p:cNvPr id="52" name="Shape 50"/>
          <p:cNvSpPr/>
          <p:nvPr/>
        </p:nvSpPr>
        <p:spPr>
          <a:xfrm>
            <a:off x="9573768" y="4247388"/>
            <a:ext cx="329184" cy="329184"/>
          </a:xfrm>
          <a:prstGeom prst="pie">
            <a:avLst>
              <a:gd name="adj1" fmla="val 16200000"/>
              <a:gd name="adj2" fmla="val 10800000"/>
            </a:avLst>
          </a:prstGeom>
          <a:solidFill>
            <a:srgbClr val="0E2238"/>
          </a:solidFill>
          <a:ln w="12700">
            <a:solidFill>
              <a:srgbClr val="0E2238"/>
            </a:solidFill>
            <a:prstDash val="solid"/>
          </a:ln>
        </p:spPr>
      </p:sp>
      <p:sp>
        <p:nvSpPr>
          <p:cNvPr id="53" name="Shape 51"/>
          <p:cNvSpPr/>
          <p:nvPr/>
        </p:nvSpPr>
        <p:spPr>
          <a:xfrm>
            <a:off x="10853928" y="4247388"/>
            <a:ext cx="329184" cy="329184"/>
          </a:xfrm>
          <a:prstGeom prst="ellipse">
            <a:avLst/>
          </a:prstGeom>
          <a:solidFill>
            <a:srgbClr val="FFFFFF"/>
          </a:solidFill>
          <a:ln w="12700">
            <a:solidFill>
              <a:srgbClr val="0E2238"/>
            </a:solidFill>
            <a:prstDash val="solid"/>
          </a:ln>
        </p:spPr>
      </p:sp>
      <p:sp>
        <p:nvSpPr>
          <p:cNvPr id="54" name="Shape 52"/>
          <p:cNvSpPr/>
          <p:nvPr/>
        </p:nvSpPr>
        <p:spPr>
          <a:xfrm>
            <a:off x="10853928" y="4247388"/>
            <a:ext cx="329184" cy="329184"/>
          </a:xfrm>
          <a:prstGeom prst="ellipse">
            <a:avLst/>
          </a:prstGeom>
          <a:solidFill>
            <a:srgbClr val="0E2238"/>
          </a:solidFill>
          <a:ln w="12700">
            <a:solidFill>
              <a:srgbClr val="0E2238"/>
            </a:solidFill>
            <a:prstDash val="solid"/>
          </a:ln>
        </p:spPr>
      </p:sp>
      <p:sp>
        <p:nvSpPr>
          <p:cNvPr id="55" name="Shape 53"/>
          <p:cNvSpPr/>
          <p:nvPr/>
        </p:nvSpPr>
        <p:spPr>
          <a:xfrm>
            <a:off x="548640" y="4846320"/>
            <a:ext cx="11091672" cy="0"/>
          </a:xfrm>
          <a:prstGeom prst="line">
            <a:avLst/>
          </a:prstGeom>
          <a:noFill/>
          <a:ln w="9525">
            <a:solidFill>
              <a:srgbClr val="D3D6D2"/>
            </a:solidFill>
            <a:prstDash val="solid"/>
          </a:ln>
        </p:spPr>
      </p:sp>
      <p:sp>
        <p:nvSpPr>
          <p:cNvPr id="56" name="Text 54"/>
          <p:cNvSpPr txBox="1"/>
          <p:nvPr/>
        </p:nvSpPr>
        <p:spPr>
          <a:xfrm>
            <a:off x="731520" y="5001768"/>
            <a:ext cx="3108960" cy="320040"/>
          </a:xfrm>
          <a:prstGeom prst="rect">
            <a:avLst/>
          </a:prstGeom>
          <a:noFill/>
          <a:ln/>
        </p:spPr>
        <p:txBody>
          <a:bodyPr wrap="square" lIns="0" tIns="0" rIns="0" bIns="0" rtlCol="0" anchor="t"/>
          <a:lstStyle/>
          <a:p>
            <a:pPr indent="0" marL="0">
              <a:buNone/>
            </a:pPr>
            <a:r>
              <a:rPr lang="en-US" sz="1500" b="1" dirty="0">
                <a:solidFill>
                  <a:srgbClr val="1A2433"/>
                </a:solidFill>
                <a:latin typeface="Arial" pitchFamily="34" charset="0"/>
                <a:ea typeface="Arial" pitchFamily="34" charset="-122"/>
                <a:cs typeface="Arial" pitchFamily="34" charset="-120"/>
              </a:rPr>
              <a:t>[Defer or relocate]</a:t>
            </a:r>
            <a:endParaRPr lang="en-US" sz="1500" dirty="0"/>
          </a:p>
        </p:txBody>
      </p:sp>
      <p:sp>
        <p:nvSpPr>
          <p:cNvPr id="57" name="Text 55"/>
          <p:cNvSpPr txBox="1"/>
          <p:nvPr/>
        </p:nvSpPr>
        <p:spPr>
          <a:xfrm>
            <a:off x="731520" y="5321808"/>
            <a:ext cx="3108960" cy="274320"/>
          </a:xfrm>
          <a:prstGeom prst="rect">
            <a:avLst/>
          </a:prstGeom>
          <a:noFill/>
          <a:ln/>
        </p:spPr>
        <p:txBody>
          <a:bodyPr wrap="square" lIns="0" tIns="0" rIns="0" bIns="0" rtlCol="0" anchor="t"/>
          <a:lstStyle/>
          <a:p>
            <a:pPr indent="0" marL="0">
              <a:buNone/>
            </a:pPr>
            <a:r>
              <a:rPr lang="en-US" sz="1200" dirty="0">
                <a:solidFill>
                  <a:srgbClr val="8C959D"/>
                </a:solidFill>
                <a:latin typeface="Arial" pitchFamily="34" charset="0"/>
                <a:ea typeface="Arial" pitchFamily="34" charset="-122"/>
                <a:cs typeface="Arial" pitchFamily="34" charset="-120"/>
              </a:rPr>
              <a:t>[Fourth option]</a:t>
            </a:r>
            <a:endParaRPr lang="en-US" sz="1200" dirty="0"/>
          </a:p>
        </p:txBody>
      </p:sp>
      <p:sp>
        <p:nvSpPr>
          <p:cNvPr id="58" name="Shape 56"/>
          <p:cNvSpPr/>
          <p:nvPr/>
        </p:nvSpPr>
        <p:spPr>
          <a:xfrm>
            <a:off x="4453128" y="5116068"/>
            <a:ext cx="329184" cy="329184"/>
          </a:xfrm>
          <a:prstGeom prst="ellipse">
            <a:avLst/>
          </a:prstGeom>
          <a:solidFill>
            <a:srgbClr val="FFFFFF"/>
          </a:solidFill>
          <a:ln w="12700">
            <a:solidFill>
              <a:srgbClr val="0E2238"/>
            </a:solidFill>
            <a:prstDash val="solid"/>
          </a:ln>
        </p:spPr>
      </p:sp>
      <p:sp>
        <p:nvSpPr>
          <p:cNvPr id="59" name="Shape 57"/>
          <p:cNvSpPr/>
          <p:nvPr/>
        </p:nvSpPr>
        <p:spPr>
          <a:xfrm>
            <a:off x="4453128" y="5116068"/>
            <a:ext cx="329184" cy="329184"/>
          </a:xfrm>
          <a:prstGeom prst="pie">
            <a:avLst>
              <a:gd name="adj1" fmla="val 16200000"/>
              <a:gd name="adj2" fmla="val 21600000"/>
            </a:avLst>
          </a:prstGeom>
          <a:solidFill>
            <a:srgbClr val="0E2238"/>
          </a:solidFill>
          <a:ln w="12700">
            <a:solidFill>
              <a:srgbClr val="0E2238"/>
            </a:solidFill>
            <a:prstDash val="solid"/>
          </a:ln>
        </p:spPr>
      </p:sp>
      <p:sp>
        <p:nvSpPr>
          <p:cNvPr id="60" name="Shape 58"/>
          <p:cNvSpPr/>
          <p:nvPr/>
        </p:nvSpPr>
        <p:spPr>
          <a:xfrm>
            <a:off x="5733288" y="5116068"/>
            <a:ext cx="329184" cy="329184"/>
          </a:xfrm>
          <a:prstGeom prst="ellipse">
            <a:avLst/>
          </a:prstGeom>
          <a:solidFill>
            <a:srgbClr val="FFFFFF"/>
          </a:solidFill>
          <a:ln w="12700">
            <a:solidFill>
              <a:srgbClr val="0E2238"/>
            </a:solidFill>
            <a:prstDash val="solid"/>
          </a:ln>
        </p:spPr>
      </p:sp>
      <p:sp>
        <p:nvSpPr>
          <p:cNvPr id="61" name="Shape 59"/>
          <p:cNvSpPr/>
          <p:nvPr/>
        </p:nvSpPr>
        <p:spPr>
          <a:xfrm>
            <a:off x="7013448" y="5116068"/>
            <a:ext cx="329184" cy="329184"/>
          </a:xfrm>
          <a:prstGeom prst="ellipse">
            <a:avLst/>
          </a:prstGeom>
          <a:solidFill>
            <a:srgbClr val="FFFFFF"/>
          </a:solidFill>
          <a:ln w="12700">
            <a:solidFill>
              <a:srgbClr val="0E2238"/>
            </a:solidFill>
            <a:prstDash val="solid"/>
          </a:ln>
        </p:spPr>
      </p:sp>
      <p:sp>
        <p:nvSpPr>
          <p:cNvPr id="62" name="Shape 60"/>
          <p:cNvSpPr/>
          <p:nvPr/>
        </p:nvSpPr>
        <p:spPr>
          <a:xfrm>
            <a:off x="7013448" y="5116068"/>
            <a:ext cx="329184" cy="329184"/>
          </a:xfrm>
          <a:prstGeom prst="pie">
            <a:avLst>
              <a:gd name="adj1" fmla="val 16200000"/>
              <a:gd name="adj2" fmla="val 5400000"/>
            </a:avLst>
          </a:prstGeom>
          <a:solidFill>
            <a:srgbClr val="0E2238"/>
          </a:solidFill>
          <a:ln w="12700">
            <a:solidFill>
              <a:srgbClr val="0E2238"/>
            </a:solidFill>
            <a:prstDash val="solid"/>
          </a:ln>
        </p:spPr>
      </p:sp>
      <p:sp>
        <p:nvSpPr>
          <p:cNvPr id="63" name="Shape 61"/>
          <p:cNvSpPr/>
          <p:nvPr/>
        </p:nvSpPr>
        <p:spPr>
          <a:xfrm>
            <a:off x="8293608" y="5116068"/>
            <a:ext cx="329184" cy="329184"/>
          </a:xfrm>
          <a:prstGeom prst="ellipse">
            <a:avLst/>
          </a:prstGeom>
          <a:solidFill>
            <a:srgbClr val="FFFFFF"/>
          </a:solidFill>
          <a:ln w="12700">
            <a:solidFill>
              <a:srgbClr val="0E2238"/>
            </a:solidFill>
            <a:prstDash val="solid"/>
          </a:ln>
        </p:spPr>
      </p:sp>
      <p:sp>
        <p:nvSpPr>
          <p:cNvPr id="64" name="Shape 62"/>
          <p:cNvSpPr/>
          <p:nvPr/>
        </p:nvSpPr>
        <p:spPr>
          <a:xfrm>
            <a:off x="8293608" y="5116068"/>
            <a:ext cx="329184" cy="329184"/>
          </a:xfrm>
          <a:prstGeom prst="ellipse">
            <a:avLst/>
          </a:prstGeom>
          <a:solidFill>
            <a:srgbClr val="0E2238"/>
          </a:solidFill>
          <a:ln w="12700">
            <a:solidFill>
              <a:srgbClr val="0E2238"/>
            </a:solidFill>
            <a:prstDash val="solid"/>
          </a:ln>
        </p:spPr>
      </p:sp>
      <p:sp>
        <p:nvSpPr>
          <p:cNvPr id="65" name="Shape 63"/>
          <p:cNvSpPr/>
          <p:nvPr/>
        </p:nvSpPr>
        <p:spPr>
          <a:xfrm>
            <a:off x="9573768" y="5116068"/>
            <a:ext cx="329184" cy="329184"/>
          </a:xfrm>
          <a:prstGeom prst="ellipse">
            <a:avLst/>
          </a:prstGeom>
          <a:solidFill>
            <a:srgbClr val="FFFFFF"/>
          </a:solidFill>
          <a:ln w="12700">
            <a:solidFill>
              <a:srgbClr val="0E2238"/>
            </a:solidFill>
            <a:prstDash val="solid"/>
          </a:ln>
        </p:spPr>
      </p:sp>
      <p:sp>
        <p:nvSpPr>
          <p:cNvPr id="66" name="Shape 64"/>
          <p:cNvSpPr/>
          <p:nvPr/>
        </p:nvSpPr>
        <p:spPr>
          <a:xfrm>
            <a:off x="9573768" y="5116068"/>
            <a:ext cx="329184" cy="329184"/>
          </a:xfrm>
          <a:prstGeom prst="pie">
            <a:avLst>
              <a:gd name="adj1" fmla="val 16200000"/>
              <a:gd name="adj2" fmla="val 5400000"/>
            </a:avLst>
          </a:prstGeom>
          <a:solidFill>
            <a:srgbClr val="0E2238"/>
          </a:solidFill>
          <a:ln w="12700">
            <a:solidFill>
              <a:srgbClr val="0E2238"/>
            </a:solidFill>
            <a:prstDash val="solid"/>
          </a:ln>
        </p:spPr>
      </p:sp>
      <p:sp>
        <p:nvSpPr>
          <p:cNvPr id="67" name="Shape 65"/>
          <p:cNvSpPr/>
          <p:nvPr/>
        </p:nvSpPr>
        <p:spPr>
          <a:xfrm>
            <a:off x="10853928" y="5116068"/>
            <a:ext cx="329184" cy="329184"/>
          </a:xfrm>
          <a:prstGeom prst="ellipse">
            <a:avLst/>
          </a:prstGeom>
          <a:solidFill>
            <a:srgbClr val="FFFFFF"/>
          </a:solidFill>
          <a:ln w="12700">
            <a:solidFill>
              <a:srgbClr val="0E2238"/>
            </a:solidFill>
            <a:prstDash val="solid"/>
          </a:ln>
        </p:spPr>
      </p:sp>
      <p:sp>
        <p:nvSpPr>
          <p:cNvPr id="68" name="Shape 66"/>
          <p:cNvSpPr/>
          <p:nvPr/>
        </p:nvSpPr>
        <p:spPr>
          <a:xfrm>
            <a:off x="10853928" y="5116068"/>
            <a:ext cx="329184" cy="329184"/>
          </a:xfrm>
          <a:prstGeom prst="pie">
            <a:avLst>
              <a:gd name="adj1" fmla="val 16200000"/>
              <a:gd name="adj2" fmla="val 21600000"/>
            </a:avLst>
          </a:prstGeom>
          <a:solidFill>
            <a:srgbClr val="0E2238"/>
          </a:solidFill>
          <a:ln w="12700">
            <a:solidFill>
              <a:srgbClr val="0E2238"/>
            </a:solidFill>
            <a:prstDash val="solid"/>
          </a:ln>
        </p:spPr>
      </p:sp>
      <p:sp>
        <p:nvSpPr>
          <p:cNvPr id="69" name="Shape 67"/>
          <p:cNvSpPr/>
          <p:nvPr/>
        </p:nvSpPr>
        <p:spPr>
          <a:xfrm>
            <a:off x="548640" y="5715000"/>
            <a:ext cx="11091672" cy="0"/>
          </a:xfrm>
          <a:prstGeom prst="line">
            <a:avLst/>
          </a:prstGeom>
          <a:noFill/>
          <a:ln w="9525">
            <a:solidFill>
              <a:srgbClr val="D3D6D2"/>
            </a:solidFill>
            <a:prstDash val="solid"/>
          </a:ln>
        </p:spPr>
      </p:sp>
      <p:sp>
        <p:nvSpPr>
          <p:cNvPr id="70" name="Shape 68"/>
          <p:cNvSpPr/>
          <p:nvPr/>
        </p:nvSpPr>
        <p:spPr>
          <a:xfrm>
            <a:off x="10360152" y="1737360"/>
            <a:ext cx="0" cy="3977640"/>
          </a:xfrm>
          <a:prstGeom prst="line">
            <a:avLst/>
          </a:prstGeom>
          <a:noFill/>
          <a:ln w="9525">
            <a:solidFill>
              <a:srgbClr val="D9DDE0"/>
            </a:solidFill>
            <a:prstDash val="solid"/>
          </a:ln>
        </p:spPr>
      </p:sp>
      <p:sp>
        <p:nvSpPr>
          <p:cNvPr id="71" name="Shape 69"/>
          <p:cNvSpPr/>
          <p:nvPr/>
        </p:nvSpPr>
        <p:spPr>
          <a:xfrm>
            <a:off x="548640" y="5733288"/>
            <a:ext cx="201168" cy="201168"/>
          </a:xfrm>
          <a:prstGeom prst="ellipse">
            <a:avLst/>
          </a:prstGeom>
          <a:solidFill>
            <a:srgbClr val="FFFFFF"/>
          </a:solidFill>
          <a:ln w="12700">
            <a:solidFill>
              <a:srgbClr val="0E2238"/>
            </a:solidFill>
            <a:prstDash val="solid"/>
          </a:ln>
        </p:spPr>
      </p:sp>
      <p:sp>
        <p:nvSpPr>
          <p:cNvPr id="72" name="Shape 70"/>
          <p:cNvSpPr/>
          <p:nvPr/>
        </p:nvSpPr>
        <p:spPr>
          <a:xfrm>
            <a:off x="548640" y="5733288"/>
            <a:ext cx="201168" cy="201168"/>
          </a:xfrm>
          <a:prstGeom prst="ellipse">
            <a:avLst/>
          </a:prstGeom>
          <a:solidFill>
            <a:srgbClr val="0E2238"/>
          </a:solidFill>
          <a:ln w="12700">
            <a:solidFill>
              <a:srgbClr val="0E2238"/>
            </a:solidFill>
            <a:prstDash val="solid"/>
          </a:ln>
        </p:spPr>
      </p:sp>
      <p:sp>
        <p:nvSpPr>
          <p:cNvPr id="73" name="Text 71"/>
          <p:cNvSpPr txBox="1"/>
          <p:nvPr/>
        </p:nvSpPr>
        <p:spPr>
          <a:xfrm>
            <a:off x="841248" y="5742432"/>
            <a:ext cx="1188720" cy="228600"/>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Strongest</a:t>
            </a:r>
            <a:endParaRPr lang="en-US" sz="1100" dirty="0"/>
          </a:p>
        </p:txBody>
      </p:sp>
      <p:sp>
        <p:nvSpPr>
          <p:cNvPr id="74" name="Shape 72"/>
          <p:cNvSpPr/>
          <p:nvPr/>
        </p:nvSpPr>
        <p:spPr>
          <a:xfrm>
            <a:off x="2148840" y="5733288"/>
            <a:ext cx="201168" cy="201168"/>
          </a:xfrm>
          <a:prstGeom prst="ellipse">
            <a:avLst/>
          </a:prstGeom>
          <a:solidFill>
            <a:srgbClr val="FFFFFF"/>
          </a:solidFill>
          <a:ln w="12700">
            <a:solidFill>
              <a:srgbClr val="0E2238"/>
            </a:solidFill>
            <a:prstDash val="solid"/>
          </a:ln>
        </p:spPr>
      </p:sp>
      <p:sp>
        <p:nvSpPr>
          <p:cNvPr id="75" name="Shape 73"/>
          <p:cNvSpPr/>
          <p:nvPr/>
        </p:nvSpPr>
        <p:spPr>
          <a:xfrm>
            <a:off x="2148840" y="5733288"/>
            <a:ext cx="201168" cy="201168"/>
          </a:xfrm>
          <a:prstGeom prst="pie">
            <a:avLst>
              <a:gd name="adj1" fmla="val 16200000"/>
              <a:gd name="adj2" fmla="val 5400000"/>
            </a:avLst>
          </a:prstGeom>
          <a:solidFill>
            <a:srgbClr val="0E2238"/>
          </a:solidFill>
          <a:ln w="12700">
            <a:solidFill>
              <a:srgbClr val="0E2238"/>
            </a:solidFill>
            <a:prstDash val="solid"/>
          </a:ln>
        </p:spPr>
      </p:sp>
      <p:sp>
        <p:nvSpPr>
          <p:cNvPr id="76" name="Text 74"/>
          <p:cNvSpPr txBox="1"/>
          <p:nvPr/>
        </p:nvSpPr>
        <p:spPr>
          <a:xfrm>
            <a:off x="2441448" y="5742432"/>
            <a:ext cx="1188720" cy="228600"/>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Partial</a:t>
            </a:r>
            <a:endParaRPr lang="en-US" sz="1100" dirty="0"/>
          </a:p>
        </p:txBody>
      </p:sp>
      <p:sp>
        <p:nvSpPr>
          <p:cNvPr id="77" name="Shape 75"/>
          <p:cNvSpPr/>
          <p:nvPr/>
        </p:nvSpPr>
        <p:spPr>
          <a:xfrm>
            <a:off x="3749040" y="5733288"/>
            <a:ext cx="201168" cy="201168"/>
          </a:xfrm>
          <a:prstGeom prst="ellipse">
            <a:avLst/>
          </a:prstGeom>
          <a:solidFill>
            <a:srgbClr val="FFFFFF"/>
          </a:solidFill>
          <a:ln w="12700">
            <a:solidFill>
              <a:srgbClr val="0E2238"/>
            </a:solidFill>
            <a:prstDash val="solid"/>
          </a:ln>
        </p:spPr>
      </p:sp>
      <p:sp>
        <p:nvSpPr>
          <p:cNvPr id="78" name="Text 76"/>
          <p:cNvSpPr txBox="1"/>
          <p:nvPr/>
        </p:nvSpPr>
        <p:spPr>
          <a:xfrm>
            <a:off x="4041648" y="5742432"/>
            <a:ext cx="1188720" cy="228600"/>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Weakest</a:t>
            </a:r>
            <a:endParaRPr lang="en-US" sz="1100" dirty="0"/>
          </a:p>
        </p:txBody>
      </p:sp>
      <p:sp>
        <p:nvSpPr>
          <p:cNvPr id="79" name="Text 77"/>
          <p:cNvSpPr txBox="1"/>
          <p:nvPr/>
        </p:nvSpPr>
        <p:spPr>
          <a:xfrm>
            <a:off x="5669280" y="5742432"/>
            <a:ext cx="5971032" cy="22860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Shading marks the recommended option</a:t>
            </a:r>
            <a:endParaRPr lang="en-US" sz="1100" dirty="0"/>
          </a:p>
        </p:txBody>
      </p:sp>
      <p:sp>
        <p:nvSpPr>
          <p:cNvPr id="80"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Case packet;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Agenda</a:t>
            </a:r>
            <a:endParaRPr lang="en-US" sz="2400" dirty="0"/>
          </a:p>
        </p:txBody>
      </p:sp>
      <p:sp>
        <p:nvSpPr>
          <p:cNvPr id="3" name="Shape 1"/>
          <p:cNvSpPr/>
          <p:nvPr/>
        </p:nvSpPr>
        <p:spPr>
          <a:xfrm>
            <a:off x="548640" y="1691640"/>
            <a:ext cx="11091672" cy="0"/>
          </a:xfrm>
          <a:prstGeom prst="line">
            <a:avLst/>
          </a:prstGeom>
          <a:noFill/>
          <a:ln w="9525">
            <a:solidFill>
              <a:srgbClr val="D3D6D2"/>
            </a:solidFill>
            <a:prstDash val="solid"/>
          </a:ln>
        </p:spPr>
      </p:sp>
      <p:sp>
        <p:nvSpPr>
          <p:cNvPr id="4" name="Text 2"/>
          <p:cNvSpPr txBox="1"/>
          <p:nvPr/>
        </p:nvSpPr>
        <p:spPr>
          <a:xfrm>
            <a:off x="822960" y="194767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1</a:t>
            </a:r>
            <a:endParaRPr lang="en-US" sz="2600" dirty="0"/>
          </a:p>
        </p:txBody>
      </p:sp>
      <p:sp>
        <p:nvSpPr>
          <p:cNvPr id="5" name="Text 3"/>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Recommendation and situation</a:t>
            </a:r>
            <a:endParaRPr lang="en-US" sz="2000" dirty="0"/>
          </a:p>
        </p:txBody>
      </p:sp>
      <p:sp>
        <p:nvSpPr>
          <p:cNvPr id="6" name="Text 4"/>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7" name="Text 5"/>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3 min</a:t>
            </a:r>
            <a:endParaRPr lang="en-US" sz="1400" dirty="0"/>
          </a:p>
        </p:txBody>
      </p:sp>
      <p:sp>
        <p:nvSpPr>
          <p:cNvPr id="8" name="Current section"/>
          <p:cNvSpPr/>
          <p:nvPr/>
        </p:nvSpPr>
        <p:spPr>
          <a:xfrm>
            <a:off x="548640" y="2651760"/>
            <a:ext cx="11091672" cy="960120"/>
          </a:xfrm>
          <a:prstGeom prst="rect">
            <a:avLst/>
          </a:prstGeom>
          <a:solidFill>
            <a:srgbClr val="FBF0D6"/>
          </a:solidFill>
          <a:ln/>
        </p:spPr>
      </p:sp>
      <p:sp>
        <p:nvSpPr>
          <p:cNvPr id="9" name="Shape 7"/>
          <p:cNvSpPr/>
          <p:nvPr/>
        </p:nvSpPr>
        <p:spPr>
          <a:xfrm>
            <a:off x="548640" y="2651760"/>
            <a:ext cx="11091672" cy="0"/>
          </a:xfrm>
          <a:prstGeom prst="line">
            <a:avLst/>
          </a:prstGeom>
          <a:noFill/>
          <a:ln w="15875">
            <a:solidFill>
              <a:srgbClr val="E3A21A"/>
            </a:solidFill>
            <a:prstDash val="solid"/>
          </a:ln>
        </p:spPr>
      </p:sp>
      <p:sp>
        <p:nvSpPr>
          <p:cNvPr id="10" name="Text 8"/>
          <p:cNvSpPr txBox="1"/>
          <p:nvPr/>
        </p:nvSpPr>
        <p:spPr>
          <a:xfrm>
            <a:off x="822960" y="2907792"/>
            <a:ext cx="548640" cy="502920"/>
          </a:xfrm>
          <a:prstGeom prst="rect">
            <a:avLst/>
          </a:prstGeom>
          <a:noFill/>
          <a:ln/>
        </p:spPr>
        <p:txBody>
          <a:bodyPr wrap="square" lIns="0" tIns="0" rIns="0" bIns="0" rtlCol="0" anchor="t"/>
          <a:lstStyle/>
          <a:p>
            <a:pPr indent="0" marL="0">
              <a:buNone/>
            </a:pPr>
            <a:r>
              <a:rPr lang="en-US" sz="2600" dirty="0">
                <a:solidFill>
                  <a:srgbClr val="0E2238"/>
                </a:solidFill>
                <a:latin typeface="Georgia" pitchFamily="34" charset="0"/>
                <a:ea typeface="Georgia" pitchFamily="34" charset="-122"/>
                <a:cs typeface="Georgia" pitchFamily="34" charset="-120"/>
              </a:rPr>
              <a:t>2</a:t>
            </a:r>
            <a:endParaRPr lang="en-US" sz="2600" dirty="0"/>
          </a:p>
        </p:txBody>
      </p:sp>
      <p:sp>
        <p:nvSpPr>
          <p:cNvPr id="11" name="Text 9"/>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b="1" dirty="0">
                <a:solidFill>
                  <a:srgbClr val="1A2433"/>
                </a:solidFill>
                <a:latin typeface="Arial" pitchFamily="34" charset="0"/>
                <a:ea typeface="Arial" pitchFamily="34" charset="-122"/>
                <a:cs typeface="Arial" pitchFamily="34" charset="-120"/>
              </a:rPr>
              <a:t>Financial case</a:t>
            </a:r>
            <a:endParaRPr lang="en-US" sz="2000" dirty="0"/>
          </a:p>
        </p:txBody>
      </p:sp>
      <p:sp>
        <p:nvSpPr>
          <p:cNvPr id="12" name="Text 10"/>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[Presenter]</a:t>
            </a:r>
            <a:endParaRPr lang="en-US" sz="1400" dirty="0"/>
          </a:p>
        </p:txBody>
      </p:sp>
      <p:sp>
        <p:nvSpPr>
          <p:cNvPr id="13" name="Text 11"/>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4F5B66"/>
                </a:solidFill>
                <a:latin typeface="Arial" pitchFamily="34" charset="0"/>
                <a:ea typeface="Arial" pitchFamily="34" charset="-122"/>
                <a:cs typeface="Arial" pitchFamily="34" charset="-120"/>
              </a:rPr>
              <a:t>5 min</a:t>
            </a:r>
            <a:endParaRPr lang="en-US" sz="1400" dirty="0"/>
          </a:p>
        </p:txBody>
      </p:sp>
      <p:sp>
        <p:nvSpPr>
          <p:cNvPr id="14" name="Shape 12"/>
          <p:cNvSpPr/>
          <p:nvPr/>
        </p:nvSpPr>
        <p:spPr>
          <a:xfrm>
            <a:off x="548640" y="3611880"/>
            <a:ext cx="11091672" cy="0"/>
          </a:xfrm>
          <a:prstGeom prst="line">
            <a:avLst/>
          </a:prstGeom>
          <a:noFill/>
          <a:ln w="9525">
            <a:solidFill>
              <a:srgbClr val="D3D6D2"/>
            </a:solidFill>
            <a:prstDash val="solid"/>
          </a:ln>
        </p:spPr>
      </p:sp>
      <p:sp>
        <p:nvSpPr>
          <p:cNvPr id="15" name="Text 13"/>
          <p:cNvSpPr txBox="1"/>
          <p:nvPr/>
        </p:nvSpPr>
        <p:spPr>
          <a:xfrm>
            <a:off x="822960" y="386791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3</a:t>
            </a:r>
            <a:endParaRPr lang="en-US" sz="2600" dirty="0"/>
          </a:p>
        </p:txBody>
      </p:sp>
      <p:sp>
        <p:nvSpPr>
          <p:cNvPr id="16" name="Text 14"/>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Power and energy</a:t>
            </a:r>
            <a:endParaRPr lang="en-US" sz="2000" dirty="0"/>
          </a:p>
        </p:txBody>
      </p:sp>
      <p:sp>
        <p:nvSpPr>
          <p:cNvPr id="17" name="Text 15"/>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18" name="Text 16"/>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19" name="Shape 17"/>
          <p:cNvSpPr/>
          <p:nvPr/>
        </p:nvSpPr>
        <p:spPr>
          <a:xfrm>
            <a:off x="548640" y="4572000"/>
            <a:ext cx="11091672" cy="0"/>
          </a:xfrm>
          <a:prstGeom prst="line">
            <a:avLst/>
          </a:prstGeom>
          <a:noFill/>
          <a:ln w="9525">
            <a:solidFill>
              <a:srgbClr val="D3D6D2"/>
            </a:solidFill>
            <a:prstDash val="solid"/>
          </a:ln>
        </p:spPr>
      </p:sp>
      <p:sp>
        <p:nvSpPr>
          <p:cNvPr id="20" name="Text 18"/>
          <p:cNvSpPr txBox="1"/>
          <p:nvPr/>
        </p:nvSpPr>
        <p:spPr>
          <a:xfrm>
            <a:off x="822960" y="482803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4</a:t>
            </a:r>
            <a:endParaRPr lang="en-US" sz="26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3D6D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saying whether the recommended option clears KGE's 10% hurdle]</a:t>
            </a:r>
            <a:endParaRPr lang="en-US" sz="2400" dirty="0"/>
          </a:p>
        </p:txBody>
      </p:sp>
      <p:sp>
        <p:nvSpPr>
          <p:cNvPr id="3" name="Sticker"/>
          <p:cNvSpPr txBox="1"/>
          <p:nvPr/>
        </p:nvSpPr>
        <p:spPr>
          <a:xfrm>
            <a:off x="10561320" y="475488"/>
            <a:ext cx="1078992" cy="274320"/>
          </a:xfrm>
          <a:prstGeom prst="rect">
            <a:avLst/>
          </a:prstGeom>
          <a:noFill/>
          <a:ln w="9525">
            <a:solidFill>
              <a:srgbClr val="A3ABB2"/>
            </a:solidFill>
          </a:ln>
        </p:spPr>
        <p:txBody>
          <a:bodyPr wrap="square" lIns="0" tIns="0" rIns="0" bIns="0" rtlCol="0" anchor="ctr"/>
          <a:lstStyle/>
          <a:p>
            <a:pPr algn="ctr" indent="0" marL="0">
              <a:buNone/>
            </a:pPr>
            <a:r>
              <a:rPr lang="en-US" sz="900" b="1" dirty="0">
                <a:solidFill>
                  <a:srgbClr val="4F5B66"/>
                </a:solidFill>
                <a:latin typeface="Arial" pitchFamily="34" charset="0"/>
                <a:ea typeface="Arial" pitchFamily="34" charset="-122"/>
                <a:cs typeface="Arial" pitchFamily="34" charset="-120"/>
              </a:rPr>
              <a:t>Illustrative</a:t>
            </a:r>
            <a:endParaRPr lang="en-US" sz="900" dirty="0"/>
          </a:p>
        </p:txBody>
      </p:sp>
      <p:sp>
        <p:nvSpPr>
          <p:cNvPr id="4" name="Unit line"/>
          <p:cNvSpPr txBox="1"/>
          <p:nvPr/>
        </p:nvSpPr>
        <p:spPr>
          <a:xfrm>
            <a:off x="548640" y="1600200"/>
            <a:ext cx="6949440" cy="274320"/>
          </a:xfrm>
          <a:prstGeom prst="rect">
            <a:avLst/>
          </a:prstGeom>
          <a:noFill/>
          <a:ln/>
        </p:spPr>
        <p:txBody>
          <a:bodyPr wrap="square" lIns="0" tIns="0" rIns="0" bIns="0" rtlCol="0" anchor="t"/>
          <a:lstStyle/>
          <a:p>
            <a:pPr indent="0" marL="0">
              <a:buNone/>
            </a:pPr>
            <a:r>
              <a:rPr lang="en-US" sz="1200" dirty="0">
                <a:solidFill>
                  <a:srgbClr val="4F5B66"/>
                </a:solidFill>
                <a:latin typeface="Arial" pitchFamily="34" charset="0"/>
                <a:ea typeface="Arial" pitchFamily="34" charset="-122"/>
                <a:cs typeface="Arial" pitchFamily="34" charset="-120"/>
              </a:rPr>
              <a:t>Project IRR by option, %, 20-year life</a:t>
            </a:r>
            <a:endParaRPr lang="en-US" sz="1200" dirty="0"/>
          </a:p>
        </p:txBody>
      </p:sp>
      <p:sp>
        <p:nvSpPr>
          <p:cNvPr id="5" name="Bar Grid only"/>
          <p:cNvSpPr/>
          <p:nvPr/>
        </p:nvSpPr>
        <p:spPr>
          <a:xfrm>
            <a:off x="914400" y="2988129"/>
            <a:ext cx="1051560" cy="2406831"/>
          </a:xfrm>
          <a:prstGeom prst="rect">
            <a:avLst/>
          </a:prstGeom>
          <a:solidFill>
            <a:srgbClr val="A3ABB2"/>
          </a:solidFill>
          <a:ln/>
        </p:spPr>
      </p:sp>
      <p:sp>
        <p:nvSpPr>
          <p:cNvPr id="6" name="Text 4"/>
          <p:cNvSpPr txBox="1"/>
          <p:nvPr/>
        </p:nvSpPr>
        <p:spPr>
          <a:xfrm>
            <a:off x="731520" y="2622369"/>
            <a:ext cx="141732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 %]</a:t>
            </a:r>
            <a:endParaRPr lang="en-US" sz="1400" dirty="0"/>
          </a:p>
        </p:txBody>
      </p:sp>
      <p:sp>
        <p:nvSpPr>
          <p:cNvPr id="7" name="Text 5"/>
          <p:cNvSpPr txBox="1"/>
          <p:nvPr/>
        </p:nvSpPr>
        <p:spPr>
          <a:xfrm>
            <a:off x="640080" y="5486400"/>
            <a:ext cx="1600200" cy="27432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Grid only</a:t>
            </a:r>
            <a:endParaRPr lang="en-US" sz="1200" dirty="0"/>
          </a:p>
        </p:txBody>
      </p:sp>
      <p:sp>
        <p:nvSpPr>
          <p:cNvPr id="8" name="Bar Onsite gas"/>
          <p:cNvSpPr/>
          <p:nvPr/>
        </p:nvSpPr>
        <p:spPr>
          <a:xfrm>
            <a:off x="2606040" y="2725565"/>
            <a:ext cx="1051560" cy="2669395"/>
          </a:xfrm>
          <a:prstGeom prst="rect">
            <a:avLst/>
          </a:prstGeom>
          <a:solidFill>
            <a:srgbClr val="A3ABB2"/>
          </a:solidFill>
          <a:ln/>
        </p:spPr>
      </p:sp>
      <p:sp>
        <p:nvSpPr>
          <p:cNvPr id="9" name="Text 7"/>
          <p:cNvSpPr txBox="1"/>
          <p:nvPr/>
        </p:nvSpPr>
        <p:spPr>
          <a:xfrm>
            <a:off x="2423160" y="2359805"/>
            <a:ext cx="141732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 %]</a:t>
            </a:r>
            <a:endParaRPr lang="en-US" sz="1400" dirty="0"/>
          </a:p>
        </p:txBody>
      </p:sp>
      <p:sp>
        <p:nvSpPr>
          <p:cNvPr id="10" name="Text 8"/>
          <p:cNvSpPr txBox="1"/>
          <p:nvPr/>
        </p:nvSpPr>
        <p:spPr>
          <a:xfrm>
            <a:off x="2331720" y="5486400"/>
            <a:ext cx="1600200" cy="27432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Onsite gas</a:t>
            </a:r>
            <a:endParaRPr lang="en-US" sz="1200" dirty="0"/>
          </a:p>
        </p:txBody>
      </p:sp>
      <p:sp>
        <p:nvSpPr>
          <p:cNvPr id="11" name="Bar Hybrid design"/>
          <p:cNvSpPr/>
          <p:nvPr/>
        </p:nvSpPr>
        <p:spPr>
          <a:xfrm>
            <a:off x="4297680" y="3031889"/>
            <a:ext cx="1051560" cy="2363071"/>
          </a:xfrm>
          <a:prstGeom prst="rect">
            <a:avLst/>
          </a:prstGeom>
          <a:solidFill>
            <a:srgbClr val="E3A21A"/>
          </a:solidFill>
          <a:ln/>
        </p:spPr>
      </p:sp>
      <p:sp>
        <p:nvSpPr>
          <p:cNvPr id="12" name="Text 10"/>
          <p:cNvSpPr txBox="1"/>
          <p:nvPr/>
        </p:nvSpPr>
        <p:spPr>
          <a:xfrm>
            <a:off x="4114800" y="2666129"/>
            <a:ext cx="141732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 %]</a:t>
            </a:r>
            <a:endParaRPr lang="en-US" sz="1400" dirty="0"/>
          </a:p>
        </p:txBody>
      </p:sp>
      <p:sp>
        <p:nvSpPr>
          <p:cNvPr id="13" name="Text 11"/>
          <p:cNvSpPr txBox="1"/>
          <p:nvPr/>
        </p:nvSpPr>
        <p:spPr>
          <a:xfrm>
            <a:off x="4023360" y="5486400"/>
            <a:ext cx="1600200" cy="27432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Hybrid design</a:t>
            </a:r>
            <a:endParaRPr lang="en-US" sz="1200" dirty="0"/>
          </a:p>
        </p:txBody>
      </p:sp>
      <p:sp>
        <p:nvSpPr>
          <p:cNvPr id="14" name="Bar [Fourth option]"/>
          <p:cNvSpPr/>
          <p:nvPr/>
        </p:nvSpPr>
        <p:spPr>
          <a:xfrm>
            <a:off x="5989320" y="3863340"/>
            <a:ext cx="1051560" cy="1531620"/>
          </a:xfrm>
          <a:prstGeom prst="rect">
            <a:avLst/>
          </a:prstGeom>
          <a:solidFill>
            <a:srgbClr val="A3ABB2"/>
          </a:solidFill>
          <a:ln/>
        </p:spPr>
      </p:sp>
      <p:sp>
        <p:nvSpPr>
          <p:cNvPr id="15" name="Text 13"/>
          <p:cNvSpPr txBox="1"/>
          <p:nvPr/>
        </p:nvSpPr>
        <p:spPr>
          <a:xfrm>
            <a:off x="5806440" y="3497580"/>
            <a:ext cx="141732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 %]</a:t>
            </a:r>
            <a:endParaRPr lang="en-US" sz="1400" dirty="0"/>
          </a:p>
        </p:txBody>
      </p:sp>
      <p:sp>
        <p:nvSpPr>
          <p:cNvPr id="16" name="Text 14"/>
          <p:cNvSpPr txBox="1"/>
          <p:nvPr/>
        </p:nvSpPr>
        <p:spPr>
          <a:xfrm>
            <a:off x="5715000" y="5486400"/>
            <a:ext cx="1600200" cy="27432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[Fourth option]</a:t>
            </a:r>
            <a:endParaRPr lang="en-US" sz="1200" dirty="0"/>
          </a:p>
        </p:txBody>
      </p:sp>
      <p:sp>
        <p:nvSpPr>
          <p:cNvPr id="17" name="Shape 15"/>
          <p:cNvSpPr/>
          <p:nvPr/>
        </p:nvSpPr>
        <p:spPr>
          <a:xfrm>
            <a:off x="548640" y="5394960"/>
            <a:ext cx="6949440" cy="0"/>
          </a:xfrm>
          <a:prstGeom prst="line">
            <a:avLst/>
          </a:prstGeom>
          <a:noFill/>
          <a:ln w="12700">
            <a:solidFill>
              <a:srgbClr val="A3ABB2"/>
            </a:solidFill>
            <a:prstDash val="solid"/>
          </a:ln>
        </p:spPr>
      </p:sp>
      <p:sp>
        <p:nvSpPr>
          <p:cNvPr id="18" name="Shape 16"/>
          <p:cNvSpPr/>
          <p:nvPr/>
        </p:nvSpPr>
        <p:spPr>
          <a:xfrm>
            <a:off x="548640" y="3206931"/>
            <a:ext cx="6949440" cy="0"/>
          </a:xfrm>
          <a:prstGeom prst="line">
            <a:avLst/>
          </a:prstGeom>
          <a:noFill/>
          <a:ln w="15875">
            <a:solidFill>
              <a:srgbClr val="0E2238"/>
            </a:solidFill>
            <a:prstDash val="dash"/>
          </a:ln>
        </p:spPr>
      </p:sp>
      <p:sp>
        <p:nvSpPr>
          <p:cNvPr id="19" name="Text 17"/>
          <p:cNvSpPr txBox="1"/>
          <p:nvPr/>
        </p:nvSpPr>
        <p:spPr>
          <a:xfrm>
            <a:off x="5486400" y="2905179"/>
            <a:ext cx="2011680" cy="256032"/>
          </a:xfrm>
          <a:prstGeom prst="rect">
            <a:avLst/>
          </a:prstGeom>
          <a:noFill/>
          <a:ln/>
        </p:spPr>
        <p:txBody>
          <a:bodyPr wrap="square" lIns="0" tIns="0" rIns="0" bIns="0" rtlCol="0" anchor="t"/>
          <a:lstStyle/>
          <a:p>
            <a:pPr algn="r" indent="0" marL="0">
              <a:buNone/>
            </a:pPr>
            <a:r>
              <a:rPr lang="en-US" sz="1100" b="1" dirty="0">
                <a:solidFill>
                  <a:srgbClr val="0E2238"/>
                </a:solidFill>
                <a:latin typeface="Arial" pitchFamily="34" charset="0"/>
                <a:ea typeface="Arial" pitchFamily="34" charset="-122"/>
                <a:cs typeface="Arial" pitchFamily="34" charset="-120"/>
              </a:rPr>
              <a:t>KGE hurdle, 10%</a:t>
            </a:r>
            <a:endParaRPr lang="en-US" sz="1100" dirty="0"/>
          </a:p>
        </p:txBody>
      </p:sp>
      <p:sp>
        <p:nvSpPr>
          <p:cNvPr id="20" name="Takeaway panel"/>
          <p:cNvSpPr/>
          <p:nvPr/>
        </p:nvSpPr>
        <p:spPr>
          <a:xfrm>
            <a:off x="8001000" y="1600200"/>
            <a:ext cx="3639312" cy="4251960"/>
          </a:xfrm>
          <a:prstGeom prst="rect">
            <a:avLst/>
          </a:prstGeom>
          <a:solidFill>
            <a:srgbClr val="F1EEE7"/>
          </a:solidFill>
          <a:ln/>
        </p:spPr>
      </p:sp>
      <p:sp>
        <p:nvSpPr>
          <p:cNvPr id="21" name="Text 19"/>
          <p:cNvSpPr txBox="1"/>
          <p:nvPr/>
        </p:nvSpPr>
        <p:spPr>
          <a:xfrm>
            <a:off x="8275320" y="1856232"/>
            <a:ext cx="3090672" cy="320040"/>
          </a:xfrm>
          <a:prstGeom prst="rect">
            <a:avLst/>
          </a:prstGeom>
          <a:noFill/>
          <a:ln/>
        </p:spPr>
        <p:txBody>
          <a:bodyPr wrap="square" lIns="0" tIns="0" rIns="0" bIns="0" rtlCol="0" anchor="t"/>
          <a:lstStyle/>
          <a:p>
            <a:pPr indent="0" marL="0">
              <a:buNone/>
            </a:pPr>
            <a:r>
              <a:rPr lang="en-US" sz="1300" b="1" dirty="0">
                <a:solidFill>
                  <a:srgbClr val="0E2238"/>
                </a:solidFill>
                <a:latin typeface="Arial" pitchFamily="34" charset="0"/>
                <a:ea typeface="Arial" pitchFamily="34" charset="-122"/>
                <a:cs typeface="Arial" pitchFamily="34" charset="-120"/>
              </a:rPr>
              <a:t>What this means</a:t>
            </a:r>
            <a:endParaRPr lang="en-US" sz="1300" dirty="0"/>
          </a:p>
        </p:txBody>
      </p:sp>
      <p:sp>
        <p:nvSpPr>
          <p:cNvPr id="22" name="Text 20"/>
          <p:cNvSpPr txBox="1"/>
          <p:nvPr/>
        </p:nvSpPr>
        <p:spPr>
          <a:xfrm>
            <a:off x="8275320" y="2313432"/>
            <a:ext cx="3090672" cy="33375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[Does the recommended option clear 10%, and by how much]</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[What the extra return or cost buys KGE]</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[The input that would push it below the hurdle]</a:t>
            </a:r>
            <a:endParaRPr lang="en-US" sz="1400" dirty="0"/>
          </a:p>
        </p:txBody>
      </p:sp>
      <p:sp>
        <p:nvSpPr>
          <p:cNvPr id="23"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SLAM financial model; case exhibits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on what moves NPV from the base plan to the recommendation]</a:t>
            </a:r>
            <a:endParaRPr lang="en-US" sz="2400" dirty="0"/>
          </a:p>
        </p:txBody>
      </p:sp>
      <p:sp>
        <p:nvSpPr>
          <p:cNvPr id="3" name="Sticker"/>
          <p:cNvSpPr txBox="1"/>
          <p:nvPr/>
        </p:nvSpPr>
        <p:spPr>
          <a:xfrm>
            <a:off x="10561320" y="475488"/>
            <a:ext cx="1078992" cy="274320"/>
          </a:xfrm>
          <a:prstGeom prst="rect">
            <a:avLst/>
          </a:prstGeom>
          <a:noFill/>
          <a:ln w="9525">
            <a:solidFill>
              <a:srgbClr val="A3ABB2"/>
            </a:solidFill>
          </a:ln>
        </p:spPr>
        <p:txBody>
          <a:bodyPr wrap="square" lIns="0" tIns="0" rIns="0" bIns="0" rtlCol="0" anchor="ctr"/>
          <a:lstStyle/>
          <a:p>
            <a:pPr algn="ctr" indent="0" marL="0">
              <a:buNone/>
            </a:pPr>
            <a:r>
              <a:rPr lang="en-US" sz="900" b="1" dirty="0">
                <a:solidFill>
                  <a:srgbClr val="4F5B66"/>
                </a:solidFill>
                <a:latin typeface="Arial" pitchFamily="34" charset="0"/>
                <a:ea typeface="Arial" pitchFamily="34" charset="-122"/>
                <a:cs typeface="Arial" pitchFamily="34" charset="-120"/>
              </a:rPr>
              <a:t>Illustrative</a:t>
            </a:r>
            <a:endParaRPr lang="en-US" sz="900" dirty="0"/>
          </a:p>
        </p:txBody>
      </p:sp>
      <p:sp>
        <p:nvSpPr>
          <p:cNvPr id="4" name="Unit line"/>
          <p:cNvSpPr txBox="1"/>
          <p:nvPr/>
        </p:nvSpPr>
        <p:spPr>
          <a:xfrm>
            <a:off x="548640" y="1600200"/>
            <a:ext cx="10972800" cy="274320"/>
          </a:xfrm>
          <a:prstGeom prst="rect">
            <a:avLst/>
          </a:prstGeom>
          <a:noFill/>
          <a:ln/>
        </p:spPr>
        <p:txBody>
          <a:bodyPr wrap="square" lIns="0" tIns="0" rIns="0" bIns="0" rtlCol="0" anchor="t"/>
          <a:lstStyle/>
          <a:p>
            <a:pPr indent="0" marL="0">
              <a:buNone/>
            </a:pPr>
            <a:r>
              <a:rPr lang="en-US" sz="1200" dirty="0">
                <a:solidFill>
                  <a:srgbClr val="4F5B66"/>
                </a:solidFill>
                <a:latin typeface="Arial" pitchFamily="34" charset="0"/>
                <a:ea typeface="Arial" pitchFamily="34" charset="-122"/>
                <a:cs typeface="Arial" pitchFamily="34" charset="-120"/>
              </a:rPr>
              <a:t>NPV at 10%, $ millions, base plan to recommended option</a:t>
            </a:r>
            <a:endParaRPr lang="en-US" sz="1200" dirty="0"/>
          </a:p>
        </p:txBody>
      </p:sp>
      <p:sp>
        <p:nvSpPr>
          <p:cNvPr id="5" name="Step 1"/>
          <p:cNvSpPr/>
          <p:nvPr/>
        </p:nvSpPr>
        <p:spPr>
          <a:xfrm>
            <a:off x="777240" y="3170446"/>
            <a:ext cx="1143000" cy="2270234"/>
          </a:xfrm>
          <a:prstGeom prst="rect">
            <a:avLst/>
          </a:prstGeom>
          <a:solidFill>
            <a:srgbClr val="0E2238"/>
          </a:solidFill>
          <a:ln/>
        </p:spPr>
      </p:sp>
      <p:sp>
        <p:nvSpPr>
          <p:cNvPr id="6" name="Text 4"/>
          <p:cNvSpPr txBox="1"/>
          <p:nvPr/>
        </p:nvSpPr>
        <p:spPr>
          <a:xfrm>
            <a:off x="594360" y="2841262"/>
            <a:ext cx="1508760" cy="274320"/>
          </a:xfrm>
          <a:prstGeom prst="rect">
            <a:avLst/>
          </a:prstGeom>
          <a:noFill/>
          <a:ln/>
        </p:spPr>
        <p:txBody>
          <a:bodyPr wrap="square" lIns="0" tIns="0" rIns="0" bIns="0" rtlCol="0" anchor="t"/>
          <a:lstStyle/>
          <a:p>
            <a:pPr algn="ctr" indent="0" marL="0">
              <a:buNone/>
            </a:pPr>
            <a:r>
              <a:rPr lang="en-US" sz="1300" b="1" dirty="0">
                <a:solidFill>
                  <a:srgbClr val="1A2433"/>
                </a:solidFill>
                <a:latin typeface="Arial" pitchFamily="34" charset="0"/>
                <a:ea typeface="Arial" pitchFamily="34" charset="-122"/>
                <a:cs typeface="Arial" pitchFamily="34" charset="-120"/>
              </a:rPr>
              <a:t>[$ M]</a:t>
            </a:r>
            <a:endParaRPr lang="en-US" sz="1300" dirty="0"/>
          </a:p>
        </p:txBody>
      </p:sp>
      <p:sp>
        <p:nvSpPr>
          <p:cNvPr id="7" name="Text 5"/>
          <p:cNvSpPr txBox="1"/>
          <p:nvPr/>
        </p:nvSpPr>
        <p:spPr>
          <a:xfrm>
            <a:off x="502920" y="5532120"/>
            <a:ext cx="169164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Base plan NPV</a:t>
            </a:r>
            <a:endParaRPr lang="en-US" sz="1200" dirty="0"/>
          </a:p>
        </p:txBody>
      </p:sp>
      <p:sp>
        <p:nvSpPr>
          <p:cNvPr id="8" name="Shape 6"/>
          <p:cNvSpPr/>
          <p:nvPr/>
        </p:nvSpPr>
        <p:spPr>
          <a:xfrm>
            <a:off x="1920240" y="3170446"/>
            <a:ext cx="658368" cy="0"/>
          </a:xfrm>
          <a:prstGeom prst="line">
            <a:avLst/>
          </a:prstGeom>
          <a:noFill/>
          <a:ln w="9525">
            <a:solidFill>
              <a:srgbClr val="A3ABB2"/>
            </a:solidFill>
            <a:prstDash val="dash"/>
          </a:ln>
        </p:spPr>
      </p:sp>
      <p:sp>
        <p:nvSpPr>
          <p:cNvPr id="9" name="Step 2"/>
          <p:cNvSpPr/>
          <p:nvPr/>
        </p:nvSpPr>
        <p:spPr>
          <a:xfrm>
            <a:off x="2578608" y="2602887"/>
            <a:ext cx="1143000" cy="567559"/>
          </a:xfrm>
          <a:prstGeom prst="rect">
            <a:avLst/>
          </a:prstGeom>
          <a:solidFill>
            <a:srgbClr val="2E7D5B"/>
          </a:solidFill>
          <a:ln/>
        </p:spPr>
      </p:sp>
      <p:sp>
        <p:nvSpPr>
          <p:cNvPr id="10" name="Text 8"/>
          <p:cNvSpPr txBox="1"/>
          <p:nvPr/>
        </p:nvSpPr>
        <p:spPr>
          <a:xfrm>
            <a:off x="2395728" y="2273703"/>
            <a:ext cx="1508760" cy="274320"/>
          </a:xfrm>
          <a:prstGeom prst="rect">
            <a:avLst/>
          </a:prstGeom>
          <a:noFill/>
          <a:ln/>
        </p:spPr>
        <p:txBody>
          <a:bodyPr wrap="square" lIns="0" tIns="0" rIns="0" bIns="0" rtlCol="0" anchor="t"/>
          <a:lstStyle/>
          <a:p>
            <a:pPr algn="ctr" indent="0" marL="0">
              <a:buNone/>
            </a:pPr>
            <a:r>
              <a:rPr lang="en-US" sz="1300" b="1" dirty="0">
                <a:solidFill>
                  <a:srgbClr val="1A2433"/>
                </a:solidFill>
                <a:latin typeface="Arial" pitchFamily="34" charset="0"/>
                <a:ea typeface="Arial" pitchFamily="34" charset="-122"/>
                <a:cs typeface="Arial" pitchFamily="34" charset="-120"/>
              </a:rPr>
              <a:t>+[$ M]</a:t>
            </a:r>
            <a:endParaRPr lang="en-US" sz="1300" dirty="0"/>
          </a:p>
        </p:txBody>
      </p:sp>
      <p:sp>
        <p:nvSpPr>
          <p:cNvPr id="11" name="Text 9"/>
          <p:cNvSpPr txBox="1"/>
          <p:nvPr/>
        </p:nvSpPr>
        <p:spPr>
          <a:xfrm>
            <a:off x="2304288" y="5532120"/>
            <a:ext cx="169164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[Power cost]</a:t>
            </a:r>
            <a:endParaRPr lang="en-US" sz="1200" dirty="0"/>
          </a:p>
        </p:txBody>
      </p:sp>
      <p:sp>
        <p:nvSpPr>
          <p:cNvPr id="12" name="Shape 10"/>
          <p:cNvSpPr/>
          <p:nvPr/>
        </p:nvSpPr>
        <p:spPr>
          <a:xfrm>
            <a:off x="3721608" y="2602887"/>
            <a:ext cx="658368" cy="0"/>
          </a:xfrm>
          <a:prstGeom prst="line">
            <a:avLst/>
          </a:prstGeom>
          <a:noFill/>
          <a:ln w="9525">
            <a:solidFill>
              <a:srgbClr val="A3ABB2"/>
            </a:solidFill>
            <a:prstDash val="dash"/>
          </a:ln>
        </p:spPr>
      </p:sp>
      <p:sp>
        <p:nvSpPr>
          <p:cNvPr id="13" name="Step 3"/>
          <p:cNvSpPr/>
          <p:nvPr/>
        </p:nvSpPr>
        <p:spPr>
          <a:xfrm>
            <a:off x="4379976" y="2262352"/>
            <a:ext cx="1143000" cy="340535"/>
          </a:xfrm>
          <a:prstGeom prst="rect">
            <a:avLst/>
          </a:prstGeom>
          <a:solidFill>
            <a:srgbClr val="2E7D5B"/>
          </a:solidFill>
          <a:ln/>
        </p:spPr>
      </p:sp>
      <p:sp>
        <p:nvSpPr>
          <p:cNvPr id="14" name="Text 12"/>
          <p:cNvSpPr txBox="1"/>
          <p:nvPr/>
        </p:nvSpPr>
        <p:spPr>
          <a:xfrm>
            <a:off x="4197096" y="1933168"/>
            <a:ext cx="1508760" cy="274320"/>
          </a:xfrm>
          <a:prstGeom prst="rect">
            <a:avLst/>
          </a:prstGeom>
          <a:noFill/>
          <a:ln/>
        </p:spPr>
        <p:txBody>
          <a:bodyPr wrap="square" lIns="0" tIns="0" rIns="0" bIns="0" rtlCol="0" anchor="t"/>
          <a:lstStyle/>
          <a:p>
            <a:pPr algn="ctr" indent="0" marL="0">
              <a:buNone/>
            </a:pPr>
            <a:r>
              <a:rPr lang="en-US" sz="1300" b="1" dirty="0">
                <a:solidFill>
                  <a:srgbClr val="1A2433"/>
                </a:solidFill>
                <a:latin typeface="Arial" pitchFamily="34" charset="0"/>
                <a:ea typeface="Arial" pitchFamily="34" charset="-122"/>
                <a:cs typeface="Arial" pitchFamily="34" charset="-120"/>
              </a:rPr>
              <a:t>+[$ M]</a:t>
            </a:r>
            <a:endParaRPr lang="en-US" sz="1300" dirty="0"/>
          </a:p>
        </p:txBody>
      </p:sp>
      <p:sp>
        <p:nvSpPr>
          <p:cNvPr id="15" name="Text 13"/>
          <p:cNvSpPr txBox="1"/>
          <p:nvPr/>
        </p:nvSpPr>
        <p:spPr>
          <a:xfrm>
            <a:off x="4105656" y="5532120"/>
            <a:ext cx="169164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[Tax abatement]</a:t>
            </a:r>
            <a:endParaRPr lang="en-US" sz="1200" dirty="0"/>
          </a:p>
        </p:txBody>
      </p:sp>
      <p:sp>
        <p:nvSpPr>
          <p:cNvPr id="16" name="Shape 14"/>
          <p:cNvSpPr/>
          <p:nvPr/>
        </p:nvSpPr>
        <p:spPr>
          <a:xfrm>
            <a:off x="5522976" y="2262352"/>
            <a:ext cx="658368" cy="0"/>
          </a:xfrm>
          <a:prstGeom prst="line">
            <a:avLst/>
          </a:prstGeom>
          <a:noFill/>
          <a:ln w="9525">
            <a:solidFill>
              <a:srgbClr val="A3ABB2"/>
            </a:solidFill>
            <a:prstDash val="dash"/>
          </a:ln>
        </p:spPr>
      </p:sp>
      <p:sp>
        <p:nvSpPr>
          <p:cNvPr id="17" name="Step 4"/>
          <p:cNvSpPr/>
          <p:nvPr/>
        </p:nvSpPr>
        <p:spPr>
          <a:xfrm>
            <a:off x="6181344" y="2262352"/>
            <a:ext cx="1143000" cy="681070"/>
          </a:xfrm>
          <a:prstGeom prst="rect">
            <a:avLst/>
          </a:prstGeom>
          <a:solidFill>
            <a:srgbClr val="B4442F"/>
          </a:solidFill>
          <a:ln/>
        </p:spPr>
      </p:sp>
      <p:sp>
        <p:nvSpPr>
          <p:cNvPr id="18" name="Text 16"/>
          <p:cNvSpPr txBox="1"/>
          <p:nvPr/>
        </p:nvSpPr>
        <p:spPr>
          <a:xfrm>
            <a:off x="5998464" y="1933168"/>
            <a:ext cx="1508760" cy="274320"/>
          </a:xfrm>
          <a:prstGeom prst="rect">
            <a:avLst/>
          </a:prstGeom>
          <a:noFill/>
          <a:ln/>
        </p:spPr>
        <p:txBody>
          <a:bodyPr wrap="square" lIns="0" tIns="0" rIns="0" bIns="0" rtlCol="0" anchor="t"/>
          <a:lstStyle/>
          <a:p>
            <a:pPr algn="ctr" indent="0" marL="0">
              <a:buNone/>
            </a:pPr>
            <a:r>
              <a:rPr lang="en-US" sz="1300" b="1" dirty="0">
                <a:solidFill>
                  <a:srgbClr val="1A2433"/>
                </a:solidFill>
                <a:latin typeface="Arial" pitchFamily="34" charset="0"/>
                <a:ea typeface="Arial" pitchFamily="34" charset="-122"/>
                <a:cs typeface="Arial" pitchFamily="34" charset="-120"/>
              </a:rPr>
              <a:t>-[$ M]</a:t>
            </a:r>
            <a:endParaRPr lang="en-US" sz="1300" dirty="0"/>
          </a:p>
        </p:txBody>
      </p:sp>
      <p:sp>
        <p:nvSpPr>
          <p:cNvPr id="19" name="Text 17"/>
          <p:cNvSpPr txBox="1"/>
          <p:nvPr/>
        </p:nvSpPr>
        <p:spPr>
          <a:xfrm>
            <a:off x="5907024" y="5532120"/>
            <a:ext cx="169164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[Hybrid capex]</a:t>
            </a:r>
            <a:endParaRPr lang="en-US" sz="1200" dirty="0"/>
          </a:p>
        </p:txBody>
      </p:sp>
      <p:sp>
        <p:nvSpPr>
          <p:cNvPr id="20" name="Shape 18"/>
          <p:cNvSpPr/>
          <p:nvPr/>
        </p:nvSpPr>
        <p:spPr>
          <a:xfrm>
            <a:off x="7324344" y="2943422"/>
            <a:ext cx="658368" cy="0"/>
          </a:xfrm>
          <a:prstGeom prst="line">
            <a:avLst/>
          </a:prstGeom>
          <a:noFill/>
          <a:ln w="9525">
            <a:solidFill>
              <a:srgbClr val="A3ABB2"/>
            </a:solidFill>
            <a:prstDash val="dash"/>
          </a:ln>
        </p:spPr>
      </p:sp>
      <p:sp>
        <p:nvSpPr>
          <p:cNvPr id="21" name="Step 5"/>
          <p:cNvSpPr/>
          <p:nvPr/>
        </p:nvSpPr>
        <p:spPr>
          <a:xfrm>
            <a:off x="7982712" y="2943422"/>
            <a:ext cx="1143000" cy="272428"/>
          </a:xfrm>
          <a:prstGeom prst="rect">
            <a:avLst/>
          </a:prstGeom>
          <a:solidFill>
            <a:srgbClr val="B4442F"/>
          </a:solidFill>
          <a:ln/>
        </p:spPr>
      </p:sp>
      <p:sp>
        <p:nvSpPr>
          <p:cNvPr id="22" name="Text 20"/>
          <p:cNvSpPr txBox="1"/>
          <p:nvPr/>
        </p:nvSpPr>
        <p:spPr>
          <a:xfrm>
            <a:off x="7799832" y="2614238"/>
            <a:ext cx="1508760" cy="274320"/>
          </a:xfrm>
          <a:prstGeom prst="rect">
            <a:avLst/>
          </a:prstGeom>
          <a:noFill/>
          <a:ln/>
        </p:spPr>
        <p:txBody>
          <a:bodyPr wrap="square" lIns="0" tIns="0" rIns="0" bIns="0" rtlCol="0" anchor="t"/>
          <a:lstStyle/>
          <a:p>
            <a:pPr algn="ctr" indent="0" marL="0">
              <a:buNone/>
            </a:pPr>
            <a:r>
              <a:rPr lang="en-US" sz="1300" b="1" dirty="0">
                <a:solidFill>
                  <a:srgbClr val="1A2433"/>
                </a:solidFill>
                <a:latin typeface="Arial" pitchFamily="34" charset="0"/>
                <a:ea typeface="Arial" pitchFamily="34" charset="-122"/>
                <a:cs typeface="Arial" pitchFamily="34" charset="-120"/>
              </a:rPr>
              <a:t>-[$ M]</a:t>
            </a:r>
            <a:endParaRPr lang="en-US" sz="1300" dirty="0"/>
          </a:p>
        </p:txBody>
      </p:sp>
      <p:sp>
        <p:nvSpPr>
          <p:cNvPr id="23" name="Text 21"/>
          <p:cNvSpPr txBox="1"/>
          <p:nvPr/>
        </p:nvSpPr>
        <p:spPr>
          <a:xfrm>
            <a:off x="7708392" y="5532120"/>
            <a:ext cx="169164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[Community commitments]</a:t>
            </a:r>
            <a:endParaRPr lang="en-US" sz="1200" dirty="0"/>
          </a:p>
        </p:txBody>
      </p:sp>
      <p:sp>
        <p:nvSpPr>
          <p:cNvPr id="24" name="Shape 22"/>
          <p:cNvSpPr/>
          <p:nvPr/>
        </p:nvSpPr>
        <p:spPr>
          <a:xfrm>
            <a:off x="9125712" y="3215850"/>
            <a:ext cx="658368" cy="0"/>
          </a:xfrm>
          <a:prstGeom prst="line">
            <a:avLst/>
          </a:prstGeom>
          <a:noFill/>
          <a:ln w="9525">
            <a:solidFill>
              <a:srgbClr val="A3ABB2"/>
            </a:solidFill>
            <a:prstDash val="dash"/>
          </a:ln>
        </p:spPr>
      </p:sp>
      <p:sp>
        <p:nvSpPr>
          <p:cNvPr id="25" name="Step 6"/>
          <p:cNvSpPr/>
          <p:nvPr/>
        </p:nvSpPr>
        <p:spPr>
          <a:xfrm>
            <a:off x="9784080" y="3215850"/>
            <a:ext cx="1143000" cy="2224830"/>
          </a:xfrm>
          <a:prstGeom prst="rect">
            <a:avLst/>
          </a:prstGeom>
          <a:solidFill>
            <a:srgbClr val="0E2238"/>
          </a:solidFill>
          <a:ln/>
        </p:spPr>
      </p:sp>
      <p:sp>
        <p:nvSpPr>
          <p:cNvPr id="26" name="Text 24"/>
          <p:cNvSpPr txBox="1"/>
          <p:nvPr/>
        </p:nvSpPr>
        <p:spPr>
          <a:xfrm>
            <a:off x="9601200" y="2886666"/>
            <a:ext cx="1508760" cy="274320"/>
          </a:xfrm>
          <a:prstGeom prst="rect">
            <a:avLst/>
          </a:prstGeom>
          <a:noFill/>
          <a:ln/>
        </p:spPr>
        <p:txBody>
          <a:bodyPr wrap="square" lIns="0" tIns="0" rIns="0" bIns="0" rtlCol="0" anchor="t"/>
          <a:lstStyle/>
          <a:p>
            <a:pPr algn="ctr" indent="0" marL="0">
              <a:buNone/>
            </a:pPr>
            <a:r>
              <a:rPr lang="en-US" sz="1300" b="1" dirty="0">
                <a:solidFill>
                  <a:srgbClr val="1A2433"/>
                </a:solidFill>
                <a:latin typeface="Arial" pitchFamily="34" charset="0"/>
                <a:ea typeface="Arial" pitchFamily="34" charset="-122"/>
                <a:cs typeface="Arial" pitchFamily="34" charset="-120"/>
              </a:rPr>
              <a:t>[$ M]</a:t>
            </a:r>
            <a:endParaRPr lang="en-US" sz="1300" dirty="0"/>
          </a:p>
        </p:txBody>
      </p:sp>
      <p:sp>
        <p:nvSpPr>
          <p:cNvPr id="27" name="Text 25"/>
          <p:cNvSpPr txBox="1"/>
          <p:nvPr/>
        </p:nvSpPr>
        <p:spPr>
          <a:xfrm>
            <a:off x="9509760" y="5532120"/>
            <a:ext cx="169164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Recommended NPV</a:t>
            </a:r>
            <a:endParaRPr lang="en-US" sz="1200" dirty="0"/>
          </a:p>
        </p:txBody>
      </p:sp>
      <p:sp>
        <p:nvSpPr>
          <p:cNvPr id="28" name="Shape 26"/>
          <p:cNvSpPr/>
          <p:nvPr/>
        </p:nvSpPr>
        <p:spPr>
          <a:xfrm>
            <a:off x="548640" y="5440680"/>
            <a:ext cx="11091672" cy="0"/>
          </a:xfrm>
          <a:prstGeom prst="line">
            <a:avLst/>
          </a:prstGeom>
          <a:noFill/>
          <a:ln w="12700">
            <a:solidFill>
              <a:srgbClr val="A3ABB2"/>
            </a:solidFill>
            <a:prstDash val="solid"/>
          </a:ln>
        </p:spPr>
      </p:sp>
      <p:sp>
        <p:nvSpPr>
          <p:cNvPr id="29"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SLAM financial model</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Agenda</a:t>
            </a:r>
            <a:endParaRPr lang="en-US" sz="2400" dirty="0"/>
          </a:p>
        </p:txBody>
      </p:sp>
      <p:sp>
        <p:nvSpPr>
          <p:cNvPr id="3" name="Shape 1"/>
          <p:cNvSpPr/>
          <p:nvPr/>
        </p:nvSpPr>
        <p:spPr>
          <a:xfrm>
            <a:off x="548640" y="1691640"/>
            <a:ext cx="11091672" cy="0"/>
          </a:xfrm>
          <a:prstGeom prst="line">
            <a:avLst/>
          </a:prstGeom>
          <a:noFill/>
          <a:ln w="9525">
            <a:solidFill>
              <a:srgbClr val="D3D6D2"/>
            </a:solidFill>
            <a:prstDash val="solid"/>
          </a:ln>
        </p:spPr>
      </p:sp>
      <p:sp>
        <p:nvSpPr>
          <p:cNvPr id="4" name="Text 2"/>
          <p:cNvSpPr txBox="1"/>
          <p:nvPr/>
        </p:nvSpPr>
        <p:spPr>
          <a:xfrm>
            <a:off x="822960" y="194767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1</a:t>
            </a:r>
            <a:endParaRPr lang="en-US" sz="2600" dirty="0"/>
          </a:p>
        </p:txBody>
      </p:sp>
      <p:sp>
        <p:nvSpPr>
          <p:cNvPr id="5" name="Text 3"/>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Recommendation and situation</a:t>
            </a:r>
            <a:endParaRPr lang="en-US" sz="2000" dirty="0"/>
          </a:p>
        </p:txBody>
      </p:sp>
      <p:sp>
        <p:nvSpPr>
          <p:cNvPr id="6" name="Text 4"/>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7" name="Text 5"/>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3 min</a:t>
            </a:r>
            <a:endParaRPr lang="en-US" sz="1400" dirty="0"/>
          </a:p>
        </p:txBody>
      </p:sp>
      <p:sp>
        <p:nvSpPr>
          <p:cNvPr id="8" name="Shape 6"/>
          <p:cNvSpPr/>
          <p:nvPr/>
        </p:nvSpPr>
        <p:spPr>
          <a:xfrm>
            <a:off x="548640" y="2651760"/>
            <a:ext cx="11091672" cy="0"/>
          </a:xfrm>
          <a:prstGeom prst="line">
            <a:avLst/>
          </a:prstGeom>
          <a:noFill/>
          <a:ln w="9525">
            <a:solidFill>
              <a:srgbClr val="D3D6D2"/>
            </a:solidFill>
            <a:prstDash val="solid"/>
          </a:ln>
        </p:spPr>
      </p:sp>
      <p:sp>
        <p:nvSpPr>
          <p:cNvPr id="9" name="Text 7"/>
          <p:cNvSpPr txBox="1"/>
          <p:nvPr/>
        </p:nvSpPr>
        <p:spPr>
          <a:xfrm>
            <a:off x="822960" y="290779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2</a:t>
            </a:r>
            <a:endParaRPr lang="en-US" sz="2600" dirty="0"/>
          </a:p>
        </p:txBody>
      </p:sp>
      <p:sp>
        <p:nvSpPr>
          <p:cNvPr id="10" name="Text 8"/>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Financial case</a:t>
            </a:r>
            <a:endParaRPr lang="en-US" sz="2000" dirty="0"/>
          </a:p>
        </p:txBody>
      </p:sp>
      <p:sp>
        <p:nvSpPr>
          <p:cNvPr id="11" name="Text 9"/>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12" name="Text 10"/>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13" name="Current section"/>
          <p:cNvSpPr/>
          <p:nvPr/>
        </p:nvSpPr>
        <p:spPr>
          <a:xfrm>
            <a:off x="548640" y="3611880"/>
            <a:ext cx="11091672" cy="960120"/>
          </a:xfrm>
          <a:prstGeom prst="rect">
            <a:avLst/>
          </a:prstGeom>
          <a:solidFill>
            <a:srgbClr val="FBF0D6"/>
          </a:solidFill>
          <a:ln/>
        </p:spPr>
      </p:sp>
      <p:sp>
        <p:nvSpPr>
          <p:cNvPr id="14" name="Shape 12"/>
          <p:cNvSpPr/>
          <p:nvPr/>
        </p:nvSpPr>
        <p:spPr>
          <a:xfrm>
            <a:off x="548640" y="3611880"/>
            <a:ext cx="11091672" cy="0"/>
          </a:xfrm>
          <a:prstGeom prst="line">
            <a:avLst/>
          </a:prstGeom>
          <a:noFill/>
          <a:ln w="15875">
            <a:solidFill>
              <a:srgbClr val="E3A21A"/>
            </a:solidFill>
            <a:prstDash val="solid"/>
          </a:ln>
        </p:spPr>
      </p:sp>
      <p:sp>
        <p:nvSpPr>
          <p:cNvPr id="15" name="Text 13"/>
          <p:cNvSpPr txBox="1"/>
          <p:nvPr/>
        </p:nvSpPr>
        <p:spPr>
          <a:xfrm>
            <a:off x="822960" y="3867912"/>
            <a:ext cx="548640" cy="502920"/>
          </a:xfrm>
          <a:prstGeom prst="rect">
            <a:avLst/>
          </a:prstGeom>
          <a:noFill/>
          <a:ln/>
        </p:spPr>
        <p:txBody>
          <a:bodyPr wrap="square" lIns="0" tIns="0" rIns="0" bIns="0" rtlCol="0" anchor="t"/>
          <a:lstStyle/>
          <a:p>
            <a:pPr indent="0" marL="0">
              <a:buNone/>
            </a:pPr>
            <a:r>
              <a:rPr lang="en-US" sz="2600" dirty="0">
                <a:solidFill>
                  <a:srgbClr val="0E2238"/>
                </a:solidFill>
                <a:latin typeface="Georgia" pitchFamily="34" charset="0"/>
                <a:ea typeface="Georgia" pitchFamily="34" charset="-122"/>
                <a:cs typeface="Georgia" pitchFamily="34" charset="-120"/>
              </a:rPr>
              <a:t>3</a:t>
            </a:r>
            <a:endParaRPr lang="en-US" sz="2600" dirty="0"/>
          </a:p>
        </p:txBody>
      </p:sp>
      <p:sp>
        <p:nvSpPr>
          <p:cNvPr id="16" name="Text 14"/>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b="1" dirty="0">
                <a:solidFill>
                  <a:srgbClr val="1A2433"/>
                </a:solidFill>
                <a:latin typeface="Arial" pitchFamily="34" charset="0"/>
                <a:ea typeface="Arial" pitchFamily="34" charset="-122"/>
                <a:cs typeface="Arial" pitchFamily="34" charset="-120"/>
              </a:rPr>
              <a:t>Power and energy</a:t>
            </a:r>
            <a:endParaRPr lang="en-US" sz="2000" dirty="0"/>
          </a:p>
        </p:txBody>
      </p:sp>
      <p:sp>
        <p:nvSpPr>
          <p:cNvPr id="17" name="Text 15"/>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[Presenter]</a:t>
            </a:r>
            <a:endParaRPr lang="en-US" sz="1400" dirty="0"/>
          </a:p>
        </p:txBody>
      </p:sp>
      <p:sp>
        <p:nvSpPr>
          <p:cNvPr id="18" name="Text 16"/>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4F5B66"/>
                </a:solidFill>
                <a:latin typeface="Arial" pitchFamily="34" charset="0"/>
                <a:ea typeface="Arial" pitchFamily="34" charset="-122"/>
                <a:cs typeface="Arial" pitchFamily="34" charset="-120"/>
              </a:rPr>
              <a:t>5 min</a:t>
            </a:r>
            <a:endParaRPr lang="en-US" sz="1400" dirty="0"/>
          </a:p>
        </p:txBody>
      </p:sp>
      <p:sp>
        <p:nvSpPr>
          <p:cNvPr id="19" name="Shape 17"/>
          <p:cNvSpPr/>
          <p:nvPr/>
        </p:nvSpPr>
        <p:spPr>
          <a:xfrm>
            <a:off x="548640" y="4572000"/>
            <a:ext cx="11091672" cy="0"/>
          </a:xfrm>
          <a:prstGeom prst="line">
            <a:avLst/>
          </a:prstGeom>
          <a:noFill/>
          <a:ln w="9525">
            <a:solidFill>
              <a:srgbClr val="D3D6D2"/>
            </a:solidFill>
            <a:prstDash val="solid"/>
          </a:ln>
        </p:spPr>
      </p:sp>
      <p:sp>
        <p:nvSpPr>
          <p:cNvPr id="20" name="Text 18"/>
          <p:cNvSpPr txBox="1"/>
          <p:nvPr/>
        </p:nvSpPr>
        <p:spPr>
          <a:xfrm>
            <a:off x="822960" y="482803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4</a:t>
            </a:r>
            <a:endParaRPr lang="en-US" sz="26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3D6D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Onsite gas costs least per MWh, while only clean contracts and the hybrid meet the 2035 clean step</a:t>
            </a:r>
            <a:endParaRPr lang="en-US" sz="2400" dirty="0"/>
          </a:p>
        </p:txBody>
      </p:sp>
      <p:sp>
        <p:nvSpPr>
          <p:cNvPr id="3" name="Unit line"/>
          <p:cNvSpPr txBox="1"/>
          <p:nvPr/>
        </p:nvSpPr>
        <p:spPr>
          <a:xfrm>
            <a:off x="548640" y="1600200"/>
            <a:ext cx="7223760" cy="274320"/>
          </a:xfrm>
          <a:prstGeom prst="rect">
            <a:avLst/>
          </a:prstGeom>
          <a:noFill/>
          <a:ln/>
        </p:spPr>
        <p:txBody>
          <a:bodyPr wrap="square" lIns="0" tIns="0" rIns="0" bIns="0" rtlCol="0" anchor="t"/>
          <a:lstStyle/>
          <a:p>
            <a:pPr indent="0" marL="0">
              <a:buNone/>
            </a:pPr>
            <a:r>
              <a:rPr lang="en-US" sz="1200" dirty="0">
                <a:solidFill>
                  <a:srgbClr val="4F5B66"/>
                </a:solidFill>
                <a:latin typeface="Arial" pitchFamily="34" charset="0"/>
                <a:ea typeface="Arial" pitchFamily="34" charset="-122"/>
                <a:cs typeface="Arial" pitchFamily="34" charset="-120"/>
              </a:rPr>
              <a:t>Phase 1 energy cost, $ per MWh</a:t>
            </a:r>
            <a:endParaRPr lang="en-US" sz="1200" dirty="0"/>
          </a:p>
        </p:txBody>
      </p:sp>
      <p:sp>
        <p:nvSpPr>
          <p:cNvPr id="4" name="Bar Grid only"/>
          <p:cNvSpPr/>
          <p:nvPr/>
        </p:nvSpPr>
        <p:spPr>
          <a:xfrm>
            <a:off x="777240" y="3051353"/>
            <a:ext cx="960120" cy="2389327"/>
          </a:xfrm>
          <a:prstGeom prst="rect">
            <a:avLst/>
          </a:prstGeom>
          <a:solidFill>
            <a:srgbClr val="A3ABB2"/>
          </a:solidFill>
          <a:ln/>
        </p:spPr>
      </p:sp>
      <p:sp>
        <p:nvSpPr>
          <p:cNvPr id="5" name="Text 3"/>
          <p:cNvSpPr txBox="1"/>
          <p:nvPr/>
        </p:nvSpPr>
        <p:spPr>
          <a:xfrm>
            <a:off x="594360" y="2703881"/>
            <a:ext cx="132588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$93.6</a:t>
            </a:r>
            <a:endParaRPr lang="en-US" sz="1400" dirty="0"/>
          </a:p>
        </p:txBody>
      </p:sp>
      <p:sp>
        <p:nvSpPr>
          <p:cNvPr id="6" name="Text 4"/>
          <p:cNvSpPr txBox="1"/>
          <p:nvPr/>
        </p:nvSpPr>
        <p:spPr>
          <a:xfrm>
            <a:off x="548640" y="5532120"/>
            <a:ext cx="141732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Grid only</a:t>
            </a:r>
            <a:endParaRPr lang="en-US" sz="1200" dirty="0"/>
          </a:p>
        </p:txBody>
      </p:sp>
      <p:sp>
        <p:nvSpPr>
          <p:cNvPr id="7" name="Bar Onsite gas"/>
          <p:cNvSpPr/>
          <p:nvPr/>
        </p:nvSpPr>
        <p:spPr>
          <a:xfrm>
            <a:off x="2194560" y="3727818"/>
            <a:ext cx="960120" cy="1712862"/>
          </a:xfrm>
          <a:prstGeom prst="rect">
            <a:avLst/>
          </a:prstGeom>
          <a:solidFill>
            <a:srgbClr val="A3ABB2"/>
          </a:solidFill>
          <a:ln/>
        </p:spPr>
      </p:sp>
      <p:sp>
        <p:nvSpPr>
          <p:cNvPr id="8" name="Text 6"/>
          <p:cNvSpPr txBox="1"/>
          <p:nvPr/>
        </p:nvSpPr>
        <p:spPr>
          <a:xfrm>
            <a:off x="2011680" y="3380346"/>
            <a:ext cx="132588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$67.1</a:t>
            </a:r>
            <a:endParaRPr lang="en-US" sz="1400" dirty="0"/>
          </a:p>
        </p:txBody>
      </p:sp>
      <p:sp>
        <p:nvSpPr>
          <p:cNvPr id="9" name="Text 7"/>
          <p:cNvSpPr txBox="1"/>
          <p:nvPr/>
        </p:nvSpPr>
        <p:spPr>
          <a:xfrm>
            <a:off x="1965960" y="5532120"/>
            <a:ext cx="141732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Onsite gas</a:t>
            </a:r>
            <a:endParaRPr lang="en-US" sz="1200" dirty="0"/>
          </a:p>
        </p:txBody>
      </p:sp>
      <p:sp>
        <p:nvSpPr>
          <p:cNvPr id="10" name="Bar Grid + clean contracts"/>
          <p:cNvSpPr/>
          <p:nvPr/>
        </p:nvSpPr>
        <p:spPr>
          <a:xfrm>
            <a:off x="3611880" y="2803741"/>
            <a:ext cx="960120" cy="2636939"/>
          </a:xfrm>
          <a:prstGeom prst="rect">
            <a:avLst/>
          </a:prstGeom>
          <a:solidFill>
            <a:srgbClr val="E3A21A"/>
          </a:solidFill>
          <a:ln/>
        </p:spPr>
      </p:sp>
      <p:sp>
        <p:nvSpPr>
          <p:cNvPr id="11" name="Text 9"/>
          <p:cNvSpPr txBox="1"/>
          <p:nvPr/>
        </p:nvSpPr>
        <p:spPr>
          <a:xfrm>
            <a:off x="3429000" y="2456269"/>
            <a:ext cx="132588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$103.3</a:t>
            </a:r>
            <a:endParaRPr lang="en-US" sz="1400" dirty="0"/>
          </a:p>
        </p:txBody>
      </p:sp>
      <p:sp>
        <p:nvSpPr>
          <p:cNvPr id="12" name="Text 10"/>
          <p:cNvSpPr txBox="1"/>
          <p:nvPr/>
        </p:nvSpPr>
        <p:spPr>
          <a:xfrm>
            <a:off x="3383280" y="5532120"/>
            <a:ext cx="141732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Grid + clean contracts</a:t>
            </a:r>
            <a:endParaRPr lang="en-US" sz="1200" dirty="0"/>
          </a:p>
        </p:txBody>
      </p:sp>
      <p:sp>
        <p:nvSpPr>
          <p:cNvPr id="13" name="Bar Grid + battery"/>
          <p:cNvSpPr/>
          <p:nvPr/>
        </p:nvSpPr>
        <p:spPr>
          <a:xfrm>
            <a:off x="5029200" y="2788425"/>
            <a:ext cx="960120" cy="2652255"/>
          </a:xfrm>
          <a:prstGeom prst="rect">
            <a:avLst/>
          </a:prstGeom>
          <a:solidFill>
            <a:srgbClr val="A3ABB2"/>
          </a:solidFill>
          <a:ln/>
        </p:spPr>
      </p:sp>
      <p:sp>
        <p:nvSpPr>
          <p:cNvPr id="14" name="Text 12"/>
          <p:cNvSpPr txBox="1"/>
          <p:nvPr/>
        </p:nvSpPr>
        <p:spPr>
          <a:xfrm>
            <a:off x="4846320" y="2440953"/>
            <a:ext cx="132588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$103.9</a:t>
            </a:r>
            <a:endParaRPr lang="en-US" sz="1400" dirty="0"/>
          </a:p>
        </p:txBody>
      </p:sp>
      <p:sp>
        <p:nvSpPr>
          <p:cNvPr id="15" name="Text 13"/>
          <p:cNvSpPr txBox="1"/>
          <p:nvPr/>
        </p:nvSpPr>
        <p:spPr>
          <a:xfrm>
            <a:off x="4800600" y="5532120"/>
            <a:ext cx="141732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Grid + battery</a:t>
            </a:r>
            <a:endParaRPr lang="en-US" sz="1200" dirty="0"/>
          </a:p>
        </p:txBody>
      </p:sp>
      <p:sp>
        <p:nvSpPr>
          <p:cNvPr id="16" name="Bar Hybrid"/>
          <p:cNvSpPr/>
          <p:nvPr/>
        </p:nvSpPr>
        <p:spPr>
          <a:xfrm>
            <a:off x="6446520" y="2540813"/>
            <a:ext cx="960120" cy="2899867"/>
          </a:xfrm>
          <a:prstGeom prst="rect">
            <a:avLst/>
          </a:prstGeom>
          <a:solidFill>
            <a:srgbClr val="E3A21A"/>
          </a:solidFill>
          <a:ln/>
        </p:spPr>
      </p:sp>
      <p:sp>
        <p:nvSpPr>
          <p:cNvPr id="17" name="Text 15"/>
          <p:cNvSpPr txBox="1"/>
          <p:nvPr/>
        </p:nvSpPr>
        <p:spPr>
          <a:xfrm>
            <a:off x="6263640" y="2193341"/>
            <a:ext cx="1325880" cy="292608"/>
          </a:xfrm>
          <a:prstGeom prst="rect">
            <a:avLst/>
          </a:prstGeom>
          <a:noFill/>
          <a:ln/>
        </p:spPr>
        <p:txBody>
          <a:bodyPr wrap="square" lIns="0" tIns="0" rIns="0" bIns="0" rtlCol="0" anchor="t"/>
          <a:lstStyle/>
          <a:p>
            <a:pPr algn="ctr" indent="0" marL="0">
              <a:buNone/>
            </a:pPr>
            <a:r>
              <a:rPr lang="en-US" sz="1400" b="1" dirty="0">
                <a:solidFill>
                  <a:srgbClr val="1A2433"/>
                </a:solidFill>
                <a:latin typeface="Arial" pitchFamily="34" charset="0"/>
                <a:ea typeface="Arial" pitchFamily="34" charset="-122"/>
                <a:cs typeface="Arial" pitchFamily="34" charset="-120"/>
              </a:rPr>
              <a:t>$113.6</a:t>
            </a:r>
            <a:endParaRPr lang="en-US" sz="1400" dirty="0"/>
          </a:p>
        </p:txBody>
      </p:sp>
      <p:sp>
        <p:nvSpPr>
          <p:cNvPr id="18" name="Text 16"/>
          <p:cNvSpPr txBox="1"/>
          <p:nvPr/>
        </p:nvSpPr>
        <p:spPr>
          <a:xfrm>
            <a:off x="6217920" y="5532120"/>
            <a:ext cx="1417320" cy="457200"/>
          </a:xfrm>
          <a:prstGeom prst="rect">
            <a:avLst/>
          </a:prstGeom>
          <a:noFill/>
          <a:ln/>
        </p:spPr>
        <p:txBody>
          <a:bodyPr wrap="square" lIns="0" tIns="0" rIns="0" bIns="0" rtlCol="0" anchor="t"/>
          <a:lstStyle/>
          <a:p>
            <a:pPr algn="ctr" indent="0" marL="0">
              <a:buNone/>
            </a:pPr>
            <a:r>
              <a:rPr lang="en-US" sz="1200" dirty="0">
                <a:solidFill>
                  <a:srgbClr val="4F5B66"/>
                </a:solidFill>
                <a:latin typeface="Arial" pitchFamily="34" charset="0"/>
                <a:ea typeface="Arial" pitchFamily="34" charset="-122"/>
                <a:cs typeface="Arial" pitchFamily="34" charset="-120"/>
              </a:rPr>
              <a:t>Hybrid</a:t>
            </a:r>
            <a:endParaRPr lang="en-US" sz="1200" dirty="0"/>
          </a:p>
        </p:txBody>
      </p:sp>
      <p:sp>
        <p:nvSpPr>
          <p:cNvPr id="19" name="Shape 17"/>
          <p:cNvSpPr/>
          <p:nvPr/>
        </p:nvSpPr>
        <p:spPr>
          <a:xfrm>
            <a:off x="548640" y="5440680"/>
            <a:ext cx="7223760" cy="0"/>
          </a:xfrm>
          <a:prstGeom prst="line">
            <a:avLst/>
          </a:prstGeom>
          <a:noFill/>
          <a:ln w="12700">
            <a:solidFill>
              <a:srgbClr val="A3ABB2"/>
            </a:solidFill>
            <a:prstDash val="solid"/>
          </a:ln>
        </p:spPr>
      </p:sp>
      <p:sp>
        <p:nvSpPr>
          <p:cNvPr id="20" name="Takeaway panel"/>
          <p:cNvSpPr/>
          <p:nvPr/>
        </p:nvSpPr>
        <p:spPr>
          <a:xfrm>
            <a:off x="8001000" y="1600200"/>
            <a:ext cx="3639312" cy="4251960"/>
          </a:xfrm>
          <a:prstGeom prst="rect">
            <a:avLst/>
          </a:prstGeom>
          <a:solidFill>
            <a:srgbClr val="F1EEE7"/>
          </a:solidFill>
          <a:ln/>
        </p:spPr>
      </p:sp>
      <p:sp>
        <p:nvSpPr>
          <p:cNvPr id="21" name="Text 19"/>
          <p:cNvSpPr txBox="1"/>
          <p:nvPr/>
        </p:nvSpPr>
        <p:spPr>
          <a:xfrm>
            <a:off x="8275320" y="1856232"/>
            <a:ext cx="3090672" cy="320040"/>
          </a:xfrm>
          <a:prstGeom prst="rect">
            <a:avLst/>
          </a:prstGeom>
          <a:noFill/>
          <a:ln/>
        </p:spPr>
        <p:txBody>
          <a:bodyPr wrap="square" lIns="0" tIns="0" rIns="0" bIns="0" rtlCol="0" anchor="t"/>
          <a:lstStyle/>
          <a:p>
            <a:pPr indent="0" marL="0">
              <a:buNone/>
            </a:pPr>
            <a:r>
              <a:rPr lang="en-US" sz="1300" b="1" dirty="0">
                <a:solidFill>
                  <a:srgbClr val="0E2238"/>
                </a:solidFill>
                <a:latin typeface="Arial" pitchFamily="34" charset="0"/>
                <a:ea typeface="Arial" pitchFamily="34" charset="-122"/>
                <a:cs typeface="Arial" pitchFamily="34" charset="-120"/>
              </a:rPr>
              <a:t>What this means</a:t>
            </a:r>
            <a:endParaRPr lang="en-US" sz="1300" dirty="0"/>
          </a:p>
        </p:txBody>
      </p:sp>
      <p:sp>
        <p:nvSpPr>
          <p:cNvPr id="22" name="Text 20"/>
          <p:cNvSpPr txBox="1"/>
          <p:nvPr/>
        </p:nvSpPr>
        <p:spPr>
          <a:xfrm>
            <a:off x="8275320" y="2313432"/>
            <a:ext cx="3090672" cy="33375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Amber bars meet the 2035 clean firm step</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Gas emits 62% more CO2 than the grid</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Gas rises to $112 at the 2024 PA industrial gas price</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The hybrid runs about 21% above grid only</a:t>
            </a:r>
            <a:endParaRPr lang="en-US" sz="1400" dirty="0"/>
          </a:p>
        </p:txBody>
      </p:sp>
      <p:sp>
        <p:nvSpPr>
          <p:cNvPr id="23"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PJM 2028/29 auction; EIA; EPA eGRID2023; NREL; PA GRID Standards;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Meeting the 2035 clean step costs $10 to $20 more per MWh, and of those two only the hybrid connects a year early</a:t>
            </a:r>
            <a:endParaRPr lang="en-US" sz="2400" dirty="0"/>
          </a:p>
        </p:txBody>
      </p:sp>
      <p:sp>
        <p:nvSpPr>
          <p:cNvPr id="3" name="Unit line"/>
          <p:cNvSpPr txBox="1"/>
          <p:nvPr/>
        </p:nvSpPr>
        <p:spPr>
          <a:xfrm>
            <a:off x="548640" y="1600200"/>
            <a:ext cx="7498080" cy="274320"/>
          </a:xfrm>
          <a:prstGeom prst="rect">
            <a:avLst/>
          </a:prstGeom>
          <a:noFill/>
          <a:ln/>
        </p:spPr>
        <p:txBody>
          <a:bodyPr wrap="square" lIns="0" tIns="0" rIns="0" bIns="0" rtlCol="0" anchor="t"/>
          <a:lstStyle/>
          <a:p>
            <a:pPr indent="0" marL="0">
              <a:buNone/>
            </a:pPr>
            <a:r>
              <a:rPr lang="en-US" sz="1200" dirty="0">
                <a:solidFill>
                  <a:srgbClr val="4F5B66"/>
                </a:solidFill>
                <a:latin typeface="Arial" pitchFamily="34" charset="0"/>
                <a:ea typeface="Arial" pitchFamily="34" charset="-122"/>
                <a:cs typeface="Arial" pitchFamily="34" charset="-120"/>
              </a:rPr>
              <a:t>Phase 1 CO2, million t a year, against cost, $ per MWh</a:t>
            </a:r>
            <a:endParaRPr lang="en-US" sz="1200" dirty="0"/>
          </a:p>
        </p:txBody>
      </p:sp>
      <p:sp>
        <p:nvSpPr>
          <p:cNvPr id="4" name="Shape 2"/>
          <p:cNvSpPr/>
          <p:nvPr/>
        </p:nvSpPr>
        <p:spPr>
          <a:xfrm>
            <a:off x="1325880" y="5257800"/>
            <a:ext cx="6355080" cy="0"/>
          </a:xfrm>
          <a:prstGeom prst="line">
            <a:avLst/>
          </a:prstGeom>
          <a:noFill/>
          <a:ln w="12700">
            <a:solidFill>
              <a:srgbClr val="A3ABB2"/>
            </a:solidFill>
            <a:prstDash val="solid"/>
          </a:ln>
        </p:spPr>
      </p:sp>
      <p:sp>
        <p:nvSpPr>
          <p:cNvPr id="5" name="Shape 3"/>
          <p:cNvSpPr/>
          <p:nvPr/>
        </p:nvSpPr>
        <p:spPr>
          <a:xfrm>
            <a:off x="1325880" y="2240280"/>
            <a:ext cx="0" cy="3017520"/>
          </a:xfrm>
          <a:prstGeom prst="line">
            <a:avLst/>
          </a:prstGeom>
          <a:noFill/>
          <a:ln w="12700">
            <a:solidFill>
              <a:srgbClr val="A3ABB2"/>
            </a:solidFill>
            <a:prstDash val="solid"/>
          </a:ln>
        </p:spPr>
      </p:sp>
      <p:sp>
        <p:nvSpPr>
          <p:cNvPr id="6" name="Text 4"/>
          <p:cNvSpPr txBox="1"/>
          <p:nvPr/>
        </p:nvSpPr>
        <p:spPr>
          <a:xfrm>
            <a:off x="960120" y="5330952"/>
            <a:ext cx="731520" cy="228600"/>
          </a:xfrm>
          <a:prstGeom prst="rect">
            <a:avLst/>
          </a:prstGeom>
          <a:noFill/>
          <a:ln/>
        </p:spPr>
        <p:txBody>
          <a:bodyPr wrap="square" lIns="0" tIns="0" rIns="0" bIns="0" rtlCol="0" anchor="t"/>
          <a:lstStyle/>
          <a:p>
            <a:pPr algn="ctr" indent="0" marL="0">
              <a:buNone/>
            </a:pPr>
            <a:r>
              <a:rPr lang="en-US" sz="1100" dirty="0">
                <a:solidFill>
                  <a:srgbClr val="8C959D"/>
                </a:solidFill>
                <a:latin typeface="Arial" pitchFamily="34" charset="0"/>
                <a:ea typeface="Arial" pitchFamily="34" charset="-122"/>
                <a:cs typeface="Arial" pitchFamily="34" charset="-120"/>
              </a:rPr>
              <a:t>$60</a:t>
            </a:r>
            <a:endParaRPr lang="en-US" sz="1100" dirty="0"/>
          </a:p>
        </p:txBody>
      </p:sp>
      <p:sp>
        <p:nvSpPr>
          <p:cNvPr id="7" name="Text 5"/>
          <p:cNvSpPr txBox="1"/>
          <p:nvPr/>
        </p:nvSpPr>
        <p:spPr>
          <a:xfrm>
            <a:off x="3078480" y="5330952"/>
            <a:ext cx="731520" cy="228600"/>
          </a:xfrm>
          <a:prstGeom prst="rect">
            <a:avLst/>
          </a:prstGeom>
          <a:noFill/>
          <a:ln/>
        </p:spPr>
        <p:txBody>
          <a:bodyPr wrap="square" lIns="0" tIns="0" rIns="0" bIns="0" rtlCol="0" anchor="t"/>
          <a:lstStyle/>
          <a:p>
            <a:pPr algn="ctr" indent="0" marL="0">
              <a:buNone/>
            </a:pPr>
            <a:r>
              <a:rPr lang="en-US" sz="1100" dirty="0">
                <a:solidFill>
                  <a:srgbClr val="8C959D"/>
                </a:solidFill>
                <a:latin typeface="Arial" pitchFamily="34" charset="0"/>
                <a:ea typeface="Arial" pitchFamily="34" charset="-122"/>
                <a:cs typeface="Arial" pitchFamily="34" charset="-120"/>
              </a:rPr>
              <a:t>$80</a:t>
            </a:r>
            <a:endParaRPr lang="en-US" sz="1100" dirty="0"/>
          </a:p>
        </p:txBody>
      </p:sp>
      <p:sp>
        <p:nvSpPr>
          <p:cNvPr id="8" name="Text 6"/>
          <p:cNvSpPr txBox="1"/>
          <p:nvPr/>
        </p:nvSpPr>
        <p:spPr>
          <a:xfrm>
            <a:off x="5196840" y="5330952"/>
            <a:ext cx="731520" cy="228600"/>
          </a:xfrm>
          <a:prstGeom prst="rect">
            <a:avLst/>
          </a:prstGeom>
          <a:noFill/>
          <a:ln/>
        </p:spPr>
        <p:txBody>
          <a:bodyPr wrap="square" lIns="0" tIns="0" rIns="0" bIns="0" rtlCol="0" anchor="t"/>
          <a:lstStyle/>
          <a:p>
            <a:pPr algn="ctr" indent="0" marL="0">
              <a:buNone/>
            </a:pPr>
            <a:r>
              <a:rPr lang="en-US" sz="1100" dirty="0">
                <a:solidFill>
                  <a:srgbClr val="8C959D"/>
                </a:solidFill>
                <a:latin typeface="Arial" pitchFamily="34" charset="0"/>
                <a:ea typeface="Arial" pitchFamily="34" charset="-122"/>
                <a:cs typeface="Arial" pitchFamily="34" charset="-120"/>
              </a:rPr>
              <a:t>$100</a:t>
            </a:r>
            <a:endParaRPr lang="en-US" sz="1100" dirty="0"/>
          </a:p>
        </p:txBody>
      </p:sp>
      <p:sp>
        <p:nvSpPr>
          <p:cNvPr id="9" name="Text 7"/>
          <p:cNvSpPr txBox="1"/>
          <p:nvPr/>
        </p:nvSpPr>
        <p:spPr>
          <a:xfrm>
            <a:off x="7315200" y="5330952"/>
            <a:ext cx="731520" cy="228600"/>
          </a:xfrm>
          <a:prstGeom prst="rect">
            <a:avLst/>
          </a:prstGeom>
          <a:noFill/>
          <a:ln/>
        </p:spPr>
        <p:txBody>
          <a:bodyPr wrap="square" lIns="0" tIns="0" rIns="0" bIns="0" rtlCol="0" anchor="t"/>
          <a:lstStyle/>
          <a:p>
            <a:pPr algn="ctr" indent="0" marL="0">
              <a:buNone/>
            </a:pPr>
            <a:r>
              <a:rPr lang="en-US" sz="1100" dirty="0">
                <a:solidFill>
                  <a:srgbClr val="8C959D"/>
                </a:solidFill>
                <a:latin typeface="Arial" pitchFamily="34" charset="0"/>
                <a:ea typeface="Arial" pitchFamily="34" charset="-122"/>
                <a:cs typeface="Arial" pitchFamily="34" charset="-120"/>
              </a:rPr>
              <a:t>$120</a:t>
            </a:r>
            <a:endParaRPr lang="en-US" sz="1100" dirty="0"/>
          </a:p>
        </p:txBody>
      </p:sp>
      <p:sp>
        <p:nvSpPr>
          <p:cNvPr id="10" name="Text 8"/>
          <p:cNvSpPr txBox="1"/>
          <p:nvPr/>
        </p:nvSpPr>
        <p:spPr>
          <a:xfrm>
            <a:off x="777240" y="5148072"/>
            <a:ext cx="457200" cy="228600"/>
          </a:xfrm>
          <a:prstGeom prst="rect">
            <a:avLst/>
          </a:prstGeom>
          <a:noFill/>
          <a:ln/>
        </p:spPr>
        <p:txBody>
          <a:bodyPr wrap="square" lIns="0" tIns="0" rIns="0" bIns="0" rtlCol="0" anchor="t"/>
          <a:lstStyle/>
          <a:p>
            <a:pPr algn="r" indent="0" marL="0">
              <a:buNone/>
            </a:pPr>
            <a:r>
              <a:rPr lang="en-US" sz="1100" dirty="0">
                <a:solidFill>
                  <a:srgbClr val="8C959D"/>
                </a:solidFill>
                <a:latin typeface="Arial" pitchFamily="34" charset="0"/>
                <a:ea typeface="Arial" pitchFamily="34" charset="-122"/>
                <a:cs typeface="Arial" pitchFamily="34" charset="-120"/>
              </a:rPr>
              <a:t>0.6</a:t>
            </a:r>
            <a:endParaRPr lang="en-US" sz="1100" dirty="0"/>
          </a:p>
        </p:txBody>
      </p:sp>
      <p:sp>
        <p:nvSpPr>
          <p:cNvPr id="11" name="Text 9"/>
          <p:cNvSpPr txBox="1"/>
          <p:nvPr/>
        </p:nvSpPr>
        <p:spPr>
          <a:xfrm>
            <a:off x="777240" y="4285923"/>
            <a:ext cx="457200" cy="228600"/>
          </a:xfrm>
          <a:prstGeom prst="rect">
            <a:avLst/>
          </a:prstGeom>
          <a:noFill/>
          <a:ln/>
        </p:spPr>
        <p:txBody>
          <a:bodyPr wrap="square" lIns="0" tIns="0" rIns="0" bIns="0" rtlCol="0" anchor="t"/>
          <a:lstStyle/>
          <a:p>
            <a:pPr algn="r" indent="0" marL="0">
              <a:buNone/>
            </a:pPr>
            <a:r>
              <a:rPr lang="en-US" sz="1100" dirty="0">
                <a:solidFill>
                  <a:srgbClr val="8C959D"/>
                </a:solidFill>
                <a:latin typeface="Arial" pitchFamily="34" charset="0"/>
                <a:ea typeface="Arial" pitchFamily="34" charset="-122"/>
                <a:cs typeface="Arial" pitchFamily="34" charset="-120"/>
              </a:rPr>
              <a:t>1.0</a:t>
            </a:r>
            <a:endParaRPr lang="en-US" sz="1100" dirty="0"/>
          </a:p>
        </p:txBody>
      </p:sp>
      <p:sp>
        <p:nvSpPr>
          <p:cNvPr id="12" name="Text 10"/>
          <p:cNvSpPr txBox="1"/>
          <p:nvPr/>
        </p:nvSpPr>
        <p:spPr>
          <a:xfrm>
            <a:off x="777240" y="3423775"/>
            <a:ext cx="457200" cy="228600"/>
          </a:xfrm>
          <a:prstGeom prst="rect">
            <a:avLst/>
          </a:prstGeom>
          <a:noFill/>
          <a:ln/>
        </p:spPr>
        <p:txBody>
          <a:bodyPr wrap="square" lIns="0" tIns="0" rIns="0" bIns="0" rtlCol="0" anchor="t"/>
          <a:lstStyle/>
          <a:p>
            <a:pPr algn="r" indent="0" marL="0">
              <a:buNone/>
            </a:pPr>
            <a:r>
              <a:rPr lang="en-US" sz="1100" dirty="0">
                <a:solidFill>
                  <a:srgbClr val="8C959D"/>
                </a:solidFill>
                <a:latin typeface="Arial" pitchFamily="34" charset="0"/>
                <a:ea typeface="Arial" pitchFamily="34" charset="-122"/>
                <a:cs typeface="Arial" pitchFamily="34" charset="-120"/>
              </a:rPr>
              <a:t>1.4</a:t>
            </a:r>
            <a:endParaRPr lang="en-US" sz="1100" dirty="0"/>
          </a:p>
        </p:txBody>
      </p:sp>
      <p:sp>
        <p:nvSpPr>
          <p:cNvPr id="13" name="Text 11"/>
          <p:cNvSpPr txBox="1"/>
          <p:nvPr/>
        </p:nvSpPr>
        <p:spPr>
          <a:xfrm>
            <a:off x="777240" y="2561626"/>
            <a:ext cx="457200" cy="228600"/>
          </a:xfrm>
          <a:prstGeom prst="rect">
            <a:avLst/>
          </a:prstGeom>
          <a:noFill/>
          <a:ln/>
        </p:spPr>
        <p:txBody>
          <a:bodyPr wrap="square" lIns="0" tIns="0" rIns="0" bIns="0" rtlCol="0" anchor="t"/>
          <a:lstStyle/>
          <a:p>
            <a:pPr algn="r" indent="0" marL="0">
              <a:buNone/>
            </a:pPr>
            <a:r>
              <a:rPr lang="en-US" sz="1100" dirty="0">
                <a:solidFill>
                  <a:srgbClr val="8C959D"/>
                </a:solidFill>
                <a:latin typeface="Arial" pitchFamily="34" charset="0"/>
                <a:ea typeface="Arial" pitchFamily="34" charset="-122"/>
                <a:cs typeface="Arial" pitchFamily="34" charset="-120"/>
              </a:rPr>
              <a:t>1.8</a:t>
            </a:r>
            <a:endParaRPr lang="en-US" sz="1100" dirty="0"/>
          </a:p>
        </p:txBody>
      </p:sp>
      <p:sp>
        <p:nvSpPr>
          <p:cNvPr id="14" name="Text 12"/>
          <p:cNvSpPr txBox="1"/>
          <p:nvPr/>
        </p:nvSpPr>
        <p:spPr>
          <a:xfrm>
            <a:off x="5394960" y="5586984"/>
            <a:ext cx="2286000" cy="22860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Cost, $ per MWh</a:t>
            </a:r>
            <a:endParaRPr lang="en-US" sz="1100" dirty="0"/>
          </a:p>
        </p:txBody>
      </p:sp>
      <p:sp>
        <p:nvSpPr>
          <p:cNvPr id="15" name="Shape 13"/>
          <p:cNvSpPr/>
          <p:nvPr/>
        </p:nvSpPr>
        <p:spPr>
          <a:xfrm>
            <a:off x="1325880" y="4093899"/>
            <a:ext cx="6355080" cy="0"/>
          </a:xfrm>
          <a:prstGeom prst="line">
            <a:avLst/>
          </a:prstGeom>
          <a:noFill/>
          <a:ln w="9525">
            <a:solidFill>
              <a:srgbClr val="D9DDE0"/>
            </a:solidFill>
            <a:prstDash val="dash"/>
          </a:ln>
        </p:spPr>
      </p:sp>
      <p:sp>
        <p:nvSpPr>
          <p:cNvPr id="16" name="Text 14"/>
          <p:cNvSpPr txBox="1"/>
          <p:nvPr/>
        </p:nvSpPr>
        <p:spPr>
          <a:xfrm>
            <a:off x="6217920" y="3847011"/>
            <a:ext cx="1463040" cy="201168"/>
          </a:xfrm>
          <a:prstGeom prst="rect">
            <a:avLst/>
          </a:prstGeom>
          <a:noFill/>
          <a:ln/>
        </p:spPr>
        <p:txBody>
          <a:bodyPr wrap="square" lIns="0" tIns="0" rIns="0" bIns="0" rtlCol="0" anchor="t"/>
          <a:lstStyle/>
          <a:p>
            <a:pPr algn="r" indent="0" marL="0">
              <a:buNone/>
            </a:pPr>
            <a:r>
              <a:rPr lang="en-US" sz="1000" dirty="0">
                <a:solidFill>
                  <a:srgbClr val="8C959D"/>
                </a:solidFill>
                <a:latin typeface="Arial" pitchFamily="34" charset="0"/>
                <a:ea typeface="Arial" pitchFamily="34" charset="-122"/>
                <a:cs typeface="Arial" pitchFamily="34" charset="-120"/>
              </a:rPr>
              <a:t>Grid average</a:t>
            </a:r>
            <a:endParaRPr lang="en-US" sz="1000" dirty="0"/>
          </a:p>
        </p:txBody>
      </p:sp>
      <p:sp>
        <p:nvSpPr>
          <p:cNvPr id="17" name="Point Grid only"/>
          <p:cNvSpPr/>
          <p:nvPr/>
        </p:nvSpPr>
        <p:spPr>
          <a:xfrm>
            <a:off x="4738421" y="3947595"/>
            <a:ext cx="292608" cy="292608"/>
          </a:xfrm>
          <a:prstGeom prst="ellipse">
            <a:avLst/>
          </a:prstGeom>
          <a:solidFill>
            <a:srgbClr val="A3ABB2"/>
          </a:solidFill>
          <a:ln w="19050">
            <a:solidFill>
              <a:srgbClr val="FFFFFF"/>
            </a:solidFill>
            <a:prstDash val="solid"/>
          </a:ln>
        </p:spPr>
      </p:sp>
      <p:sp>
        <p:nvSpPr>
          <p:cNvPr id="18" name="Text 16"/>
          <p:cNvSpPr txBox="1"/>
          <p:nvPr/>
        </p:nvSpPr>
        <p:spPr>
          <a:xfrm>
            <a:off x="2644445" y="3865299"/>
            <a:ext cx="2011680" cy="457200"/>
          </a:xfrm>
          <a:prstGeom prst="rect">
            <a:avLst/>
          </a:prstGeom>
          <a:noFill/>
          <a:ln/>
        </p:spPr>
        <p:txBody>
          <a:bodyPr wrap="square" lIns="0" tIns="0" rIns="0" bIns="0" rtlCol="0" anchor="t"/>
          <a:lstStyle/>
          <a:p>
            <a:pPr algn="r" indent="0" marL="0">
              <a:buNone/>
            </a:pPr>
            <a:r>
              <a:rPr lang="en-US" sz="1100" b="1" dirty="0">
                <a:solidFill>
                  <a:srgbClr val="1A2433"/>
                </a:solidFill>
                <a:latin typeface="Arial" pitchFamily="34" charset="0"/>
                <a:ea typeface="Arial" pitchFamily="34" charset="-122"/>
                <a:cs typeface="Arial" pitchFamily="34" charset="-120"/>
              </a:rPr>
              <a:t>Grid only</a:t>
            </a:r>
            <a:endParaRPr lang="en-US" sz="1100" dirty="0"/>
          </a:p>
          <a:p>
            <a:pPr algn="r" indent="0" marL="0">
              <a:buNone/>
            </a:pPr>
            <a:r>
              <a:rPr lang="en-US" sz="1100" dirty="0">
                <a:solidFill>
                  <a:srgbClr val="4F5B66"/>
                </a:solidFill>
                <a:latin typeface="Arial" pitchFamily="34" charset="0"/>
                <a:ea typeface="Arial" pitchFamily="34" charset="-122"/>
                <a:cs typeface="Arial" pitchFamily="34" charset="-120"/>
              </a:rPr>
              <a:t>4 yrs to power</a:t>
            </a:r>
            <a:endParaRPr lang="en-US" sz="1100" dirty="0"/>
          </a:p>
        </p:txBody>
      </p:sp>
      <p:sp>
        <p:nvSpPr>
          <p:cNvPr id="19" name="Point Onsite gas"/>
          <p:cNvSpPr/>
          <p:nvPr/>
        </p:nvSpPr>
        <p:spPr>
          <a:xfrm>
            <a:off x="1931594" y="2417282"/>
            <a:ext cx="292608" cy="292608"/>
          </a:xfrm>
          <a:prstGeom prst="ellipse">
            <a:avLst/>
          </a:prstGeom>
          <a:solidFill>
            <a:srgbClr val="A3ABB2"/>
          </a:solidFill>
          <a:ln w="19050">
            <a:solidFill>
              <a:srgbClr val="FFFFFF"/>
            </a:solidFill>
            <a:prstDash val="solid"/>
          </a:ln>
        </p:spPr>
      </p:sp>
      <p:sp>
        <p:nvSpPr>
          <p:cNvPr id="20" name="Text 18"/>
          <p:cNvSpPr txBox="1"/>
          <p:nvPr/>
        </p:nvSpPr>
        <p:spPr>
          <a:xfrm>
            <a:off x="2306498" y="2334986"/>
            <a:ext cx="2011680" cy="457200"/>
          </a:xfrm>
          <a:prstGeom prst="rect">
            <a:avLst/>
          </a:prstGeom>
          <a:noFill/>
          <a:ln/>
        </p:spPr>
        <p:txBody>
          <a:bodyPr wrap="square" lIns="0" tIns="0" rIns="0" bIns="0" rtlCol="0" anchor="t"/>
          <a:lstStyle/>
          <a:p>
            <a:pPr algn="l" indent="0" marL="0">
              <a:buNone/>
            </a:pPr>
            <a:r>
              <a:rPr lang="en-US" sz="1100" b="1" dirty="0">
                <a:solidFill>
                  <a:srgbClr val="1A2433"/>
                </a:solidFill>
                <a:latin typeface="Arial" pitchFamily="34" charset="0"/>
                <a:ea typeface="Arial" pitchFamily="34" charset="-122"/>
                <a:cs typeface="Arial" pitchFamily="34" charset="-120"/>
              </a:rPr>
              <a:t>Onsite gas</a:t>
            </a:r>
            <a:endParaRPr lang="en-US" sz="1100" dirty="0"/>
          </a:p>
          <a:p>
            <a:pPr algn="l" indent="0" marL="0">
              <a:buNone/>
            </a:pPr>
            <a:r>
              <a:rPr lang="en-US" sz="1100" dirty="0">
                <a:solidFill>
                  <a:srgbClr val="4F5B66"/>
                </a:solidFill>
                <a:latin typeface="Arial" pitchFamily="34" charset="0"/>
                <a:ea typeface="Arial" pitchFamily="34" charset="-122"/>
                <a:cs typeface="Arial" pitchFamily="34" charset="-120"/>
              </a:rPr>
              <a:t>2.5 yrs to power</a:t>
            </a:r>
            <a:endParaRPr lang="en-US" sz="1100" dirty="0"/>
          </a:p>
        </p:txBody>
      </p:sp>
      <p:sp>
        <p:nvSpPr>
          <p:cNvPr id="21" name="Point Grid + clean contracts"/>
          <p:cNvSpPr/>
          <p:nvPr/>
        </p:nvSpPr>
        <p:spPr>
          <a:xfrm>
            <a:off x="5765825" y="4745083"/>
            <a:ext cx="292608" cy="292608"/>
          </a:xfrm>
          <a:prstGeom prst="ellipse">
            <a:avLst/>
          </a:prstGeom>
          <a:solidFill>
            <a:srgbClr val="E3A21A"/>
          </a:solidFill>
          <a:ln w="19050">
            <a:solidFill>
              <a:srgbClr val="FFFFFF"/>
            </a:solidFill>
            <a:prstDash val="solid"/>
          </a:ln>
        </p:spPr>
      </p:sp>
      <p:sp>
        <p:nvSpPr>
          <p:cNvPr id="22" name="Text 20"/>
          <p:cNvSpPr txBox="1"/>
          <p:nvPr/>
        </p:nvSpPr>
        <p:spPr>
          <a:xfrm>
            <a:off x="3671849" y="4662787"/>
            <a:ext cx="2011680" cy="457200"/>
          </a:xfrm>
          <a:prstGeom prst="rect">
            <a:avLst/>
          </a:prstGeom>
          <a:noFill/>
          <a:ln/>
        </p:spPr>
        <p:txBody>
          <a:bodyPr wrap="square" lIns="0" tIns="0" rIns="0" bIns="0" rtlCol="0" anchor="t"/>
          <a:lstStyle/>
          <a:p>
            <a:pPr algn="r" indent="0" marL="0">
              <a:buNone/>
            </a:pPr>
            <a:r>
              <a:rPr lang="en-US" sz="1100" b="1" dirty="0">
                <a:solidFill>
                  <a:srgbClr val="1A2433"/>
                </a:solidFill>
                <a:latin typeface="Arial" pitchFamily="34" charset="0"/>
                <a:ea typeface="Arial" pitchFamily="34" charset="-122"/>
                <a:cs typeface="Arial" pitchFamily="34" charset="-120"/>
              </a:rPr>
              <a:t>Grid + clean contracts</a:t>
            </a:r>
            <a:endParaRPr lang="en-US" sz="1100" dirty="0"/>
          </a:p>
          <a:p>
            <a:pPr algn="r" indent="0" marL="0">
              <a:buNone/>
            </a:pPr>
            <a:r>
              <a:rPr lang="en-US" sz="1100" dirty="0">
                <a:solidFill>
                  <a:srgbClr val="4F5B66"/>
                </a:solidFill>
                <a:latin typeface="Arial" pitchFamily="34" charset="0"/>
                <a:ea typeface="Arial" pitchFamily="34" charset="-122"/>
                <a:cs typeface="Arial" pitchFamily="34" charset="-120"/>
              </a:rPr>
              <a:t>4 yrs to power</a:t>
            </a:r>
            <a:endParaRPr lang="en-US" sz="1100" dirty="0"/>
          </a:p>
        </p:txBody>
      </p:sp>
      <p:sp>
        <p:nvSpPr>
          <p:cNvPr id="23" name="Point Grid + battery"/>
          <p:cNvSpPr/>
          <p:nvPr/>
        </p:nvSpPr>
        <p:spPr>
          <a:xfrm>
            <a:off x="5829376" y="3947595"/>
            <a:ext cx="292608" cy="292608"/>
          </a:xfrm>
          <a:prstGeom prst="ellipse">
            <a:avLst/>
          </a:prstGeom>
          <a:solidFill>
            <a:srgbClr val="A3ABB2"/>
          </a:solidFill>
          <a:ln w="19050">
            <a:solidFill>
              <a:srgbClr val="FFFFFF"/>
            </a:solidFill>
            <a:prstDash val="solid"/>
          </a:ln>
        </p:spPr>
      </p:sp>
      <p:sp>
        <p:nvSpPr>
          <p:cNvPr id="24" name="Text 22"/>
          <p:cNvSpPr txBox="1"/>
          <p:nvPr/>
        </p:nvSpPr>
        <p:spPr>
          <a:xfrm>
            <a:off x="4969840" y="4276779"/>
            <a:ext cx="2011680" cy="457200"/>
          </a:xfrm>
          <a:prstGeom prst="rect">
            <a:avLst/>
          </a:prstGeom>
          <a:noFill/>
          <a:ln/>
        </p:spPr>
        <p:txBody>
          <a:bodyPr wrap="square" lIns="0" tIns="0" rIns="0" bIns="0" rtlCol="0" anchor="t"/>
          <a:lstStyle/>
          <a:p>
            <a:pPr algn="ctr" indent="0" marL="0">
              <a:buNone/>
            </a:pPr>
            <a:r>
              <a:rPr lang="en-US" sz="1100" b="1" dirty="0">
                <a:solidFill>
                  <a:srgbClr val="1A2433"/>
                </a:solidFill>
                <a:latin typeface="Arial" pitchFamily="34" charset="0"/>
                <a:ea typeface="Arial" pitchFamily="34" charset="-122"/>
                <a:cs typeface="Arial" pitchFamily="34" charset="-120"/>
              </a:rPr>
              <a:t>Grid + battery</a:t>
            </a:r>
            <a:endParaRPr lang="en-US" sz="1100" dirty="0"/>
          </a:p>
          <a:p>
            <a:pPr algn="ctr" indent="0" marL="0">
              <a:buNone/>
            </a:pPr>
            <a:r>
              <a:rPr lang="en-US" sz="1100" dirty="0">
                <a:solidFill>
                  <a:srgbClr val="4F5B66"/>
                </a:solidFill>
                <a:latin typeface="Arial" pitchFamily="34" charset="0"/>
                <a:ea typeface="Arial" pitchFamily="34" charset="-122"/>
                <a:cs typeface="Arial" pitchFamily="34" charset="-120"/>
              </a:rPr>
              <a:t>3 yrs to power</a:t>
            </a:r>
            <a:endParaRPr lang="en-US" sz="1100" dirty="0"/>
          </a:p>
        </p:txBody>
      </p:sp>
      <p:sp>
        <p:nvSpPr>
          <p:cNvPr id="25" name="Point Hybrid"/>
          <p:cNvSpPr/>
          <p:nvPr/>
        </p:nvSpPr>
        <p:spPr>
          <a:xfrm>
            <a:off x="6856781" y="4745083"/>
            <a:ext cx="292608" cy="292608"/>
          </a:xfrm>
          <a:prstGeom prst="ellipse">
            <a:avLst/>
          </a:prstGeom>
          <a:solidFill>
            <a:srgbClr val="E3A21A"/>
          </a:solidFill>
          <a:ln w="19050">
            <a:solidFill>
              <a:srgbClr val="FFFFFF"/>
            </a:solidFill>
            <a:prstDash val="solid"/>
          </a:ln>
        </p:spPr>
      </p:sp>
      <p:sp>
        <p:nvSpPr>
          <p:cNvPr id="26" name="Text 24"/>
          <p:cNvSpPr txBox="1"/>
          <p:nvPr/>
        </p:nvSpPr>
        <p:spPr>
          <a:xfrm>
            <a:off x="5997245" y="4233019"/>
            <a:ext cx="2011680" cy="457200"/>
          </a:xfrm>
          <a:prstGeom prst="rect">
            <a:avLst/>
          </a:prstGeom>
          <a:noFill/>
          <a:ln/>
        </p:spPr>
        <p:txBody>
          <a:bodyPr wrap="square" lIns="0" tIns="0" rIns="0" bIns="0" rtlCol="0" anchor="t"/>
          <a:lstStyle/>
          <a:p>
            <a:pPr algn="ctr" indent="0" marL="0">
              <a:buNone/>
            </a:pPr>
            <a:r>
              <a:rPr lang="en-US" sz="1100" b="1" dirty="0">
                <a:solidFill>
                  <a:srgbClr val="1A2433"/>
                </a:solidFill>
                <a:latin typeface="Arial" pitchFamily="34" charset="0"/>
                <a:ea typeface="Arial" pitchFamily="34" charset="-122"/>
                <a:cs typeface="Arial" pitchFamily="34" charset="-120"/>
              </a:rPr>
              <a:t>Hybrid</a:t>
            </a:r>
            <a:endParaRPr lang="en-US" sz="1100" dirty="0"/>
          </a:p>
          <a:p>
            <a:pPr algn="ctr" indent="0" marL="0">
              <a:buNone/>
            </a:pPr>
            <a:r>
              <a:rPr lang="en-US" sz="1100" dirty="0">
                <a:solidFill>
                  <a:srgbClr val="4F5B66"/>
                </a:solidFill>
                <a:latin typeface="Arial" pitchFamily="34" charset="0"/>
                <a:ea typeface="Arial" pitchFamily="34" charset="-122"/>
                <a:cs typeface="Arial" pitchFamily="34" charset="-120"/>
              </a:rPr>
              <a:t>3 yrs to power</a:t>
            </a:r>
            <a:endParaRPr lang="en-US" sz="1100" dirty="0"/>
          </a:p>
        </p:txBody>
      </p:sp>
      <p:sp>
        <p:nvSpPr>
          <p:cNvPr id="27" name="Takeaway panel"/>
          <p:cNvSpPr/>
          <p:nvPr/>
        </p:nvSpPr>
        <p:spPr>
          <a:xfrm>
            <a:off x="8275320" y="1600200"/>
            <a:ext cx="3364992" cy="4251960"/>
          </a:xfrm>
          <a:prstGeom prst="rect">
            <a:avLst/>
          </a:prstGeom>
          <a:solidFill>
            <a:srgbClr val="F1EEE7"/>
          </a:solidFill>
          <a:ln/>
        </p:spPr>
      </p:sp>
      <p:sp>
        <p:nvSpPr>
          <p:cNvPr id="28" name="Text 26"/>
          <p:cNvSpPr txBox="1"/>
          <p:nvPr/>
        </p:nvSpPr>
        <p:spPr>
          <a:xfrm>
            <a:off x="8549640" y="1856232"/>
            <a:ext cx="2816352" cy="320040"/>
          </a:xfrm>
          <a:prstGeom prst="rect">
            <a:avLst/>
          </a:prstGeom>
          <a:noFill/>
          <a:ln/>
        </p:spPr>
        <p:txBody>
          <a:bodyPr wrap="square" lIns="0" tIns="0" rIns="0" bIns="0" rtlCol="0" anchor="t"/>
          <a:lstStyle/>
          <a:p>
            <a:pPr indent="0" marL="0">
              <a:buNone/>
            </a:pPr>
            <a:r>
              <a:rPr lang="en-US" sz="1300" b="1" dirty="0">
                <a:solidFill>
                  <a:srgbClr val="0E2238"/>
                </a:solidFill>
                <a:latin typeface="Arial" pitchFamily="34" charset="0"/>
                <a:ea typeface="Arial" pitchFamily="34" charset="-122"/>
                <a:cs typeface="Arial" pitchFamily="34" charset="-120"/>
              </a:rPr>
              <a:t>What this means</a:t>
            </a:r>
            <a:endParaRPr lang="en-US" sz="1300" dirty="0"/>
          </a:p>
        </p:txBody>
      </p:sp>
      <p:sp>
        <p:nvSpPr>
          <p:cNvPr id="29" name="Text 27"/>
          <p:cNvSpPr txBox="1"/>
          <p:nvPr/>
        </p:nvSpPr>
        <p:spPr>
          <a:xfrm>
            <a:off x="8549640" y="2313432"/>
            <a:ext cx="2816352" cy="33375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Amber options meet the 2035 clean firm step</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Gas is cheapest and dirtiest at once</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The hybrid buys clean power and an earlier start</a:t>
            </a:r>
            <a:endParaRPr lang="en-US" sz="1400" dirty="0"/>
          </a:p>
        </p:txBody>
      </p:sp>
      <p:sp>
        <p:nvSpPr>
          <p:cNvPr id="30"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EPA eGRID2023 RFC East; EIA; PJM;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Agenda</a:t>
            </a:r>
            <a:endParaRPr lang="en-US" sz="2400" dirty="0"/>
          </a:p>
        </p:txBody>
      </p:sp>
      <p:sp>
        <p:nvSpPr>
          <p:cNvPr id="3" name="Shape 1"/>
          <p:cNvSpPr/>
          <p:nvPr/>
        </p:nvSpPr>
        <p:spPr>
          <a:xfrm>
            <a:off x="548640" y="1691640"/>
            <a:ext cx="11091672" cy="0"/>
          </a:xfrm>
          <a:prstGeom prst="line">
            <a:avLst/>
          </a:prstGeom>
          <a:noFill/>
          <a:ln w="9525">
            <a:solidFill>
              <a:srgbClr val="D3D6D2"/>
            </a:solidFill>
            <a:prstDash val="solid"/>
          </a:ln>
        </p:spPr>
      </p:sp>
      <p:sp>
        <p:nvSpPr>
          <p:cNvPr id="4" name="Text 2"/>
          <p:cNvSpPr txBox="1"/>
          <p:nvPr/>
        </p:nvSpPr>
        <p:spPr>
          <a:xfrm>
            <a:off x="822960" y="194767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1</a:t>
            </a:r>
            <a:endParaRPr lang="en-US" sz="2600" dirty="0"/>
          </a:p>
        </p:txBody>
      </p:sp>
      <p:sp>
        <p:nvSpPr>
          <p:cNvPr id="5" name="Text 3"/>
          <p:cNvSpPr txBox="1"/>
          <p:nvPr/>
        </p:nvSpPr>
        <p:spPr>
          <a:xfrm>
            <a:off x="1554480" y="199339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Recommendation and situation</a:t>
            </a:r>
            <a:endParaRPr lang="en-US" sz="2000" dirty="0"/>
          </a:p>
        </p:txBody>
      </p:sp>
      <p:sp>
        <p:nvSpPr>
          <p:cNvPr id="6" name="Text 4"/>
          <p:cNvSpPr txBox="1"/>
          <p:nvPr/>
        </p:nvSpPr>
        <p:spPr>
          <a:xfrm>
            <a:off x="7680960" y="202996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7" name="Text 5"/>
          <p:cNvSpPr txBox="1"/>
          <p:nvPr/>
        </p:nvSpPr>
        <p:spPr>
          <a:xfrm>
            <a:off x="10241280" y="202996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3 min</a:t>
            </a:r>
            <a:endParaRPr lang="en-US" sz="1400" dirty="0"/>
          </a:p>
        </p:txBody>
      </p:sp>
      <p:sp>
        <p:nvSpPr>
          <p:cNvPr id="8" name="Shape 6"/>
          <p:cNvSpPr/>
          <p:nvPr/>
        </p:nvSpPr>
        <p:spPr>
          <a:xfrm>
            <a:off x="548640" y="2651760"/>
            <a:ext cx="11091672" cy="0"/>
          </a:xfrm>
          <a:prstGeom prst="line">
            <a:avLst/>
          </a:prstGeom>
          <a:noFill/>
          <a:ln w="9525">
            <a:solidFill>
              <a:srgbClr val="D3D6D2"/>
            </a:solidFill>
            <a:prstDash val="solid"/>
          </a:ln>
        </p:spPr>
      </p:sp>
      <p:sp>
        <p:nvSpPr>
          <p:cNvPr id="9" name="Text 7"/>
          <p:cNvSpPr txBox="1"/>
          <p:nvPr/>
        </p:nvSpPr>
        <p:spPr>
          <a:xfrm>
            <a:off x="822960" y="290779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2</a:t>
            </a:r>
            <a:endParaRPr lang="en-US" sz="2600" dirty="0"/>
          </a:p>
        </p:txBody>
      </p:sp>
      <p:sp>
        <p:nvSpPr>
          <p:cNvPr id="10" name="Text 8"/>
          <p:cNvSpPr txBox="1"/>
          <p:nvPr/>
        </p:nvSpPr>
        <p:spPr>
          <a:xfrm>
            <a:off x="1554480" y="295351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Financial case</a:t>
            </a:r>
            <a:endParaRPr lang="en-US" sz="2000" dirty="0"/>
          </a:p>
        </p:txBody>
      </p:sp>
      <p:sp>
        <p:nvSpPr>
          <p:cNvPr id="11" name="Text 9"/>
          <p:cNvSpPr txBox="1"/>
          <p:nvPr/>
        </p:nvSpPr>
        <p:spPr>
          <a:xfrm>
            <a:off x="7680960" y="299008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12" name="Text 10"/>
          <p:cNvSpPr txBox="1"/>
          <p:nvPr/>
        </p:nvSpPr>
        <p:spPr>
          <a:xfrm>
            <a:off x="10241280" y="299008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13" name="Shape 11"/>
          <p:cNvSpPr/>
          <p:nvPr/>
        </p:nvSpPr>
        <p:spPr>
          <a:xfrm>
            <a:off x="548640" y="3611880"/>
            <a:ext cx="11091672" cy="0"/>
          </a:xfrm>
          <a:prstGeom prst="line">
            <a:avLst/>
          </a:prstGeom>
          <a:noFill/>
          <a:ln w="9525">
            <a:solidFill>
              <a:srgbClr val="D3D6D2"/>
            </a:solidFill>
            <a:prstDash val="solid"/>
          </a:ln>
        </p:spPr>
      </p:sp>
      <p:sp>
        <p:nvSpPr>
          <p:cNvPr id="14" name="Text 12"/>
          <p:cNvSpPr txBox="1"/>
          <p:nvPr/>
        </p:nvSpPr>
        <p:spPr>
          <a:xfrm>
            <a:off x="822960" y="3867912"/>
            <a:ext cx="548640" cy="502920"/>
          </a:xfrm>
          <a:prstGeom prst="rect">
            <a:avLst/>
          </a:prstGeom>
          <a:noFill/>
          <a:ln/>
        </p:spPr>
        <p:txBody>
          <a:bodyPr wrap="square" lIns="0" tIns="0" rIns="0" bIns="0" rtlCol="0" anchor="t"/>
          <a:lstStyle/>
          <a:p>
            <a:pPr indent="0" marL="0">
              <a:buNone/>
            </a:pPr>
            <a:r>
              <a:rPr lang="en-US" sz="2600" dirty="0">
                <a:solidFill>
                  <a:srgbClr val="A3ABB2"/>
                </a:solidFill>
                <a:latin typeface="Georgia" pitchFamily="34" charset="0"/>
                <a:ea typeface="Georgia" pitchFamily="34" charset="-122"/>
                <a:cs typeface="Georgia" pitchFamily="34" charset="-120"/>
              </a:rPr>
              <a:t>3</a:t>
            </a:r>
            <a:endParaRPr lang="en-US" sz="2600" dirty="0"/>
          </a:p>
        </p:txBody>
      </p:sp>
      <p:sp>
        <p:nvSpPr>
          <p:cNvPr id="15" name="Text 13"/>
          <p:cNvSpPr txBox="1"/>
          <p:nvPr/>
        </p:nvSpPr>
        <p:spPr>
          <a:xfrm>
            <a:off x="1554480" y="3913632"/>
            <a:ext cx="5943600" cy="411480"/>
          </a:xfrm>
          <a:prstGeom prst="rect">
            <a:avLst/>
          </a:prstGeom>
          <a:noFill/>
          <a:ln/>
        </p:spPr>
        <p:txBody>
          <a:bodyPr wrap="square" lIns="0" tIns="0" rIns="0" bIns="0" rtlCol="0" anchor="t"/>
          <a:lstStyle/>
          <a:p>
            <a:pPr indent="0" marL="0">
              <a:buNone/>
            </a:pPr>
            <a:r>
              <a:rPr lang="en-US" sz="2000" dirty="0">
                <a:solidFill>
                  <a:srgbClr val="8C959D"/>
                </a:solidFill>
                <a:latin typeface="Arial" pitchFamily="34" charset="0"/>
                <a:ea typeface="Arial" pitchFamily="34" charset="-122"/>
                <a:cs typeface="Arial" pitchFamily="34" charset="-120"/>
              </a:rPr>
              <a:t>Power and energy</a:t>
            </a:r>
            <a:endParaRPr lang="en-US" sz="2000" dirty="0"/>
          </a:p>
        </p:txBody>
      </p:sp>
      <p:sp>
        <p:nvSpPr>
          <p:cNvPr id="16" name="Text 14"/>
          <p:cNvSpPr txBox="1"/>
          <p:nvPr/>
        </p:nvSpPr>
        <p:spPr>
          <a:xfrm>
            <a:off x="7680960" y="3950208"/>
            <a:ext cx="2377440" cy="365760"/>
          </a:xfrm>
          <a:prstGeom prst="rect">
            <a:avLst/>
          </a:prstGeom>
          <a:noFill/>
          <a:ln/>
        </p:spPr>
        <p:txBody>
          <a:bodyPr wrap="square" lIns="0" tIns="0" rIns="0" bIns="0" rtlCol="0" anchor="t"/>
          <a:lstStyle/>
          <a:p>
            <a:pPr indent="0" marL="0">
              <a:buNone/>
            </a:pPr>
            <a:r>
              <a:rPr lang="en-US" sz="1400" dirty="0">
                <a:solidFill>
                  <a:srgbClr val="A3ABB2"/>
                </a:solidFill>
                <a:latin typeface="Arial" pitchFamily="34" charset="0"/>
                <a:ea typeface="Arial" pitchFamily="34" charset="-122"/>
                <a:cs typeface="Arial" pitchFamily="34" charset="-120"/>
              </a:rPr>
              <a:t>[Presenter]</a:t>
            </a:r>
            <a:endParaRPr lang="en-US" sz="1400" dirty="0"/>
          </a:p>
        </p:txBody>
      </p:sp>
      <p:sp>
        <p:nvSpPr>
          <p:cNvPr id="17" name="Text 15"/>
          <p:cNvSpPr txBox="1"/>
          <p:nvPr/>
        </p:nvSpPr>
        <p:spPr>
          <a:xfrm>
            <a:off x="10241280" y="3950208"/>
            <a:ext cx="1216152" cy="365760"/>
          </a:xfrm>
          <a:prstGeom prst="rect">
            <a:avLst/>
          </a:prstGeom>
          <a:noFill/>
          <a:ln/>
        </p:spPr>
        <p:txBody>
          <a:bodyPr wrap="square" lIns="0" tIns="0" rIns="0" bIns="0" rtlCol="0" anchor="t"/>
          <a:lstStyle/>
          <a:p>
            <a:pPr algn="r" indent="0" marL="0">
              <a:buNone/>
            </a:pPr>
            <a:r>
              <a:rPr lang="en-US" sz="1400" dirty="0">
                <a:solidFill>
                  <a:srgbClr val="A3ABB2"/>
                </a:solidFill>
                <a:latin typeface="Arial" pitchFamily="34" charset="0"/>
                <a:ea typeface="Arial" pitchFamily="34" charset="-122"/>
                <a:cs typeface="Arial" pitchFamily="34" charset="-120"/>
              </a:rPr>
              <a:t>5 min</a:t>
            </a:r>
            <a:endParaRPr lang="en-US" sz="1400" dirty="0"/>
          </a:p>
        </p:txBody>
      </p:sp>
      <p:sp>
        <p:nvSpPr>
          <p:cNvPr id="18" name="Current section"/>
          <p:cNvSpPr/>
          <p:nvPr/>
        </p:nvSpPr>
        <p:spPr>
          <a:xfrm>
            <a:off x="548640" y="4572000"/>
            <a:ext cx="11091672" cy="960120"/>
          </a:xfrm>
          <a:prstGeom prst="rect">
            <a:avLst/>
          </a:prstGeom>
          <a:solidFill>
            <a:srgbClr val="FBF0D6"/>
          </a:solidFill>
          <a:ln/>
        </p:spPr>
      </p:sp>
      <p:sp>
        <p:nvSpPr>
          <p:cNvPr id="19" name="Shape 17"/>
          <p:cNvSpPr/>
          <p:nvPr/>
        </p:nvSpPr>
        <p:spPr>
          <a:xfrm>
            <a:off x="548640" y="4572000"/>
            <a:ext cx="11091672" cy="0"/>
          </a:xfrm>
          <a:prstGeom prst="line">
            <a:avLst/>
          </a:prstGeom>
          <a:noFill/>
          <a:ln w="15875">
            <a:solidFill>
              <a:srgbClr val="E3A21A"/>
            </a:solidFill>
            <a:prstDash val="solid"/>
          </a:ln>
        </p:spPr>
      </p:sp>
      <p:sp>
        <p:nvSpPr>
          <p:cNvPr id="20" name="Text 18"/>
          <p:cNvSpPr txBox="1"/>
          <p:nvPr/>
        </p:nvSpPr>
        <p:spPr>
          <a:xfrm>
            <a:off x="822960" y="4828032"/>
            <a:ext cx="548640" cy="502920"/>
          </a:xfrm>
          <a:prstGeom prst="rect">
            <a:avLst/>
          </a:prstGeom>
          <a:noFill/>
          <a:ln/>
        </p:spPr>
        <p:txBody>
          <a:bodyPr wrap="square" lIns="0" tIns="0" rIns="0" bIns="0" rtlCol="0" anchor="t"/>
          <a:lstStyle/>
          <a:p>
            <a:pPr indent="0" marL="0">
              <a:buNone/>
            </a:pPr>
            <a:r>
              <a:rPr lang="en-US" sz="2600" dirty="0">
                <a:solidFill>
                  <a:srgbClr val="0E2238"/>
                </a:solidFill>
                <a:latin typeface="Georgia" pitchFamily="34" charset="0"/>
                <a:ea typeface="Georgia" pitchFamily="34" charset="-122"/>
                <a:cs typeface="Georgia" pitchFamily="34" charset="-120"/>
              </a:rPr>
              <a:t>4</a:t>
            </a:r>
            <a:endParaRPr lang="en-US" sz="2600" dirty="0"/>
          </a:p>
        </p:txBody>
      </p:sp>
      <p:sp>
        <p:nvSpPr>
          <p:cNvPr id="21" name="Text 19"/>
          <p:cNvSpPr txBox="1"/>
          <p:nvPr/>
        </p:nvSpPr>
        <p:spPr>
          <a:xfrm>
            <a:off x="1554480" y="4873752"/>
            <a:ext cx="5943600" cy="411480"/>
          </a:xfrm>
          <a:prstGeom prst="rect">
            <a:avLst/>
          </a:prstGeom>
          <a:noFill/>
          <a:ln/>
        </p:spPr>
        <p:txBody>
          <a:bodyPr wrap="square" lIns="0" tIns="0" rIns="0" bIns="0" rtlCol="0" anchor="t"/>
          <a:lstStyle/>
          <a:p>
            <a:pPr indent="0" marL="0">
              <a:buNone/>
            </a:pPr>
            <a:r>
              <a:rPr lang="en-US" sz="2000" b="1" dirty="0">
                <a:solidFill>
                  <a:srgbClr val="1A2433"/>
                </a:solidFill>
                <a:latin typeface="Arial" pitchFamily="34" charset="0"/>
                <a:ea typeface="Arial" pitchFamily="34" charset="-122"/>
                <a:cs typeface="Arial" pitchFamily="34" charset="-120"/>
              </a:rPr>
              <a:t>Community, risk and plan</a:t>
            </a:r>
            <a:endParaRPr lang="en-US" sz="2000" dirty="0"/>
          </a:p>
        </p:txBody>
      </p:sp>
      <p:sp>
        <p:nvSpPr>
          <p:cNvPr id="22" name="Text 20"/>
          <p:cNvSpPr txBox="1"/>
          <p:nvPr/>
        </p:nvSpPr>
        <p:spPr>
          <a:xfrm>
            <a:off x="7680960" y="4910328"/>
            <a:ext cx="2377440" cy="365760"/>
          </a:xfrm>
          <a:prstGeom prst="rect">
            <a:avLst/>
          </a:prstGeom>
          <a:noFill/>
          <a:ln/>
        </p:spPr>
        <p:txBody>
          <a:bodyPr wrap="square" lIns="0" tIns="0" rIns="0" bIns="0" rtlCol="0" anchor="t"/>
          <a:lstStyle/>
          <a:p>
            <a:pPr indent="0" marL="0">
              <a:buNone/>
            </a:pPr>
            <a:r>
              <a:rPr lang="en-US" sz="1400" dirty="0">
                <a:solidFill>
                  <a:srgbClr val="4F5B66"/>
                </a:solidFill>
                <a:latin typeface="Arial" pitchFamily="34" charset="0"/>
                <a:ea typeface="Arial" pitchFamily="34" charset="-122"/>
                <a:cs typeface="Arial" pitchFamily="34" charset="-120"/>
              </a:rPr>
              <a:t>[Presenter]</a:t>
            </a:r>
            <a:endParaRPr lang="en-US" sz="1400" dirty="0"/>
          </a:p>
        </p:txBody>
      </p:sp>
      <p:sp>
        <p:nvSpPr>
          <p:cNvPr id="23" name="Text 21"/>
          <p:cNvSpPr txBox="1"/>
          <p:nvPr/>
        </p:nvSpPr>
        <p:spPr>
          <a:xfrm>
            <a:off x="10241280" y="4910328"/>
            <a:ext cx="1216152" cy="365760"/>
          </a:xfrm>
          <a:prstGeom prst="rect">
            <a:avLst/>
          </a:prstGeom>
          <a:noFill/>
          <a:ln/>
        </p:spPr>
        <p:txBody>
          <a:bodyPr wrap="square" lIns="0" tIns="0" rIns="0" bIns="0" rtlCol="0" anchor="t"/>
          <a:lstStyle/>
          <a:p>
            <a:pPr algn="r" indent="0" marL="0">
              <a:buNone/>
            </a:pPr>
            <a:r>
              <a:rPr lang="en-US" sz="1400" dirty="0">
                <a:solidFill>
                  <a:srgbClr val="4F5B66"/>
                </a:solidFill>
                <a:latin typeface="Arial" pitchFamily="34" charset="0"/>
                <a:ea typeface="Arial" pitchFamily="34" charset="-122"/>
                <a:cs typeface="Arial" pitchFamily="34" charset="-120"/>
              </a:rPr>
              <a:t>5 min</a:t>
            </a:r>
            <a:endParaRPr lang="en-US" sz="1400" dirty="0"/>
          </a:p>
        </p:txBody>
      </p:sp>
      <p:sp>
        <p:nvSpPr>
          <p:cNvPr id="24" name="Shape 22"/>
          <p:cNvSpPr/>
          <p:nvPr/>
        </p:nvSpPr>
        <p:spPr>
          <a:xfrm>
            <a:off x="548640" y="5532120"/>
            <a:ext cx="11091672" cy="0"/>
          </a:xfrm>
          <a:prstGeom prst="line">
            <a:avLst/>
          </a:prstGeom>
          <a:noFill/>
          <a:ln w="9525">
            <a:solidFill>
              <a:srgbClr val="D3D6D2"/>
            </a:solidFill>
            <a:prstDash val="solid"/>
          </a:ln>
        </p:spPr>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on who carries the cost and what KGE commits to in return]</a:t>
            </a:r>
            <a:endParaRPr lang="en-US" sz="2400" dirty="0"/>
          </a:p>
        </p:txBody>
      </p:sp>
      <p:sp>
        <p:nvSpPr>
          <p:cNvPr id="3" name="Sticker"/>
          <p:cNvSpPr txBox="1"/>
          <p:nvPr/>
        </p:nvSpPr>
        <p:spPr>
          <a:xfrm>
            <a:off x="10561320" y="475488"/>
            <a:ext cx="1078992" cy="274320"/>
          </a:xfrm>
          <a:prstGeom prst="rect">
            <a:avLst/>
          </a:prstGeom>
          <a:noFill/>
          <a:ln w="9525">
            <a:solidFill>
              <a:srgbClr val="A3ABB2"/>
            </a:solidFill>
          </a:ln>
        </p:spPr>
        <p:txBody>
          <a:bodyPr wrap="square" lIns="0" tIns="0" rIns="0" bIns="0" rtlCol="0" anchor="ctr"/>
          <a:lstStyle/>
          <a:p>
            <a:pPr algn="ctr" indent="0" marL="0">
              <a:buNone/>
            </a:pPr>
            <a:r>
              <a:rPr lang="en-US" sz="900" b="1" dirty="0">
                <a:solidFill>
                  <a:srgbClr val="4F5B66"/>
                </a:solidFill>
                <a:latin typeface="Arial" pitchFamily="34" charset="0"/>
                <a:ea typeface="Arial" pitchFamily="34" charset="-122"/>
                <a:cs typeface="Arial" pitchFamily="34" charset="-120"/>
              </a:rPr>
              <a:t>Illustrative</a:t>
            </a:r>
            <a:endParaRPr lang="en-US" sz="900" dirty="0"/>
          </a:p>
        </p:txBody>
      </p:sp>
      <p:sp>
        <p:nvSpPr>
          <p:cNvPr id="4" name="Manage closely quadrant"/>
          <p:cNvSpPr/>
          <p:nvPr/>
        </p:nvSpPr>
        <p:spPr>
          <a:xfrm>
            <a:off x="4206240" y="1783080"/>
            <a:ext cx="3200400" cy="1851660"/>
          </a:xfrm>
          <a:prstGeom prst="rect">
            <a:avLst/>
          </a:prstGeom>
          <a:solidFill>
            <a:srgbClr val="FBF0D6"/>
          </a:solidFill>
          <a:ln/>
        </p:spPr>
      </p:sp>
      <p:sp>
        <p:nvSpPr>
          <p:cNvPr id="5" name="Shape 3"/>
          <p:cNvSpPr/>
          <p:nvPr/>
        </p:nvSpPr>
        <p:spPr>
          <a:xfrm>
            <a:off x="1005840" y="5486400"/>
            <a:ext cx="6400800" cy="0"/>
          </a:xfrm>
          <a:prstGeom prst="line">
            <a:avLst/>
          </a:prstGeom>
          <a:noFill/>
          <a:ln w="12700">
            <a:solidFill>
              <a:srgbClr val="A3ABB2"/>
            </a:solidFill>
            <a:prstDash val="solid"/>
          </a:ln>
        </p:spPr>
      </p:sp>
      <p:sp>
        <p:nvSpPr>
          <p:cNvPr id="6" name="Shape 4"/>
          <p:cNvSpPr/>
          <p:nvPr/>
        </p:nvSpPr>
        <p:spPr>
          <a:xfrm>
            <a:off x="1005840" y="1783080"/>
            <a:ext cx="0" cy="3703320"/>
          </a:xfrm>
          <a:prstGeom prst="line">
            <a:avLst/>
          </a:prstGeom>
          <a:noFill/>
          <a:ln w="12700">
            <a:solidFill>
              <a:srgbClr val="A3ABB2"/>
            </a:solidFill>
            <a:prstDash val="solid"/>
          </a:ln>
        </p:spPr>
      </p:sp>
      <p:sp>
        <p:nvSpPr>
          <p:cNvPr id="7" name="Shape 5"/>
          <p:cNvSpPr/>
          <p:nvPr/>
        </p:nvSpPr>
        <p:spPr>
          <a:xfrm>
            <a:off x="1005840" y="3634740"/>
            <a:ext cx="6400800" cy="0"/>
          </a:xfrm>
          <a:prstGeom prst="line">
            <a:avLst/>
          </a:prstGeom>
          <a:noFill/>
          <a:ln w="9525">
            <a:solidFill>
              <a:srgbClr val="D9DDE0"/>
            </a:solidFill>
            <a:prstDash val="dash"/>
          </a:ln>
        </p:spPr>
      </p:sp>
      <p:sp>
        <p:nvSpPr>
          <p:cNvPr id="8" name="Shape 6"/>
          <p:cNvSpPr/>
          <p:nvPr/>
        </p:nvSpPr>
        <p:spPr>
          <a:xfrm>
            <a:off x="4206240" y="1783080"/>
            <a:ext cx="0" cy="3703320"/>
          </a:xfrm>
          <a:prstGeom prst="line">
            <a:avLst/>
          </a:prstGeom>
          <a:noFill/>
          <a:ln w="9525">
            <a:solidFill>
              <a:srgbClr val="D9DDE0"/>
            </a:solidFill>
            <a:prstDash val="dash"/>
          </a:ln>
        </p:spPr>
      </p:sp>
      <p:sp>
        <p:nvSpPr>
          <p:cNvPr id="9" name="Text 7"/>
          <p:cNvSpPr txBox="1"/>
          <p:nvPr/>
        </p:nvSpPr>
        <p:spPr>
          <a:xfrm>
            <a:off x="1143000" y="1892808"/>
            <a:ext cx="2286000" cy="228600"/>
          </a:xfrm>
          <a:prstGeom prst="rect">
            <a:avLst/>
          </a:prstGeom>
          <a:noFill/>
          <a:ln/>
        </p:spPr>
        <p:txBody>
          <a:bodyPr wrap="square" lIns="0" tIns="0" rIns="0" bIns="0" rtlCol="0" anchor="t"/>
          <a:lstStyle/>
          <a:p>
            <a:pPr indent="0" marL="0">
              <a:buNone/>
            </a:pPr>
            <a:r>
              <a:rPr lang="en-US" sz="1100" b="1" dirty="0">
                <a:solidFill>
                  <a:srgbClr val="8C959D"/>
                </a:solidFill>
                <a:latin typeface="Arial" pitchFamily="34" charset="0"/>
                <a:ea typeface="Arial" pitchFamily="34" charset="-122"/>
                <a:cs typeface="Arial" pitchFamily="34" charset="-120"/>
              </a:rPr>
              <a:t>Keep satisfied</a:t>
            </a:r>
            <a:endParaRPr lang="en-US" sz="1100" dirty="0"/>
          </a:p>
        </p:txBody>
      </p:sp>
      <p:sp>
        <p:nvSpPr>
          <p:cNvPr id="10" name="Text 8"/>
          <p:cNvSpPr txBox="1"/>
          <p:nvPr/>
        </p:nvSpPr>
        <p:spPr>
          <a:xfrm>
            <a:off x="4343400" y="1892808"/>
            <a:ext cx="2286000" cy="228600"/>
          </a:xfrm>
          <a:prstGeom prst="rect">
            <a:avLst/>
          </a:prstGeom>
          <a:noFill/>
          <a:ln/>
        </p:spPr>
        <p:txBody>
          <a:bodyPr wrap="square" lIns="0" tIns="0" rIns="0" bIns="0" rtlCol="0" anchor="t"/>
          <a:lstStyle/>
          <a:p>
            <a:pPr indent="0" marL="0">
              <a:buNone/>
            </a:pPr>
            <a:r>
              <a:rPr lang="en-US" sz="1100" b="1" dirty="0">
                <a:solidFill>
                  <a:srgbClr val="8C959D"/>
                </a:solidFill>
                <a:latin typeface="Arial" pitchFamily="34" charset="0"/>
                <a:ea typeface="Arial" pitchFamily="34" charset="-122"/>
                <a:cs typeface="Arial" pitchFamily="34" charset="-120"/>
              </a:rPr>
              <a:t>Manage closely</a:t>
            </a:r>
            <a:endParaRPr lang="en-US" sz="1100" dirty="0"/>
          </a:p>
        </p:txBody>
      </p:sp>
      <p:sp>
        <p:nvSpPr>
          <p:cNvPr id="11" name="Text 9"/>
          <p:cNvSpPr txBox="1"/>
          <p:nvPr/>
        </p:nvSpPr>
        <p:spPr>
          <a:xfrm>
            <a:off x="1143000" y="3744468"/>
            <a:ext cx="2286000" cy="228600"/>
          </a:xfrm>
          <a:prstGeom prst="rect">
            <a:avLst/>
          </a:prstGeom>
          <a:noFill/>
          <a:ln/>
        </p:spPr>
        <p:txBody>
          <a:bodyPr wrap="square" lIns="0" tIns="0" rIns="0" bIns="0" rtlCol="0" anchor="t"/>
          <a:lstStyle/>
          <a:p>
            <a:pPr indent="0" marL="0">
              <a:buNone/>
            </a:pPr>
            <a:r>
              <a:rPr lang="en-US" sz="1100" b="1" dirty="0">
                <a:solidFill>
                  <a:srgbClr val="8C959D"/>
                </a:solidFill>
                <a:latin typeface="Arial" pitchFamily="34" charset="0"/>
                <a:ea typeface="Arial" pitchFamily="34" charset="-122"/>
                <a:cs typeface="Arial" pitchFamily="34" charset="-120"/>
              </a:rPr>
              <a:t>Monitor</a:t>
            </a:r>
            <a:endParaRPr lang="en-US" sz="1100" dirty="0"/>
          </a:p>
        </p:txBody>
      </p:sp>
      <p:sp>
        <p:nvSpPr>
          <p:cNvPr id="12" name="Text 10"/>
          <p:cNvSpPr txBox="1"/>
          <p:nvPr/>
        </p:nvSpPr>
        <p:spPr>
          <a:xfrm>
            <a:off x="4343400" y="3744468"/>
            <a:ext cx="2286000" cy="228600"/>
          </a:xfrm>
          <a:prstGeom prst="rect">
            <a:avLst/>
          </a:prstGeom>
          <a:noFill/>
          <a:ln/>
        </p:spPr>
        <p:txBody>
          <a:bodyPr wrap="square" lIns="0" tIns="0" rIns="0" bIns="0" rtlCol="0" anchor="t"/>
          <a:lstStyle/>
          <a:p>
            <a:pPr indent="0" marL="0">
              <a:buNone/>
            </a:pPr>
            <a:r>
              <a:rPr lang="en-US" sz="1100" b="1" dirty="0">
                <a:solidFill>
                  <a:srgbClr val="8C959D"/>
                </a:solidFill>
                <a:latin typeface="Arial" pitchFamily="34" charset="0"/>
                <a:ea typeface="Arial" pitchFamily="34" charset="-122"/>
                <a:cs typeface="Arial" pitchFamily="34" charset="-120"/>
              </a:rPr>
              <a:t>Keep informed</a:t>
            </a:r>
            <a:endParaRPr lang="en-US" sz="1100" dirty="0"/>
          </a:p>
        </p:txBody>
      </p:sp>
      <p:sp>
        <p:nvSpPr>
          <p:cNvPr id="13" name="Text 11"/>
          <p:cNvSpPr txBox="1"/>
          <p:nvPr/>
        </p:nvSpPr>
        <p:spPr>
          <a:xfrm>
            <a:off x="5120640" y="5559552"/>
            <a:ext cx="2286000" cy="22860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Impact on them</a:t>
            </a:r>
            <a:endParaRPr lang="en-US" sz="1100" dirty="0"/>
          </a:p>
        </p:txBody>
      </p:sp>
      <p:sp>
        <p:nvSpPr>
          <p:cNvPr id="14" name="Text 12"/>
          <p:cNvSpPr txBox="1"/>
          <p:nvPr/>
        </p:nvSpPr>
        <p:spPr>
          <a:xfrm>
            <a:off x="548640" y="1435608"/>
            <a:ext cx="2743200" cy="228600"/>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Influence over the decision</a:t>
            </a:r>
            <a:endParaRPr lang="en-US" sz="1100" dirty="0"/>
          </a:p>
        </p:txBody>
      </p:sp>
      <p:sp>
        <p:nvSpPr>
          <p:cNvPr id="15" name="Shape 13"/>
          <p:cNvSpPr/>
          <p:nvPr/>
        </p:nvSpPr>
        <p:spPr>
          <a:xfrm>
            <a:off x="6163056" y="2247138"/>
            <a:ext cx="182880" cy="182880"/>
          </a:xfrm>
          <a:prstGeom prst="ellipse">
            <a:avLst/>
          </a:prstGeom>
          <a:solidFill>
            <a:srgbClr val="0E2238"/>
          </a:solidFill>
          <a:ln/>
        </p:spPr>
      </p:sp>
      <p:sp>
        <p:nvSpPr>
          <p:cNvPr id="16" name="Text 14"/>
          <p:cNvSpPr txBox="1"/>
          <p:nvPr/>
        </p:nvSpPr>
        <p:spPr>
          <a:xfrm>
            <a:off x="6400800" y="2219706"/>
            <a:ext cx="2011680" cy="237744"/>
          </a:xfrm>
          <a:prstGeom prst="rect">
            <a:avLst/>
          </a:prstGeom>
          <a:noFill/>
          <a:ln/>
        </p:spPr>
        <p:txBody>
          <a:bodyPr wrap="square" lIns="0" tIns="0" rIns="0" bIns="0" rtlCol="0" anchor="t"/>
          <a:lstStyle/>
          <a:p>
            <a:pPr indent="0" marL="0">
              <a:buNone/>
            </a:pPr>
            <a:r>
              <a:rPr lang="en-US" sz="1100" b="1" dirty="0">
                <a:solidFill>
                  <a:srgbClr val="1A2433"/>
                </a:solidFill>
                <a:latin typeface="Arial" pitchFamily="34" charset="0"/>
                <a:ea typeface="Arial" pitchFamily="34" charset="-122"/>
                <a:cs typeface="Arial" pitchFamily="34" charset="-120"/>
              </a:rPr>
              <a:t>Township and county</a:t>
            </a:r>
            <a:endParaRPr lang="en-US" sz="1100" dirty="0"/>
          </a:p>
        </p:txBody>
      </p:sp>
      <p:sp>
        <p:nvSpPr>
          <p:cNvPr id="17" name="Shape 15"/>
          <p:cNvSpPr/>
          <p:nvPr/>
        </p:nvSpPr>
        <p:spPr>
          <a:xfrm>
            <a:off x="6547104" y="3839566"/>
            <a:ext cx="182880" cy="182880"/>
          </a:xfrm>
          <a:prstGeom prst="ellipse">
            <a:avLst/>
          </a:prstGeom>
          <a:solidFill>
            <a:srgbClr val="A3ABB2"/>
          </a:solidFill>
          <a:ln/>
        </p:spPr>
      </p:sp>
      <p:sp>
        <p:nvSpPr>
          <p:cNvPr id="18" name="Text 16"/>
          <p:cNvSpPr txBox="1"/>
          <p:nvPr/>
        </p:nvSpPr>
        <p:spPr>
          <a:xfrm>
            <a:off x="6784848" y="3812134"/>
            <a:ext cx="2011680" cy="237744"/>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Nearby residents</a:t>
            </a:r>
            <a:endParaRPr lang="en-US" sz="1100" dirty="0"/>
          </a:p>
        </p:txBody>
      </p:sp>
      <p:sp>
        <p:nvSpPr>
          <p:cNvPr id="19" name="Shape 17"/>
          <p:cNvSpPr/>
          <p:nvPr/>
        </p:nvSpPr>
        <p:spPr>
          <a:xfrm>
            <a:off x="5394960" y="3172968"/>
            <a:ext cx="182880" cy="182880"/>
          </a:xfrm>
          <a:prstGeom prst="ellipse">
            <a:avLst/>
          </a:prstGeom>
          <a:solidFill>
            <a:srgbClr val="0E2238"/>
          </a:solidFill>
          <a:ln/>
        </p:spPr>
      </p:sp>
      <p:sp>
        <p:nvSpPr>
          <p:cNvPr id="20" name="Text 18"/>
          <p:cNvSpPr txBox="1"/>
          <p:nvPr/>
        </p:nvSpPr>
        <p:spPr>
          <a:xfrm>
            <a:off x="5632704" y="3145536"/>
            <a:ext cx="2011680" cy="237744"/>
          </a:xfrm>
          <a:prstGeom prst="rect">
            <a:avLst/>
          </a:prstGeom>
          <a:noFill/>
          <a:ln/>
        </p:spPr>
        <p:txBody>
          <a:bodyPr wrap="square" lIns="0" tIns="0" rIns="0" bIns="0" rtlCol="0" anchor="t"/>
          <a:lstStyle/>
          <a:p>
            <a:pPr indent="0" marL="0">
              <a:buNone/>
            </a:pPr>
            <a:r>
              <a:rPr lang="en-US" sz="1100" b="1" dirty="0">
                <a:solidFill>
                  <a:srgbClr val="1A2433"/>
                </a:solidFill>
                <a:latin typeface="Arial" pitchFamily="34" charset="0"/>
                <a:ea typeface="Arial" pitchFamily="34" charset="-122"/>
                <a:cs typeface="Arial" pitchFamily="34" charset="-120"/>
              </a:rPr>
              <a:t>600-person manufacturer</a:t>
            </a:r>
            <a:endParaRPr lang="en-US" sz="1100" dirty="0"/>
          </a:p>
        </p:txBody>
      </p:sp>
      <p:sp>
        <p:nvSpPr>
          <p:cNvPr id="21" name="Shape 19"/>
          <p:cNvSpPr/>
          <p:nvPr/>
        </p:nvSpPr>
        <p:spPr>
          <a:xfrm>
            <a:off x="4882896" y="4580230"/>
            <a:ext cx="182880" cy="182880"/>
          </a:xfrm>
          <a:prstGeom prst="ellipse">
            <a:avLst/>
          </a:prstGeom>
          <a:solidFill>
            <a:srgbClr val="A3ABB2"/>
          </a:solidFill>
          <a:ln/>
        </p:spPr>
      </p:sp>
      <p:sp>
        <p:nvSpPr>
          <p:cNvPr id="22" name="Text 20"/>
          <p:cNvSpPr txBox="1"/>
          <p:nvPr/>
        </p:nvSpPr>
        <p:spPr>
          <a:xfrm>
            <a:off x="5120640" y="4552798"/>
            <a:ext cx="2011680" cy="237744"/>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Ratepayers</a:t>
            </a:r>
            <a:endParaRPr lang="en-US" sz="1100" dirty="0"/>
          </a:p>
        </p:txBody>
      </p:sp>
      <p:sp>
        <p:nvSpPr>
          <p:cNvPr id="23" name="Shape 21"/>
          <p:cNvSpPr/>
          <p:nvPr/>
        </p:nvSpPr>
        <p:spPr>
          <a:xfrm>
            <a:off x="3154680" y="2136038"/>
            <a:ext cx="182880" cy="182880"/>
          </a:xfrm>
          <a:prstGeom prst="ellipse">
            <a:avLst/>
          </a:prstGeom>
          <a:solidFill>
            <a:srgbClr val="A3ABB2"/>
          </a:solidFill>
          <a:ln/>
        </p:spPr>
      </p:sp>
      <p:sp>
        <p:nvSpPr>
          <p:cNvPr id="24" name="Text 22"/>
          <p:cNvSpPr txBox="1"/>
          <p:nvPr/>
        </p:nvSpPr>
        <p:spPr>
          <a:xfrm>
            <a:off x="3392424" y="2108606"/>
            <a:ext cx="2011680" cy="237744"/>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Anchor customer</a:t>
            </a:r>
            <a:endParaRPr lang="en-US" sz="1100" dirty="0"/>
          </a:p>
        </p:txBody>
      </p:sp>
      <p:sp>
        <p:nvSpPr>
          <p:cNvPr id="25" name="Shape 23"/>
          <p:cNvSpPr/>
          <p:nvPr/>
        </p:nvSpPr>
        <p:spPr>
          <a:xfrm>
            <a:off x="2194560" y="2617470"/>
            <a:ext cx="182880" cy="182880"/>
          </a:xfrm>
          <a:prstGeom prst="ellipse">
            <a:avLst/>
          </a:prstGeom>
          <a:solidFill>
            <a:srgbClr val="A3ABB2"/>
          </a:solidFill>
          <a:ln/>
        </p:spPr>
      </p:sp>
      <p:sp>
        <p:nvSpPr>
          <p:cNvPr id="26" name="Text 24"/>
          <p:cNvSpPr txBox="1"/>
          <p:nvPr/>
        </p:nvSpPr>
        <p:spPr>
          <a:xfrm>
            <a:off x="2432304" y="2590038"/>
            <a:ext cx="2011680" cy="237744"/>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PJM and the utility</a:t>
            </a:r>
            <a:endParaRPr lang="en-US" sz="1100" dirty="0"/>
          </a:p>
        </p:txBody>
      </p:sp>
      <p:sp>
        <p:nvSpPr>
          <p:cNvPr id="27" name="Shape 25"/>
          <p:cNvSpPr/>
          <p:nvPr/>
        </p:nvSpPr>
        <p:spPr>
          <a:xfrm>
            <a:off x="3602736" y="2876702"/>
            <a:ext cx="182880" cy="182880"/>
          </a:xfrm>
          <a:prstGeom prst="ellipse">
            <a:avLst/>
          </a:prstGeom>
          <a:solidFill>
            <a:srgbClr val="A3ABB2"/>
          </a:solidFill>
          <a:ln/>
        </p:spPr>
      </p:sp>
      <p:sp>
        <p:nvSpPr>
          <p:cNvPr id="28" name="Text 26"/>
          <p:cNvSpPr txBox="1"/>
          <p:nvPr/>
        </p:nvSpPr>
        <p:spPr>
          <a:xfrm>
            <a:off x="3840480" y="2849270"/>
            <a:ext cx="2011680" cy="237744"/>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State regulators</a:t>
            </a:r>
            <a:endParaRPr lang="en-US" sz="1100" dirty="0"/>
          </a:p>
        </p:txBody>
      </p:sp>
      <p:sp>
        <p:nvSpPr>
          <p:cNvPr id="29" name="Takeaway panel"/>
          <p:cNvSpPr/>
          <p:nvPr/>
        </p:nvSpPr>
        <p:spPr>
          <a:xfrm>
            <a:off x="8001000" y="1600200"/>
            <a:ext cx="3639312" cy="4251960"/>
          </a:xfrm>
          <a:prstGeom prst="rect">
            <a:avLst/>
          </a:prstGeom>
          <a:solidFill>
            <a:srgbClr val="F1EEE7"/>
          </a:solidFill>
          <a:ln/>
        </p:spPr>
      </p:sp>
      <p:sp>
        <p:nvSpPr>
          <p:cNvPr id="30" name="Text 28"/>
          <p:cNvSpPr txBox="1"/>
          <p:nvPr/>
        </p:nvSpPr>
        <p:spPr>
          <a:xfrm>
            <a:off x="8275320" y="1856232"/>
            <a:ext cx="3090672" cy="320040"/>
          </a:xfrm>
          <a:prstGeom prst="rect">
            <a:avLst/>
          </a:prstGeom>
          <a:noFill/>
          <a:ln/>
        </p:spPr>
        <p:txBody>
          <a:bodyPr wrap="square" lIns="0" tIns="0" rIns="0" bIns="0" rtlCol="0" anchor="t"/>
          <a:lstStyle/>
          <a:p>
            <a:pPr indent="0" marL="0">
              <a:buNone/>
            </a:pPr>
            <a:r>
              <a:rPr lang="en-US" sz="1300" b="1" dirty="0">
                <a:solidFill>
                  <a:srgbClr val="0E2238"/>
                </a:solidFill>
                <a:latin typeface="Arial" pitchFamily="34" charset="0"/>
                <a:ea typeface="Arial" pitchFamily="34" charset="-122"/>
                <a:cs typeface="Arial" pitchFamily="34" charset="-120"/>
              </a:rPr>
              <a:t>What KGE commits to</a:t>
            </a:r>
            <a:endParaRPr lang="en-US" sz="1300" dirty="0"/>
          </a:p>
        </p:txBody>
      </p:sp>
      <p:sp>
        <p:nvSpPr>
          <p:cNvPr id="31" name="Text 29"/>
          <p:cNvSpPr txBox="1"/>
          <p:nvPr/>
        </p:nvSpPr>
        <p:spPr>
          <a:xfrm>
            <a:off x="8275320" y="2313432"/>
            <a:ext cx="3090672" cy="33375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[Commitment to nearby residents]</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[Commitment to the manufacturer]</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[Commitment on ratepayer costs]</a:t>
            </a:r>
            <a:endParaRPr lang="en-US" sz="1400" dirty="0"/>
          </a:p>
          <a:p>
            <a:pPr marL="177800" indent="-177800">
              <a:spcAft>
                <a:spcPts val="1000"/>
              </a:spcAft>
              <a:buSzPct val="100000"/>
              <a:buChar char="•"/>
            </a:pPr>
            <a:r>
              <a:rPr lang="en-US" sz="1400" dirty="0">
                <a:solidFill>
                  <a:srgbClr val="1A2433"/>
                </a:solidFill>
                <a:latin typeface="Arial" pitchFamily="34" charset="0"/>
                <a:ea typeface="Arial" pitchFamily="34" charset="-122"/>
                <a:cs typeface="Arial" pitchFamily="34" charset="-120"/>
              </a:rPr>
              <a:t>[How KGE reports progress]</a:t>
            </a:r>
            <a:endParaRPr lang="en-US" sz="1400" dirty="0"/>
          </a:p>
        </p:txBody>
      </p:sp>
      <p:sp>
        <p:nvSpPr>
          <p:cNvPr id="3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Case packet; public comment;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saying the largest risk is contained and how]</a:t>
            </a:r>
            <a:endParaRPr lang="en-US" sz="2400" dirty="0"/>
          </a:p>
        </p:txBody>
      </p:sp>
      <p:sp>
        <p:nvSpPr>
          <p:cNvPr id="3" name="Sticker"/>
          <p:cNvSpPr txBox="1"/>
          <p:nvPr/>
        </p:nvSpPr>
        <p:spPr>
          <a:xfrm>
            <a:off x="10561320" y="475488"/>
            <a:ext cx="1078992" cy="274320"/>
          </a:xfrm>
          <a:prstGeom prst="rect">
            <a:avLst/>
          </a:prstGeom>
          <a:noFill/>
          <a:ln w="9525">
            <a:solidFill>
              <a:srgbClr val="A3ABB2"/>
            </a:solidFill>
          </a:ln>
        </p:spPr>
        <p:txBody>
          <a:bodyPr wrap="square" lIns="0" tIns="0" rIns="0" bIns="0" rtlCol="0" anchor="ctr"/>
          <a:lstStyle/>
          <a:p>
            <a:pPr algn="ctr" indent="0" marL="0">
              <a:buNone/>
            </a:pPr>
            <a:r>
              <a:rPr lang="en-US" sz="900" b="1" dirty="0">
                <a:solidFill>
                  <a:srgbClr val="4F5B66"/>
                </a:solidFill>
                <a:latin typeface="Arial" pitchFamily="34" charset="0"/>
                <a:ea typeface="Arial" pitchFamily="34" charset="-122"/>
                <a:cs typeface="Arial" pitchFamily="34" charset="-120"/>
              </a:rPr>
              <a:t>Illustrative</a:t>
            </a:r>
            <a:endParaRPr lang="en-US" sz="900" dirty="0"/>
          </a:p>
        </p:txBody>
      </p:sp>
      <p:sp>
        <p:nvSpPr>
          <p:cNvPr id="4" name="Shape 2"/>
          <p:cNvSpPr/>
          <p:nvPr/>
        </p:nvSpPr>
        <p:spPr>
          <a:xfrm>
            <a:off x="1234440" y="1874520"/>
            <a:ext cx="1179576" cy="1179576"/>
          </a:xfrm>
          <a:prstGeom prst="rect">
            <a:avLst/>
          </a:prstGeom>
          <a:solidFill>
            <a:srgbClr val="F1EEE7"/>
          </a:solidFill>
          <a:ln/>
        </p:spPr>
      </p:sp>
      <p:sp>
        <p:nvSpPr>
          <p:cNvPr id="5" name="Shape 3"/>
          <p:cNvSpPr/>
          <p:nvPr/>
        </p:nvSpPr>
        <p:spPr>
          <a:xfrm>
            <a:off x="2468880" y="1874520"/>
            <a:ext cx="1179576" cy="1179576"/>
          </a:xfrm>
          <a:prstGeom prst="rect">
            <a:avLst/>
          </a:prstGeom>
          <a:solidFill>
            <a:srgbClr val="FBF0D6"/>
          </a:solidFill>
          <a:ln/>
        </p:spPr>
      </p:sp>
      <p:sp>
        <p:nvSpPr>
          <p:cNvPr id="6" name="Shape 4"/>
          <p:cNvSpPr/>
          <p:nvPr/>
        </p:nvSpPr>
        <p:spPr>
          <a:xfrm>
            <a:off x="3703320" y="1874520"/>
            <a:ext cx="1179576" cy="1179576"/>
          </a:xfrm>
          <a:prstGeom prst="rect">
            <a:avLst/>
          </a:prstGeom>
          <a:solidFill>
            <a:srgbClr val="F5D58F"/>
          </a:solidFill>
          <a:ln/>
        </p:spPr>
      </p:sp>
      <p:sp>
        <p:nvSpPr>
          <p:cNvPr id="7" name="Shape 5"/>
          <p:cNvSpPr/>
          <p:nvPr/>
        </p:nvSpPr>
        <p:spPr>
          <a:xfrm>
            <a:off x="1234440" y="3108960"/>
            <a:ext cx="1179576" cy="1179576"/>
          </a:xfrm>
          <a:prstGeom prst="rect">
            <a:avLst/>
          </a:prstGeom>
          <a:solidFill>
            <a:srgbClr val="F1EEE7"/>
          </a:solidFill>
          <a:ln/>
        </p:spPr>
      </p:sp>
      <p:sp>
        <p:nvSpPr>
          <p:cNvPr id="8" name="Shape 6"/>
          <p:cNvSpPr/>
          <p:nvPr/>
        </p:nvSpPr>
        <p:spPr>
          <a:xfrm>
            <a:off x="2468880" y="3108960"/>
            <a:ext cx="1179576" cy="1179576"/>
          </a:xfrm>
          <a:prstGeom prst="rect">
            <a:avLst/>
          </a:prstGeom>
          <a:solidFill>
            <a:srgbClr val="FBF0D6"/>
          </a:solidFill>
          <a:ln/>
        </p:spPr>
      </p:sp>
      <p:sp>
        <p:nvSpPr>
          <p:cNvPr id="9" name="Shape 7"/>
          <p:cNvSpPr/>
          <p:nvPr/>
        </p:nvSpPr>
        <p:spPr>
          <a:xfrm>
            <a:off x="3703320" y="3108960"/>
            <a:ext cx="1179576" cy="1179576"/>
          </a:xfrm>
          <a:prstGeom prst="rect">
            <a:avLst/>
          </a:prstGeom>
          <a:solidFill>
            <a:srgbClr val="FBF0D6"/>
          </a:solidFill>
          <a:ln/>
        </p:spPr>
      </p:sp>
      <p:sp>
        <p:nvSpPr>
          <p:cNvPr id="10" name="Shape 8"/>
          <p:cNvSpPr/>
          <p:nvPr/>
        </p:nvSpPr>
        <p:spPr>
          <a:xfrm>
            <a:off x="1234440" y="4343400"/>
            <a:ext cx="1179576" cy="1179576"/>
          </a:xfrm>
          <a:prstGeom prst="rect">
            <a:avLst/>
          </a:prstGeom>
          <a:solidFill>
            <a:srgbClr val="F1EEE7"/>
          </a:solidFill>
          <a:ln/>
        </p:spPr>
      </p:sp>
      <p:sp>
        <p:nvSpPr>
          <p:cNvPr id="11" name="Shape 9"/>
          <p:cNvSpPr/>
          <p:nvPr/>
        </p:nvSpPr>
        <p:spPr>
          <a:xfrm>
            <a:off x="2468880" y="4343400"/>
            <a:ext cx="1179576" cy="1179576"/>
          </a:xfrm>
          <a:prstGeom prst="rect">
            <a:avLst/>
          </a:prstGeom>
          <a:solidFill>
            <a:srgbClr val="F1EEE7"/>
          </a:solidFill>
          <a:ln/>
        </p:spPr>
      </p:sp>
      <p:sp>
        <p:nvSpPr>
          <p:cNvPr id="12" name="Shape 10"/>
          <p:cNvSpPr/>
          <p:nvPr/>
        </p:nvSpPr>
        <p:spPr>
          <a:xfrm>
            <a:off x="3703320" y="4343400"/>
            <a:ext cx="1179576" cy="1179576"/>
          </a:xfrm>
          <a:prstGeom prst="rect">
            <a:avLst/>
          </a:prstGeom>
          <a:solidFill>
            <a:srgbClr val="F1EEE7"/>
          </a:solidFill>
          <a:ln/>
        </p:spPr>
      </p:sp>
      <p:sp>
        <p:nvSpPr>
          <p:cNvPr id="13" name="Text 11"/>
          <p:cNvSpPr txBox="1"/>
          <p:nvPr/>
        </p:nvSpPr>
        <p:spPr>
          <a:xfrm>
            <a:off x="502920" y="2331720"/>
            <a:ext cx="685800" cy="27432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High</a:t>
            </a:r>
            <a:endParaRPr lang="en-US" sz="1100" dirty="0"/>
          </a:p>
        </p:txBody>
      </p:sp>
      <p:sp>
        <p:nvSpPr>
          <p:cNvPr id="14" name="Text 12"/>
          <p:cNvSpPr txBox="1"/>
          <p:nvPr/>
        </p:nvSpPr>
        <p:spPr>
          <a:xfrm>
            <a:off x="502920" y="3566160"/>
            <a:ext cx="685800" cy="27432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Medium</a:t>
            </a:r>
            <a:endParaRPr lang="en-US" sz="1100" dirty="0"/>
          </a:p>
        </p:txBody>
      </p:sp>
      <p:sp>
        <p:nvSpPr>
          <p:cNvPr id="15" name="Text 13"/>
          <p:cNvSpPr txBox="1"/>
          <p:nvPr/>
        </p:nvSpPr>
        <p:spPr>
          <a:xfrm>
            <a:off x="502920" y="4800600"/>
            <a:ext cx="685800" cy="27432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Low</a:t>
            </a:r>
            <a:endParaRPr lang="en-US" sz="1100" dirty="0"/>
          </a:p>
        </p:txBody>
      </p:sp>
      <p:sp>
        <p:nvSpPr>
          <p:cNvPr id="16" name="Text 14"/>
          <p:cNvSpPr txBox="1"/>
          <p:nvPr/>
        </p:nvSpPr>
        <p:spPr>
          <a:xfrm>
            <a:off x="1234440" y="5623560"/>
            <a:ext cx="1179576" cy="274320"/>
          </a:xfrm>
          <a:prstGeom prst="rect">
            <a:avLst/>
          </a:prstGeom>
          <a:noFill/>
          <a:ln/>
        </p:spPr>
        <p:txBody>
          <a:bodyPr wrap="square" lIns="0" tIns="0" rIns="0" bIns="0" rtlCol="0" anchor="t"/>
          <a:lstStyle/>
          <a:p>
            <a:pPr algn="ctr" indent="0" marL="0">
              <a:buNone/>
            </a:pPr>
            <a:r>
              <a:rPr lang="en-US" sz="1100" dirty="0">
                <a:solidFill>
                  <a:srgbClr val="4F5B66"/>
                </a:solidFill>
                <a:latin typeface="Arial" pitchFamily="34" charset="0"/>
                <a:ea typeface="Arial" pitchFamily="34" charset="-122"/>
                <a:cs typeface="Arial" pitchFamily="34" charset="-120"/>
              </a:rPr>
              <a:t>Low</a:t>
            </a:r>
            <a:endParaRPr lang="en-US" sz="1100" dirty="0"/>
          </a:p>
        </p:txBody>
      </p:sp>
      <p:sp>
        <p:nvSpPr>
          <p:cNvPr id="17" name="Text 15"/>
          <p:cNvSpPr txBox="1"/>
          <p:nvPr/>
        </p:nvSpPr>
        <p:spPr>
          <a:xfrm>
            <a:off x="2468880" y="5623560"/>
            <a:ext cx="1179576" cy="274320"/>
          </a:xfrm>
          <a:prstGeom prst="rect">
            <a:avLst/>
          </a:prstGeom>
          <a:noFill/>
          <a:ln/>
        </p:spPr>
        <p:txBody>
          <a:bodyPr wrap="square" lIns="0" tIns="0" rIns="0" bIns="0" rtlCol="0" anchor="t"/>
          <a:lstStyle/>
          <a:p>
            <a:pPr algn="ctr" indent="0" marL="0">
              <a:buNone/>
            </a:pPr>
            <a:r>
              <a:rPr lang="en-US" sz="1100" dirty="0">
                <a:solidFill>
                  <a:srgbClr val="4F5B66"/>
                </a:solidFill>
                <a:latin typeface="Arial" pitchFamily="34" charset="0"/>
                <a:ea typeface="Arial" pitchFamily="34" charset="-122"/>
                <a:cs typeface="Arial" pitchFamily="34" charset="-120"/>
              </a:rPr>
              <a:t>Medium</a:t>
            </a:r>
            <a:endParaRPr lang="en-US" sz="1100" dirty="0"/>
          </a:p>
        </p:txBody>
      </p:sp>
      <p:sp>
        <p:nvSpPr>
          <p:cNvPr id="18" name="Text 16"/>
          <p:cNvSpPr txBox="1"/>
          <p:nvPr/>
        </p:nvSpPr>
        <p:spPr>
          <a:xfrm>
            <a:off x="3703320" y="5623560"/>
            <a:ext cx="1179576" cy="274320"/>
          </a:xfrm>
          <a:prstGeom prst="rect">
            <a:avLst/>
          </a:prstGeom>
          <a:noFill/>
          <a:ln/>
        </p:spPr>
        <p:txBody>
          <a:bodyPr wrap="square" lIns="0" tIns="0" rIns="0" bIns="0" rtlCol="0" anchor="t"/>
          <a:lstStyle/>
          <a:p>
            <a:pPr algn="ctr" indent="0" marL="0">
              <a:buNone/>
            </a:pPr>
            <a:r>
              <a:rPr lang="en-US" sz="1100" dirty="0">
                <a:solidFill>
                  <a:srgbClr val="4F5B66"/>
                </a:solidFill>
                <a:latin typeface="Arial" pitchFamily="34" charset="0"/>
                <a:ea typeface="Arial" pitchFamily="34" charset="-122"/>
                <a:cs typeface="Arial" pitchFamily="34" charset="-120"/>
              </a:rPr>
              <a:t>High</a:t>
            </a:r>
            <a:endParaRPr lang="en-US" sz="1100" dirty="0"/>
          </a:p>
        </p:txBody>
      </p:sp>
      <p:sp>
        <p:nvSpPr>
          <p:cNvPr id="19" name="Text 17"/>
          <p:cNvSpPr txBox="1"/>
          <p:nvPr/>
        </p:nvSpPr>
        <p:spPr>
          <a:xfrm>
            <a:off x="1234440" y="5897880"/>
            <a:ext cx="3703320" cy="256032"/>
          </a:xfrm>
          <a:prstGeom prst="rect">
            <a:avLst/>
          </a:prstGeom>
          <a:noFill/>
          <a:ln/>
        </p:spPr>
        <p:txBody>
          <a:bodyPr wrap="square" lIns="0" tIns="0" rIns="0" bIns="0" rtlCol="0" anchor="t"/>
          <a:lstStyle/>
          <a:p>
            <a:pPr algn="ctr" indent="0" marL="0">
              <a:buNone/>
            </a:pPr>
            <a:r>
              <a:rPr lang="en-US" sz="1100" b="1" dirty="0">
                <a:solidFill>
                  <a:srgbClr val="4F5B66"/>
                </a:solidFill>
                <a:latin typeface="Arial" pitchFamily="34" charset="0"/>
                <a:ea typeface="Arial" pitchFamily="34" charset="-122"/>
                <a:cs typeface="Arial" pitchFamily="34" charset="-120"/>
              </a:rPr>
              <a:t>Likelihood</a:t>
            </a:r>
            <a:endParaRPr lang="en-US" sz="1100" dirty="0"/>
          </a:p>
        </p:txBody>
      </p:sp>
      <p:sp>
        <p:nvSpPr>
          <p:cNvPr id="20" name="Text 18"/>
          <p:cNvSpPr txBox="1"/>
          <p:nvPr/>
        </p:nvSpPr>
        <p:spPr>
          <a:xfrm>
            <a:off x="502920" y="1527048"/>
            <a:ext cx="1371600" cy="256032"/>
          </a:xfrm>
          <a:prstGeom prst="rect">
            <a:avLst/>
          </a:prstGeom>
          <a:noFill/>
          <a:ln/>
        </p:spPr>
        <p:txBody>
          <a:bodyPr wrap="square" lIns="0" tIns="0" rIns="0" bIns="0" rtlCol="0" anchor="t"/>
          <a:lstStyle/>
          <a:p>
            <a:pPr indent="0" marL="0">
              <a:buNone/>
            </a:pPr>
            <a:r>
              <a:rPr lang="en-US" sz="1100" b="1" dirty="0">
                <a:solidFill>
                  <a:srgbClr val="4F5B66"/>
                </a:solidFill>
                <a:latin typeface="Arial" pitchFamily="34" charset="0"/>
                <a:ea typeface="Arial" pitchFamily="34" charset="-122"/>
                <a:cs typeface="Arial" pitchFamily="34" charset="-120"/>
              </a:rPr>
              <a:t>Impact</a:t>
            </a:r>
            <a:endParaRPr lang="en-US" sz="1100" dirty="0"/>
          </a:p>
        </p:txBody>
      </p:sp>
      <p:sp>
        <p:nvSpPr>
          <p:cNvPr id="21" name="Shape 19"/>
          <p:cNvSpPr/>
          <p:nvPr/>
        </p:nvSpPr>
        <p:spPr>
          <a:xfrm>
            <a:off x="3977640" y="2148840"/>
            <a:ext cx="365760" cy="365760"/>
          </a:xfrm>
          <a:prstGeom prst="ellipse">
            <a:avLst/>
          </a:prstGeom>
          <a:solidFill>
            <a:srgbClr val="0E2238"/>
          </a:solidFill>
          <a:ln w="19050">
            <a:solidFill>
              <a:srgbClr val="FFFFFF"/>
            </a:solidFill>
            <a:prstDash val="solid"/>
          </a:ln>
        </p:spPr>
      </p:sp>
      <p:sp>
        <p:nvSpPr>
          <p:cNvPr id="22" name="Text 20"/>
          <p:cNvSpPr txBox="1"/>
          <p:nvPr/>
        </p:nvSpPr>
        <p:spPr>
          <a:xfrm>
            <a:off x="397764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3" name="Shape 21"/>
          <p:cNvSpPr/>
          <p:nvPr/>
        </p:nvSpPr>
        <p:spPr>
          <a:xfrm>
            <a:off x="3017520" y="2423160"/>
            <a:ext cx="365760" cy="365760"/>
          </a:xfrm>
          <a:prstGeom prst="ellipse">
            <a:avLst/>
          </a:prstGeom>
          <a:solidFill>
            <a:srgbClr val="0E2238"/>
          </a:solidFill>
          <a:ln w="19050">
            <a:solidFill>
              <a:srgbClr val="FFFFFF"/>
            </a:solidFill>
            <a:prstDash val="solid"/>
          </a:ln>
        </p:spPr>
      </p:sp>
      <p:sp>
        <p:nvSpPr>
          <p:cNvPr id="24" name="Text 22"/>
          <p:cNvSpPr txBox="1"/>
          <p:nvPr/>
        </p:nvSpPr>
        <p:spPr>
          <a:xfrm>
            <a:off x="3017520" y="2423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5" name="Shape 23"/>
          <p:cNvSpPr/>
          <p:nvPr/>
        </p:nvSpPr>
        <p:spPr>
          <a:xfrm>
            <a:off x="2880360" y="3520440"/>
            <a:ext cx="365760" cy="365760"/>
          </a:xfrm>
          <a:prstGeom prst="ellipse">
            <a:avLst/>
          </a:prstGeom>
          <a:solidFill>
            <a:srgbClr val="0E2238"/>
          </a:solidFill>
          <a:ln w="19050">
            <a:solidFill>
              <a:srgbClr val="FFFFFF"/>
            </a:solidFill>
            <a:prstDash val="solid"/>
          </a:ln>
        </p:spPr>
      </p:sp>
      <p:sp>
        <p:nvSpPr>
          <p:cNvPr id="26" name="Text 24"/>
          <p:cNvSpPr txBox="1"/>
          <p:nvPr/>
        </p:nvSpPr>
        <p:spPr>
          <a:xfrm>
            <a:off x="2880360" y="3520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7" name="Shape 25"/>
          <p:cNvSpPr/>
          <p:nvPr/>
        </p:nvSpPr>
        <p:spPr>
          <a:xfrm>
            <a:off x="1645920" y="4754880"/>
            <a:ext cx="365760" cy="365760"/>
          </a:xfrm>
          <a:prstGeom prst="ellipse">
            <a:avLst/>
          </a:prstGeom>
          <a:solidFill>
            <a:srgbClr val="0E2238"/>
          </a:solidFill>
          <a:ln w="19050">
            <a:solidFill>
              <a:srgbClr val="FFFFFF"/>
            </a:solidFill>
            <a:prstDash val="solid"/>
          </a:ln>
        </p:spPr>
      </p:sp>
      <p:sp>
        <p:nvSpPr>
          <p:cNvPr id="28" name="Text 26"/>
          <p:cNvSpPr txBox="1"/>
          <p:nvPr/>
        </p:nvSpPr>
        <p:spPr>
          <a:xfrm>
            <a:off x="1645920" y="4754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txBox="1"/>
          <p:nvPr/>
        </p:nvSpPr>
        <p:spPr>
          <a:xfrm>
            <a:off x="6035040" y="1600200"/>
            <a:ext cx="2194560" cy="274320"/>
          </a:xfrm>
          <a:prstGeom prst="rect">
            <a:avLst/>
          </a:prstGeom>
          <a:noFill/>
          <a:ln/>
        </p:spPr>
        <p:txBody>
          <a:bodyPr wrap="square" lIns="0" tIns="0" rIns="0" bIns="0" rtlCol="0" anchor="t"/>
          <a:lstStyle/>
          <a:p>
            <a:pPr indent="0" marL="0">
              <a:buNone/>
            </a:pPr>
            <a:r>
              <a:rPr lang="en-US" sz="1200" b="1" dirty="0">
                <a:solidFill>
                  <a:srgbClr val="4F5B66"/>
                </a:solidFill>
                <a:latin typeface="Arial" pitchFamily="34" charset="0"/>
                <a:ea typeface="Arial" pitchFamily="34" charset="-122"/>
                <a:cs typeface="Arial" pitchFamily="34" charset="-120"/>
              </a:rPr>
              <a:t>Risk</a:t>
            </a:r>
            <a:endParaRPr lang="en-US" sz="1200" dirty="0"/>
          </a:p>
        </p:txBody>
      </p:sp>
      <p:sp>
        <p:nvSpPr>
          <p:cNvPr id="30" name="Text 28"/>
          <p:cNvSpPr txBox="1"/>
          <p:nvPr/>
        </p:nvSpPr>
        <p:spPr>
          <a:xfrm>
            <a:off x="8412480" y="1600200"/>
            <a:ext cx="3200400" cy="274320"/>
          </a:xfrm>
          <a:prstGeom prst="rect">
            <a:avLst/>
          </a:prstGeom>
          <a:noFill/>
          <a:ln/>
        </p:spPr>
        <p:txBody>
          <a:bodyPr wrap="square" lIns="0" tIns="0" rIns="0" bIns="0" rtlCol="0" anchor="t"/>
          <a:lstStyle/>
          <a:p>
            <a:pPr indent="0" marL="0">
              <a:buNone/>
            </a:pPr>
            <a:r>
              <a:rPr lang="en-US" sz="1200" b="1" dirty="0">
                <a:solidFill>
                  <a:srgbClr val="4F5B66"/>
                </a:solidFill>
                <a:latin typeface="Arial" pitchFamily="34" charset="0"/>
                <a:ea typeface="Arial" pitchFamily="34" charset="-122"/>
                <a:cs typeface="Arial" pitchFamily="34" charset="-120"/>
              </a:rPr>
              <a:t>Mitigation</a:t>
            </a:r>
            <a:endParaRPr lang="en-US" sz="1200" dirty="0"/>
          </a:p>
        </p:txBody>
      </p:sp>
      <p:sp>
        <p:nvSpPr>
          <p:cNvPr id="31" name="Shape 29"/>
          <p:cNvSpPr/>
          <p:nvPr/>
        </p:nvSpPr>
        <p:spPr>
          <a:xfrm>
            <a:off x="5486400" y="1938528"/>
            <a:ext cx="6153912" cy="0"/>
          </a:xfrm>
          <a:prstGeom prst="line">
            <a:avLst/>
          </a:prstGeom>
          <a:noFill/>
          <a:ln w="15875">
            <a:solidFill>
              <a:srgbClr val="1A2433"/>
            </a:solidFill>
            <a:prstDash val="solid"/>
          </a:ln>
        </p:spPr>
      </p:sp>
      <p:sp>
        <p:nvSpPr>
          <p:cNvPr id="32" name="Shape 30"/>
          <p:cNvSpPr/>
          <p:nvPr/>
        </p:nvSpPr>
        <p:spPr>
          <a:xfrm>
            <a:off x="5486400" y="2212848"/>
            <a:ext cx="329184" cy="329184"/>
          </a:xfrm>
          <a:prstGeom prst="ellipse">
            <a:avLst/>
          </a:prstGeom>
          <a:solidFill>
            <a:srgbClr val="0E2238"/>
          </a:solidFill>
          <a:ln/>
        </p:spPr>
      </p:sp>
      <p:sp>
        <p:nvSpPr>
          <p:cNvPr id="33" name="Text 31"/>
          <p:cNvSpPr txBox="1"/>
          <p:nvPr/>
        </p:nvSpPr>
        <p:spPr>
          <a:xfrm>
            <a:off x="5486400" y="2212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4" name="Text 32"/>
          <p:cNvSpPr txBox="1"/>
          <p:nvPr/>
        </p:nvSpPr>
        <p:spPr>
          <a:xfrm>
            <a:off x="6035040" y="2212848"/>
            <a:ext cx="2194560" cy="54864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[Risk 1]</a:t>
            </a:r>
            <a:endParaRPr lang="en-US" sz="1400" dirty="0"/>
          </a:p>
        </p:txBody>
      </p:sp>
      <p:sp>
        <p:nvSpPr>
          <p:cNvPr id="35" name="Text 33"/>
          <p:cNvSpPr txBox="1"/>
          <p:nvPr/>
        </p:nvSpPr>
        <p:spPr>
          <a:xfrm>
            <a:off x="8412480" y="2212848"/>
            <a:ext cx="3227832" cy="59436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[What KGE does about it, and who owns it]</a:t>
            </a:r>
            <a:endParaRPr lang="en-US" sz="1300" dirty="0"/>
          </a:p>
        </p:txBody>
      </p:sp>
      <p:sp>
        <p:nvSpPr>
          <p:cNvPr id="36" name="Shape 34"/>
          <p:cNvSpPr/>
          <p:nvPr/>
        </p:nvSpPr>
        <p:spPr>
          <a:xfrm>
            <a:off x="5486400" y="2916936"/>
            <a:ext cx="6153912" cy="0"/>
          </a:xfrm>
          <a:prstGeom prst="line">
            <a:avLst/>
          </a:prstGeom>
          <a:noFill/>
          <a:ln w="9525">
            <a:solidFill>
              <a:srgbClr val="D3D6D2"/>
            </a:solidFill>
            <a:prstDash val="solid"/>
          </a:ln>
        </p:spPr>
      </p:sp>
      <p:sp>
        <p:nvSpPr>
          <p:cNvPr id="37" name="Shape 35"/>
          <p:cNvSpPr/>
          <p:nvPr/>
        </p:nvSpPr>
        <p:spPr>
          <a:xfrm>
            <a:off x="5486400" y="3191256"/>
            <a:ext cx="329184" cy="329184"/>
          </a:xfrm>
          <a:prstGeom prst="ellipse">
            <a:avLst/>
          </a:prstGeom>
          <a:solidFill>
            <a:srgbClr val="0E2238"/>
          </a:solidFill>
          <a:ln/>
        </p:spPr>
      </p:sp>
      <p:sp>
        <p:nvSpPr>
          <p:cNvPr id="38" name="Text 36"/>
          <p:cNvSpPr txBox="1"/>
          <p:nvPr/>
        </p:nvSpPr>
        <p:spPr>
          <a:xfrm>
            <a:off x="5486400" y="3191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9" name="Text 37"/>
          <p:cNvSpPr txBox="1"/>
          <p:nvPr/>
        </p:nvSpPr>
        <p:spPr>
          <a:xfrm>
            <a:off x="6035040" y="3191256"/>
            <a:ext cx="2194560" cy="54864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[Risk 2]</a:t>
            </a:r>
            <a:endParaRPr lang="en-US" sz="1400" dirty="0"/>
          </a:p>
        </p:txBody>
      </p:sp>
      <p:sp>
        <p:nvSpPr>
          <p:cNvPr id="40" name="Text 38"/>
          <p:cNvSpPr txBox="1"/>
          <p:nvPr/>
        </p:nvSpPr>
        <p:spPr>
          <a:xfrm>
            <a:off x="8412480" y="3191256"/>
            <a:ext cx="3227832" cy="59436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[What KGE does about it, and who owns it]</a:t>
            </a:r>
            <a:endParaRPr lang="en-US" sz="1300" dirty="0"/>
          </a:p>
        </p:txBody>
      </p:sp>
      <p:sp>
        <p:nvSpPr>
          <p:cNvPr id="41" name="Shape 39"/>
          <p:cNvSpPr/>
          <p:nvPr/>
        </p:nvSpPr>
        <p:spPr>
          <a:xfrm>
            <a:off x="5486400" y="3895344"/>
            <a:ext cx="6153912" cy="0"/>
          </a:xfrm>
          <a:prstGeom prst="line">
            <a:avLst/>
          </a:prstGeom>
          <a:noFill/>
          <a:ln w="9525">
            <a:solidFill>
              <a:srgbClr val="D3D6D2"/>
            </a:solidFill>
            <a:prstDash val="solid"/>
          </a:ln>
        </p:spPr>
      </p:sp>
      <p:sp>
        <p:nvSpPr>
          <p:cNvPr id="42" name="Shape 40"/>
          <p:cNvSpPr/>
          <p:nvPr/>
        </p:nvSpPr>
        <p:spPr>
          <a:xfrm>
            <a:off x="5486400" y="4169664"/>
            <a:ext cx="329184" cy="329184"/>
          </a:xfrm>
          <a:prstGeom prst="ellipse">
            <a:avLst/>
          </a:prstGeom>
          <a:solidFill>
            <a:srgbClr val="0E2238"/>
          </a:solidFill>
          <a:ln/>
        </p:spPr>
      </p:sp>
      <p:sp>
        <p:nvSpPr>
          <p:cNvPr id="43" name="Text 41"/>
          <p:cNvSpPr txBox="1"/>
          <p:nvPr/>
        </p:nvSpPr>
        <p:spPr>
          <a:xfrm>
            <a:off x="5486400" y="4169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4" name="Text 42"/>
          <p:cNvSpPr txBox="1"/>
          <p:nvPr/>
        </p:nvSpPr>
        <p:spPr>
          <a:xfrm>
            <a:off x="6035040" y="4169664"/>
            <a:ext cx="2194560" cy="54864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[Risk 3]</a:t>
            </a:r>
            <a:endParaRPr lang="en-US" sz="1400" dirty="0"/>
          </a:p>
        </p:txBody>
      </p:sp>
      <p:sp>
        <p:nvSpPr>
          <p:cNvPr id="45" name="Text 43"/>
          <p:cNvSpPr txBox="1"/>
          <p:nvPr/>
        </p:nvSpPr>
        <p:spPr>
          <a:xfrm>
            <a:off x="8412480" y="4169664"/>
            <a:ext cx="3227832" cy="59436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[What KGE does about it, and who owns it]</a:t>
            </a:r>
            <a:endParaRPr lang="en-US" sz="1300" dirty="0"/>
          </a:p>
        </p:txBody>
      </p:sp>
      <p:sp>
        <p:nvSpPr>
          <p:cNvPr id="46" name="Shape 44"/>
          <p:cNvSpPr/>
          <p:nvPr/>
        </p:nvSpPr>
        <p:spPr>
          <a:xfrm>
            <a:off x="5486400" y="4873752"/>
            <a:ext cx="6153912" cy="0"/>
          </a:xfrm>
          <a:prstGeom prst="line">
            <a:avLst/>
          </a:prstGeom>
          <a:noFill/>
          <a:ln w="9525">
            <a:solidFill>
              <a:srgbClr val="D3D6D2"/>
            </a:solidFill>
            <a:prstDash val="solid"/>
          </a:ln>
        </p:spPr>
      </p:sp>
      <p:sp>
        <p:nvSpPr>
          <p:cNvPr id="47" name="Shape 45"/>
          <p:cNvSpPr/>
          <p:nvPr/>
        </p:nvSpPr>
        <p:spPr>
          <a:xfrm>
            <a:off x="5486400" y="5148072"/>
            <a:ext cx="329184" cy="329184"/>
          </a:xfrm>
          <a:prstGeom prst="ellipse">
            <a:avLst/>
          </a:prstGeom>
          <a:solidFill>
            <a:srgbClr val="0E2238"/>
          </a:solidFill>
          <a:ln/>
        </p:spPr>
      </p:sp>
      <p:sp>
        <p:nvSpPr>
          <p:cNvPr id="48" name="Text 46"/>
          <p:cNvSpPr txBox="1"/>
          <p:nvPr/>
        </p:nvSpPr>
        <p:spPr>
          <a:xfrm>
            <a:off x="5486400" y="51480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9" name="Text 47"/>
          <p:cNvSpPr txBox="1"/>
          <p:nvPr/>
        </p:nvSpPr>
        <p:spPr>
          <a:xfrm>
            <a:off x="6035040" y="5148072"/>
            <a:ext cx="2194560" cy="54864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[Risk 4]</a:t>
            </a:r>
            <a:endParaRPr lang="en-US" sz="1400" dirty="0"/>
          </a:p>
        </p:txBody>
      </p:sp>
      <p:sp>
        <p:nvSpPr>
          <p:cNvPr id="50" name="Text 48"/>
          <p:cNvSpPr txBox="1"/>
          <p:nvPr/>
        </p:nvSpPr>
        <p:spPr>
          <a:xfrm>
            <a:off x="8412480" y="5148072"/>
            <a:ext cx="3227832" cy="59436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[What KGE does about it, and who owns it]</a:t>
            </a:r>
            <a:endParaRPr lang="en-US" sz="1300" dirty="0"/>
          </a:p>
        </p:txBody>
      </p:sp>
      <p:sp>
        <p:nvSpPr>
          <p:cNvPr id="51" name="Shape 49"/>
          <p:cNvSpPr/>
          <p:nvPr/>
        </p:nvSpPr>
        <p:spPr>
          <a:xfrm>
            <a:off x="5486400" y="5852160"/>
            <a:ext cx="6153912" cy="0"/>
          </a:xfrm>
          <a:prstGeom prst="line">
            <a:avLst/>
          </a:prstGeom>
          <a:noFill/>
          <a:ln w="9525">
            <a:solidFill>
              <a:srgbClr val="D3D6D2"/>
            </a:solidFill>
            <a:prstDash val="solid"/>
          </a:ln>
        </p:spPr>
      </p:sp>
      <p:sp>
        <p:nvSpPr>
          <p:cNvPr id="5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[Headline giving the first-power date if KGE decides this quarter]</a:t>
            </a:r>
            <a:endParaRPr lang="en-US" sz="2400" dirty="0"/>
          </a:p>
        </p:txBody>
      </p:sp>
      <p:sp>
        <p:nvSpPr>
          <p:cNvPr id="3" name="Sticker"/>
          <p:cNvSpPr txBox="1"/>
          <p:nvPr/>
        </p:nvSpPr>
        <p:spPr>
          <a:xfrm>
            <a:off x="10561320" y="475488"/>
            <a:ext cx="1078992" cy="274320"/>
          </a:xfrm>
          <a:prstGeom prst="rect">
            <a:avLst/>
          </a:prstGeom>
          <a:noFill/>
          <a:ln w="9525">
            <a:solidFill>
              <a:srgbClr val="A3ABB2"/>
            </a:solidFill>
          </a:ln>
        </p:spPr>
        <p:txBody>
          <a:bodyPr wrap="square" lIns="0" tIns="0" rIns="0" bIns="0" rtlCol="0" anchor="ctr"/>
          <a:lstStyle/>
          <a:p>
            <a:pPr algn="ctr" indent="0" marL="0">
              <a:buNone/>
            </a:pPr>
            <a:r>
              <a:rPr lang="en-US" sz="900" b="1" dirty="0">
                <a:solidFill>
                  <a:srgbClr val="4F5B66"/>
                </a:solidFill>
                <a:latin typeface="Arial" pitchFamily="34" charset="0"/>
                <a:ea typeface="Arial" pitchFamily="34" charset="-122"/>
                <a:cs typeface="Arial" pitchFamily="34" charset="-120"/>
              </a:rPr>
              <a:t>Illustrative</a:t>
            </a:r>
            <a:endParaRPr lang="en-US" sz="900" dirty="0"/>
          </a:p>
        </p:txBody>
      </p:sp>
      <p:sp>
        <p:nvSpPr>
          <p:cNvPr id="4" name="Text 2"/>
          <p:cNvSpPr txBox="1"/>
          <p:nvPr/>
        </p:nvSpPr>
        <p:spPr>
          <a:xfrm>
            <a:off x="3108960" y="1554480"/>
            <a:ext cx="1706270" cy="274320"/>
          </a:xfrm>
          <a:prstGeom prst="rect">
            <a:avLst/>
          </a:prstGeom>
          <a:noFill/>
          <a:ln/>
        </p:spPr>
        <p:txBody>
          <a:bodyPr wrap="square" lIns="0" tIns="0" rIns="0" bIns="0" rtlCol="0" anchor="t"/>
          <a:lstStyle/>
          <a:p>
            <a:pPr algn="ctr" indent="0" marL="0">
              <a:buNone/>
            </a:pPr>
            <a:r>
              <a:rPr lang="en-US" sz="1200" b="1" dirty="0">
                <a:solidFill>
                  <a:srgbClr val="4F5B66"/>
                </a:solidFill>
                <a:latin typeface="Arial" pitchFamily="34" charset="0"/>
                <a:ea typeface="Arial" pitchFamily="34" charset="-122"/>
                <a:cs typeface="Arial" pitchFamily="34" charset="-120"/>
              </a:rPr>
              <a:t>2027</a:t>
            </a:r>
            <a:endParaRPr lang="en-US" sz="1200" dirty="0"/>
          </a:p>
        </p:txBody>
      </p:sp>
      <p:sp>
        <p:nvSpPr>
          <p:cNvPr id="5" name="Text 3"/>
          <p:cNvSpPr txBox="1"/>
          <p:nvPr/>
        </p:nvSpPr>
        <p:spPr>
          <a:xfrm>
            <a:off x="4815230" y="1554480"/>
            <a:ext cx="1706270" cy="274320"/>
          </a:xfrm>
          <a:prstGeom prst="rect">
            <a:avLst/>
          </a:prstGeom>
          <a:noFill/>
          <a:ln/>
        </p:spPr>
        <p:txBody>
          <a:bodyPr wrap="square" lIns="0" tIns="0" rIns="0" bIns="0" rtlCol="0" anchor="t"/>
          <a:lstStyle/>
          <a:p>
            <a:pPr algn="ctr" indent="0" marL="0">
              <a:buNone/>
            </a:pPr>
            <a:r>
              <a:rPr lang="en-US" sz="1200" b="1" dirty="0">
                <a:solidFill>
                  <a:srgbClr val="4F5B66"/>
                </a:solidFill>
                <a:latin typeface="Arial" pitchFamily="34" charset="0"/>
                <a:ea typeface="Arial" pitchFamily="34" charset="-122"/>
                <a:cs typeface="Arial" pitchFamily="34" charset="-120"/>
              </a:rPr>
              <a:t>2028</a:t>
            </a:r>
            <a:endParaRPr lang="en-US" sz="1200" dirty="0"/>
          </a:p>
        </p:txBody>
      </p:sp>
      <p:sp>
        <p:nvSpPr>
          <p:cNvPr id="6" name="Text 4"/>
          <p:cNvSpPr txBox="1"/>
          <p:nvPr/>
        </p:nvSpPr>
        <p:spPr>
          <a:xfrm>
            <a:off x="6521501" y="1554480"/>
            <a:ext cx="1706270" cy="274320"/>
          </a:xfrm>
          <a:prstGeom prst="rect">
            <a:avLst/>
          </a:prstGeom>
          <a:noFill/>
          <a:ln/>
        </p:spPr>
        <p:txBody>
          <a:bodyPr wrap="square" lIns="0" tIns="0" rIns="0" bIns="0" rtlCol="0" anchor="t"/>
          <a:lstStyle/>
          <a:p>
            <a:pPr algn="ctr" indent="0" marL="0">
              <a:buNone/>
            </a:pPr>
            <a:r>
              <a:rPr lang="en-US" sz="1200" b="1" dirty="0">
                <a:solidFill>
                  <a:srgbClr val="4F5B66"/>
                </a:solidFill>
                <a:latin typeface="Arial" pitchFamily="34" charset="0"/>
                <a:ea typeface="Arial" pitchFamily="34" charset="-122"/>
                <a:cs typeface="Arial" pitchFamily="34" charset="-120"/>
              </a:rPr>
              <a:t>2029</a:t>
            </a:r>
            <a:endParaRPr lang="en-US" sz="1200" dirty="0"/>
          </a:p>
        </p:txBody>
      </p:sp>
      <p:sp>
        <p:nvSpPr>
          <p:cNvPr id="7" name="Text 5"/>
          <p:cNvSpPr txBox="1"/>
          <p:nvPr/>
        </p:nvSpPr>
        <p:spPr>
          <a:xfrm>
            <a:off x="8227771" y="1554480"/>
            <a:ext cx="1706270" cy="274320"/>
          </a:xfrm>
          <a:prstGeom prst="rect">
            <a:avLst/>
          </a:prstGeom>
          <a:noFill/>
          <a:ln/>
        </p:spPr>
        <p:txBody>
          <a:bodyPr wrap="square" lIns="0" tIns="0" rIns="0" bIns="0" rtlCol="0" anchor="t"/>
          <a:lstStyle/>
          <a:p>
            <a:pPr algn="ctr" indent="0" marL="0">
              <a:buNone/>
            </a:pPr>
            <a:r>
              <a:rPr lang="en-US" sz="1200" b="1" dirty="0">
                <a:solidFill>
                  <a:srgbClr val="4F5B66"/>
                </a:solidFill>
                <a:latin typeface="Arial" pitchFamily="34" charset="0"/>
                <a:ea typeface="Arial" pitchFamily="34" charset="-122"/>
                <a:cs typeface="Arial" pitchFamily="34" charset="-120"/>
              </a:rPr>
              <a:t>2030</a:t>
            </a:r>
            <a:endParaRPr lang="en-US" sz="1200" dirty="0"/>
          </a:p>
        </p:txBody>
      </p:sp>
      <p:sp>
        <p:nvSpPr>
          <p:cNvPr id="8" name="Text 6"/>
          <p:cNvSpPr txBox="1"/>
          <p:nvPr/>
        </p:nvSpPr>
        <p:spPr>
          <a:xfrm>
            <a:off x="9934042" y="1554480"/>
            <a:ext cx="1706270" cy="274320"/>
          </a:xfrm>
          <a:prstGeom prst="rect">
            <a:avLst/>
          </a:prstGeom>
          <a:noFill/>
          <a:ln/>
        </p:spPr>
        <p:txBody>
          <a:bodyPr wrap="square" lIns="0" tIns="0" rIns="0" bIns="0" rtlCol="0" anchor="t"/>
          <a:lstStyle/>
          <a:p>
            <a:pPr algn="ctr" indent="0" marL="0">
              <a:buNone/>
            </a:pPr>
            <a:r>
              <a:rPr lang="en-US" sz="1200" b="1" dirty="0">
                <a:solidFill>
                  <a:srgbClr val="4F5B66"/>
                </a:solidFill>
                <a:latin typeface="Arial" pitchFamily="34" charset="0"/>
                <a:ea typeface="Arial" pitchFamily="34" charset="-122"/>
                <a:cs typeface="Arial" pitchFamily="34" charset="-120"/>
              </a:rPr>
              <a:t>2031</a:t>
            </a:r>
            <a:endParaRPr lang="en-US" sz="1200" dirty="0"/>
          </a:p>
        </p:txBody>
      </p:sp>
      <p:sp>
        <p:nvSpPr>
          <p:cNvPr id="9" name="Shape 7"/>
          <p:cNvSpPr/>
          <p:nvPr/>
        </p:nvSpPr>
        <p:spPr>
          <a:xfrm>
            <a:off x="548640" y="1901952"/>
            <a:ext cx="11091672" cy="0"/>
          </a:xfrm>
          <a:prstGeom prst="line">
            <a:avLst/>
          </a:prstGeom>
          <a:noFill/>
          <a:ln w="15875">
            <a:solidFill>
              <a:srgbClr val="1A2433"/>
            </a:solidFill>
            <a:prstDash val="solid"/>
          </a:ln>
        </p:spPr>
      </p:sp>
      <p:sp>
        <p:nvSpPr>
          <p:cNvPr id="10" name="Shape 8"/>
          <p:cNvSpPr/>
          <p:nvPr/>
        </p:nvSpPr>
        <p:spPr>
          <a:xfrm>
            <a:off x="4815230" y="1901952"/>
            <a:ext cx="0" cy="2697480"/>
          </a:xfrm>
          <a:prstGeom prst="line">
            <a:avLst/>
          </a:prstGeom>
          <a:noFill/>
          <a:ln w="6350">
            <a:solidFill>
              <a:srgbClr val="D9DDE0"/>
            </a:solidFill>
            <a:prstDash val="dash"/>
          </a:ln>
        </p:spPr>
      </p:sp>
      <p:sp>
        <p:nvSpPr>
          <p:cNvPr id="11" name="Shape 9"/>
          <p:cNvSpPr/>
          <p:nvPr/>
        </p:nvSpPr>
        <p:spPr>
          <a:xfrm>
            <a:off x="6521501" y="1901952"/>
            <a:ext cx="0" cy="2697480"/>
          </a:xfrm>
          <a:prstGeom prst="line">
            <a:avLst/>
          </a:prstGeom>
          <a:noFill/>
          <a:ln w="6350">
            <a:solidFill>
              <a:srgbClr val="D9DDE0"/>
            </a:solidFill>
            <a:prstDash val="dash"/>
          </a:ln>
        </p:spPr>
      </p:sp>
      <p:sp>
        <p:nvSpPr>
          <p:cNvPr id="12" name="Shape 10"/>
          <p:cNvSpPr/>
          <p:nvPr/>
        </p:nvSpPr>
        <p:spPr>
          <a:xfrm>
            <a:off x="8227771" y="1901952"/>
            <a:ext cx="0" cy="2697480"/>
          </a:xfrm>
          <a:prstGeom prst="line">
            <a:avLst/>
          </a:prstGeom>
          <a:noFill/>
          <a:ln w="6350">
            <a:solidFill>
              <a:srgbClr val="D9DDE0"/>
            </a:solidFill>
            <a:prstDash val="dash"/>
          </a:ln>
        </p:spPr>
      </p:sp>
      <p:sp>
        <p:nvSpPr>
          <p:cNvPr id="13" name="Shape 11"/>
          <p:cNvSpPr/>
          <p:nvPr/>
        </p:nvSpPr>
        <p:spPr>
          <a:xfrm>
            <a:off x="9934042" y="1901952"/>
            <a:ext cx="0" cy="2697480"/>
          </a:xfrm>
          <a:prstGeom prst="line">
            <a:avLst/>
          </a:prstGeom>
          <a:noFill/>
          <a:ln w="6350">
            <a:solidFill>
              <a:srgbClr val="D9DDE0"/>
            </a:solidFill>
            <a:prstDash val="dash"/>
          </a:ln>
        </p:spPr>
      </p:sp>
      <p:sp>
        <p:nvSpPr>
          <p:cNvPr id="14" name="Text 12"/>
          <p:cNvSpPr txBox="1"/>
          <p:nvPr/>
        </p:nvSpPr>
        <p:spPr>
          <a:xfrm>
            <a:off x="548640" y="2084832"/>
            <a:ext cx="246888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[Approvals and permits]</a:t>
            </a:r>
            <a:endParaRPr lang="en-US" sz="1300" dirty="0"/>
          </a:p>
        </p:txBody>
      </p:sp>
      <p:sp>
        <p:nvSpPr>
          <p:cNvPr id="15" name="Bar 1"/>
          <p:cNvSpPr/>
          <p:nvPr/>
        </p:nvSpPr>
        <p:spPr>
          <a:xfrm>
            <a:off x="3108960" y="2103120"/>
            <a:ext cx="1706270" cy="292608"/>
          </a:xfrm>
          <a:prstGeom prst="rect">
            <a:avLst/>
          </a:prstGeom>
          <a:solidFill>
            <a:srgbClr val="0E2238"/>
          </a:solidFill>
          <a:ln/>
        </p:spPr>
      </p:sp>
      <p:sp>
        <p:nvSpPr>
          <p:cNvPr id="16" name="Text 14"/>
          <p:cNvSpPr txBox="1"/>
          <p:nvPr/>
        </p:nvSpPr>
        <p:spPr>
          <a:xfrm>
            <a:off x="548640" y="2587752"/>
            <a:ext cx="246888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[Grid connection]</a:t>
            </a:r>
            <a:endParaRPr lang="en-US" sz="1300" dirty="0"/>
          </a:p>
        </p:txBody>
      </p:sp>
      <p:sp>
        <p:nvSpPr>
          <p:cNvPr id="17" name="Bar 2"/>
          <p:cNvSpPr/>
          <p:nvPr/>
        </p:nvSpPr>
        <p:spPr>
          <a:xfrm>
            <a:off x="3962095" y="2606040"/>
            <a:ext cx="4265676" cy="292608"/>
          </a:xfrm>
          <a:prstGeom prst="rect">
            <a:avLst/>
          </a:prstGeom>
          <a:solidFill>
            <a:srgbClr val="0E2238"/>
          </a:solidFill>
          <a:ln/>
        </p:spPr>
      </p:sp>
      <p:sp>
        <p:nvSpPr>
          <p:cNvPr id="18" name="Text 16"/>
          <p:cNvSpPr txBox="1"/>
          <p:nvPr/>
        </p:nvSpPr>
        <p:spPr>
          <a:xfrm>
            <a:off x="548640" y="3090672"/>
            <a:ext cx="246888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[Phase 1 construction]</a:t>
            </a:r>
            <a:endParaRPr lang="en-US" sz="1300" dirty="0"/>
          </a:p>
        </p:txBody>
      </p:sp>
      <p:sp>
        <p:nvSpPr>
          <p:cNvPr id="19" name="Bar 3"/>
          <p:cNvSpPr/>
          <p:nvPr/>
        </p:nvSpPr>
        <p:spPr>
          <a:xfrm>
            <a:off x="4815230" y="3108960"/>
            <a:ext cx="3753795" cy="292608"/>
          </a:xfrm>
          <a:prstGeom prst="rect">
            <a:avLst/>
          </a:prstGeom>
          <a:solidFill>
            <a:srgbClr val="0E2238"/>
          </a:solidFill>
          <a:ln/>
        </p:spPr>
      </p:sp>
      <p:sp>
        <p:nvSpPr>
          <p:cNvPr id="20" name="Text 18"/>
          <p:cNvSpPr txBox="1"/>
          <p:nvPr/>
        </p:nvSpPr>
        <p:spPr>
          <a:xfrm>
            <a:off x="548640" y="3593592"/>
            <a:ext cx="246888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[Community commitments]</a:t>
            </a:r>
            <a:endParaRPr lang="en-US" sz="1300" dirty="0"/>
          </a:p>
        </p:txBody>
      </p:sp>
      <p:sp>
        <p:nvSpPr>
          <p:cNvPr id="21" name="Bar 4"/>
          <p:cNvSpPr/>
          <p:nvPr/>
        </p:nvSpPr>
        <p:spPr>
          <a:xfrm>
            <a:off x="3450214" y="3611880"/>
            <a:ext cx="8190098" cy="292608"/>
          </a:xfrm>
          <a:prstGeom prst="rect">
            <a:avLst/>
          </a:prstGeom>
          <a:solidFill>
            <a:srgbClr val="A3ABB2"/>
          </a:solidFill>
          <a:ln/>
        </p:spPr>
      </p:sp>
      <p:sp>
        <p:nvSpPr>
          <p:cNvPr id="22" name="Shape 20"/>
          <p:cNvSpPr/>
          <p:nvPr/>
        </p:nvSpPr>
        <p:spPr>
          <a:xfrm>
            <a:off x="8413577" y="4059936"/>
            <a:ext cx="310896" cy="310896"/>
          </a:xfrm>
          <a:prstGeom prst="diamond">
            <a:avLst/>
          </a:prstGeom>
          <a:solidFill>
            <a:srgbClr val="E3A21A"/>
          </a:solidFill>
          <a:ln/>
        </p:spPr>
      </p:sp>
      <p:sp>
        <p:nvSpPr>
          <p:cNvPr id="23" name="Text 21"/>
          <p:cNvSpPr txBox="1"/>
          <p:nvPr/>
        </p:nvSpPr>
        <p:spPr>
          <a:xfrm>
            <a:off x="548640" y="4096512"/>
            <a:ext cx="2468880" cy="320040"/>
          </a:xfrm>
          <a:prstGeom prst="rect">
            <a:avLst/>
          </a:prstGeom>
          <a:noFill/>
          <a:ln/>
        </p:spPr>
        <p:txBody>
          <a:bodyPr wrap="square" lIns="0" tIns="0" rIns="0" bIns="0" rtlCol="0" anchor="t"/>
          <a:lstStyle/>
          <a:p>
            <a:pPr indent="0" marL="0">
              <a:buNone/>
            </a:pPr>
            <a:r>
              <a:rPr lang="en-US" sz="1300" b="1" dirty="0">
                <a:solidFill>
                  <a:srgbClr val="1A2433"/>
                </a:solidFill>
                <a:latin typeface="Arial" pitchFamily="34" charset="0"/>
                <a:ea typeface="Arial" pitchFamily="34" charset="-122"/>
                <a:cs typeface="Arial" pitchFamily="34" charset="-120"/>
              </a:rPr>
              <a:t>[Phase 1 first power]</a:t>
            </a:r>
            <a:endParaRPr lang="en-US" sz="1300" dirty="0"/>
          </a:p>
        </p:txBody>
      </p:sp>
      <p:sp>
        <p:nvSpPr>
          <p:cNvPr id="24" name="Text 22"/>
          <p:cNvSpPr txBox="1"/>
          <p:nvPr/>
        </p:nvSpPr>
        <p:spPr>
          <a:xfrm>
            <a:off x="8797625" y="4096512"/>
            <a:ext cx="1828800" cy="320040"/>
          </a:xfrm>
          <a:prstGeom prst="rect">
            <a:avLst/>
          </a:prstGeom>
          <a:noFill/>
          <a:ln/>
        </p:spPr>
        <p:txBody>
          <a:bodyPr wrap="square" lIns="0" tIns="0" rIns="0" bIns="0" rtlCol="0" anchor="t"/>
          <a:lstStyle/>
          <a:p>
            <a:pPr indent="0" marL="0">
              <a:buNone/>
            </a:pPr>
            <a:r>
              <a:rPr lang="en-US" sz="1200" b="1" dirty="0">
                <a:solidFill>
                  <a:srgbClr val="0E2238"/>
                </a:solidFill>
                <a:latin typeface="Arial" pitchFamily="34" charset="0"/>
                <a:ea typeface="Arial" pitchFamily="34" charset="-122"/>
                <a:cs typeface="Arial" pitchFamily="34" charset="-120"/>
              </a:rPr>
              <a:t>[Month year]</a:t>
            </a:r>
            <a:endParaRPr lang="en-US" sz="1200" dirty="0"/>
          </a:p>
        </p:txBody>
      </p:sp>
      <p:sp>
        <p:nvSpPr>
          <p:cNvPr id="25" name="Text 23"/>
          <p:cNvSpPr txBox="1"/>
          <p:nvPr/>
        </p:nvSpPr>
        <p:spPr>
          <a:xfrm>
            <a:off x="548640" y="4937760"/>
            <a:ext cx="5486400" cy="274320"/>
          </a:xfrm>
          <a:prstGeom prst="rect">
            <a:avLst/>
          </a:prstGeom>
          <a:noFill/>
          <a:ln/>
        </p:spPr>
        <p:txBody>
          <a:bodyPr wrap="square" lIns="0" tIns="0" rIns="0" bIns="0" rtlCol="0" anchor="t"/>
          <a:lstStyle/>
          <a:p>
            <a:pPr indent="0" marL="0">
              <a:buNone/>
            </a:pPr>
            <a:r>
              <a:rPr lang="en-US" sz="1300" b="1" dirty="0">
                <a:solidFill>
                  <a:srgbClr val="0E2238"/>
                </a:solidFill>
                <a:latin typeface="Arial" pitchFamily="34" charset="0"/>
                <a:ea typeface="Arial" pitchFamily="34" charset="-122"/>
                <a:cs typeface="Arial" pitchFamily="34" charset="-120"/>
              </a:rPr>
              <a:t>How KGE will know it is working</a:t>
            </a:r>
            <a:endParaRPr lang="en-US" sz="1300" dirty="0"/>
          </a:p>
        </p:txBody>
      </p:sp>
      <p:sp>
        <p:nvSpPr>
          <p:cNvPr id="26" name="Shape 24"/>
          <p:cNvSpPr/>
          <p:nvPr/>
        </p:nvSpPr>
        <p:spPr>
          <a:xfrm>
            <a:off x="548640" y="5285232"/>
            <a:ext cx="11091672" cy="0"/>
          </a:xfrm>
          <a:prstGeom prst="line">
            <a:avLst/>
          </a:prstGeom>
          <a:noFill/>
          <a:ln w="15875">
            <a:solidFill>
              <a:srgbClr val="1A2433"/>
            </a:solidFill>
            <a:prstDash val="solid"/>
          </a:ln>
        </p:spPr>
      </p:sp>
      <p:sp>
        <p:nvSpPr>
          <p:cNvPr id="27" name="Text 25"/>
          <p:cNvSpPr txBox="1"/>
          <p:nvPr/>
        </p:nvSpPr>
        <p:spPr>
          <a:xfrm>
            <a:off x="548640" y="5413248"/>
            <a:ext cx="3474720" cy="27432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[KPI]</a:t>
            </a:r>
            <a:endParaRPr lang="en-US" sz="1400" dirty="0"/>
          </a:p>
        </p:txBody>
      </p:sp>
      <p:sp>
        <p:nvSpPr>
          <p:cNvPr id="28" name="Text 26"/>
          <p:cNvSpPr txBox="1"/>
          <p:nvPr/>
        </p:nvSpPr>
        <p:spPr>
          <a:xfrm>
            <a:off x="548640" y="5687568"/>
            <a:ext cx="3474720" cy="27432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[Target]  |  [By when]</a:t>
            </a:r>
            <a:endParaRPr lang="en-US" sz="1300" dirty="0"/>
          </a:p>
        </p:txBody>
      </p:sp>
      <p:sp>
        <p:nvSpPr>
          <p:cNvPr id="29" name="Text 27"/>
          <p:cNvSpPr txBox="1"/>
          <p:nvPr/>
        </p:nvSpPr>
        <p:spPr>
          <a:xfrm>
            <a:off x="4297680" y="5413248"/>
            <a:ext cx="3474720" cy="27432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[KPI]</a:t>
            </a:r>
            <a:endParaRPr lang="en-US" sz="1400" dirty="0"/>
          </a:p>
        </p:txBody>
      </p:sp>
      <p:sp>
        <p:nvSpPr>
          <p:cNvPr id="30" name="Text 28"/>
          <p:cNvSpPr txBox="1"/>
          <p:nvPr/>
        </p:nvSpPr>
        <p:spPr>
          <a:xfrm>
            <a:off x="4297680" y="5687568"/>
            <a:ext cx="3474720" cy="27432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[Target]  |  [By when]</a:t>
            </a:r>
            <a:endParaRPr lang="en-US" sz="1300" dirty="0"/>
          </a:p>
        </p:txBody>
      </p:sp>
      <p:sp>
        <p:nvSpPr>
          <p:cNvPr id="31" name="Text 29"/>
          <p:cNvSpPr txBox="1"/>
          <p:nvPr/>
        </p:nvSpPr>
        <p:spPr>
          <a:xfrm>
            <a:off x="8046720" y="5413248"/>
            <a:ext cx="3474720" cy="274320"/>
          </a:xfrm>
          <a:prstGeom prst="rect">
            <a:avLst/>
          </a:prstGeom>
          <a:noFill/>
          <a:ln/>
        </p:spPr>
        <p:txBody>
          <a:bodyPr wrap="square" lIns="0" tIns="0" rIns="0" bIns="0" rtlCol="0" anchor="t"/>
          <a:lstStyle/>
          <a:p>
            <a:pPr indent="0" marL="0">
              <a:buNone/>
            </a:pPr>
            <a:r>
              <a:rPr lang="en-US" sz="1400" b="1" dirty="0">
                <a:solidFill>
                  <a:srgbClr val="1A2433"/>
                </a:solidFill>
                <a:latin typeface="Arial" pitchFamily="34" charset="0"/>
                <a:ea typeface="Arial" pitchFamily="34" charset="-122"/>
                <a:cs typeface="Arial" pitchFamily="34" charset="-120"/>
              </a:rPr>
              <a:t>[KPI]</a:t>
            </a:r>
            <a:endParaRPr lang="en-US" sz="1400" dirty="0"/>
          </a:p>
        </p:txBody>
      </p:sp>
      <p:sp>
        <p:nvSpPr>
          <p:cNvPr id="32" name="Text 30"/>
          <p:cNvSpPr txBox="1"/>
          <p:nvPr/>
        </p:nvSpPr>
        <p:spPr>
          <a:xfrm>
            <a:off x="8046720" y="5687568"/>
            <a:ext cx="3474720" cy="274320"/>
          </a:xfrm>
          <a:prstGeom prst="rect">
            <a:avLst/>
          </a:prstGeom>
          <a:noFill/>
          <a:ln/>
        </p:spPr>
        <p:txBody>
          <a:bodyPr wrap="square" lIns="0" tIns="0" rIns="0" bIns="0" rtlCol="0" anchor="t"/>
          <a:lstStyle/>
          <a:p>
            <a:pPr indent="0" marL="0">
              <a:buNone/>
            </a:pPr>
            <a:r>
              <a:rPr lang="en-US" sz="1300" dirty="0">
                <a:solidFill>
                  <a:srgbClr val="4F5B66"/>
                </a:solidFill>
                <a:latin typeface="Arial" pitchFamily="34" charset="0"/>
                <a:ea typeface="Arial" pitchFamily="34" charset="-122"/>
                <a:cs typeface="Arial" pitchFamily="34" charset="-120"/>
              </a:rPr>
              <a:t>[Target]  |  [By when]</a:t>
            </a:r>
            <a:endParaRPr lang="en-US" sz="1300" dirty="0"/>
          </a:p>
        </p:txBody>
      </p:sp>
      <p:sp>
        <p:nvSpPr>
          <p:cNvPr id="33"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Case timeline; PJM interconnection estimates; SLAM analysis</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685800"/>
            <a:ext cx="5486400" cy="365760"/>
          </a:xfrm>
          <a:prstGeom prst="rect">
            <a:avLst/>
          </a:prstGeom>
          <a:noFill/>
          <a:ln/>
        </p:spPr>
        <p:txBody>
          <a:bodyPr wrap="square" lIns="0" tIns="0" rIns="0" bIns="0" rtlCol="0" anchor="t"/>
          <a:lstStyle/>
          <a:p>
            <a:pPr indent="0" marL="0">
              <a:buNone/>
            </a:pPr>
            <a:r>
              <a:rPr lang="en-US" sz="1400" b="1" spc="100" kern="0" dirty="0">
                <a:solidFill>
                  <a:srgbClr val="E3A21A"/>
                </a:solidFill>
                <a:latin typeface="Arial" pitchFamily="34" charset="0"/>
                <a:ea typeface="Arial" pitchFamily="34" charset="-122"/>
                <a:cs typeface="Arial" pitchFamily="34" charset="-120"/>
              </a:rPr>
              <a:t>SLAM Consulting</a:t>
            </a:r>
            <a:endParaRPr lang="en-US" sz="1400" dirty="0"/>
          </a:p>
        </p:txBody>
      </p:sp>
      <p:sp>
        <p:nvSpPr>
          <p:cNvPr id="3" name="Text 1"/>
          <p:cNvSpPr txBox="1"/>
          <p:nvPr/>
        </p:nvSpPr>
        <p:spPr>
          <a:xfrm>
            <a:off x="731520" y="1417320"/>
            <a:ext cx="10698480" cy="822960"/>
          </a:xfrm>
          <a:prstGeom prst="rect">
            <a:avLst/>
          </a:prstGeom>
          <a:noFill/>
          <a:ln/>
        </p:spPr>
        <p:txBody>
          <a:bodyPr wrap="square" lIns="0" tIns="0" rIns="0" bIns="0" rtlCol="0" anchor="t"/>
          <a:lstStyle/>
          <a:p>
            <a:pPr indent="0" marL="0">
              <a:buNone/>
            </a:pPr>
            <a:r>
              <a:rPr lang="en-US" sz="3600" dirty="0">
                <a:solidFill>
                  <a:srgbClr val="FFFFFF"/>
                </a:solidFill>
                <a:latin typeface="Georgia" pitchFamily="34" charset="0"/>
                <a:ea typeface="Georgia" pitchFamily="34" charset="-122"/>
                <a:cs typeface="Georgia" pitchFamily="34" charset="-120"/>
              </a:rPr>
              <a:t>What we ask KGE to approve today</a:t>
            </a:r>
            <a:endParaRPr lang="en-US" sz="3600" dirty="0"/>
          </a:p>
        </p:txBody>
      </p:sp>
      <p:sp>
        <p:nvSpPr>
          <p:cNvPr id="4" name="Shape 2"/>
          <p:cNvSpPr/>
          <p:nvPr/>
        </p:nvSpPr>
        <p:spPr>
          <a:xfrm>
            <a:off x="731520" y="2606040"/>
            <a:ext cx="10725912" cy="0"/>
          </a:xfrm>
          <a:prstGeom prst="line">
            <a:avLst/>
          </a:prstGeom>
          <a:noFill/>
          <a:ln w="9525">
            <a:solidFill>
              <a:srgbClr val="34475C"/>
            </a:solidFill>
            <a:prstDash val="solid"/>
          </a:ln>
        </p:spPr>
      </p:sp>
      <p:sp>
        <p:nvSpPr>
          <p:cNvPr id="5" name="Text 3"/>
          <p:cNvSpPr txBox="1"/>
          <p:nvPr/>
        </p:nvSpPr>
        <p:spPr>
          <a:xfrm>
            <a:off x="731520" y="2862072"/>
            <a:ext cx="7772400" cy="45720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[Decision one]</a:t>
            </a:r>
            <a:endParaRPr lang="en-US" sz="2200" dirty="0"/>
          </a:p>
        </p:txBody>
      </p:sp>
      <p:sp>
        <p:nvSpPr>
          <p:cNvPr id="6" name="Text 4"/>
          <p:cNvSpPr txBox="1"/>
          <p:nvPr/>
        </p:nvSpPr>
        <p:spPr>
          <a:xfrm>
            <a:off x="8778240" y="2898648"/>
            <a:ext cx="2679192" cy="411480"/>
          </a:xfrm>
          <a:prstGeom prst="rect">
            <a:avLst/>
          </a:prstGeom>
          <a:noFill/>
          <a:ln/>
        </p:spPr>
        <p:txBody>
          <a:bodyPr wrap="square" lIns="0" tIns="0" rIns="0" bIns="0" rtlCol="0" anchor="t"/>
          <a:lstStyle/>
          <a:p>
            <a:pPr algn="r" indent="0" marL="0">
              <a:buNone/>
            </a:pPr>
            <a:r>
              <a:rPr lang="en-US" sz="1600" dirty="0">
                <a:solidFill>
                  <a:srgbClr val="C3CCD5"/>
                </a:solidFill>
                <a:latin typeface="Arial" pitchFamily="34" charset="0"/>
                <a:ea typeface="Arial" pitchFamily="34" charset="-122"/>
                <a:cs typeface="Arial" pitchFamily="34" charset="-120"/>
              </a:rPr>
              <a:t>[When]</a:t>
            </a:r>
            <a:endParaRPr lang="en-US" sz="1600" dirty="0"/>
          </a:p>
        </p:txBody>
      </p:sp>
      <p:sp>
        <p:nvSpPr>
          <p:cNvPr id="7" name="Shape 5"/>
          <p:cNvSpPr/>
          <p:nvPr/>
        </p:nvSpPr>
        <p:spPr>
          <a:xfrm>
            <a:off x="731520" y="3566160"/>
            <a:ext cx="10725912" cy="0"/>
          </a:xfrm>
          <a:prstGeom prst="line">
            <a:avLst/>
          </a:prstGeom>
          <a:noFill/>
          <a:ln w="9525">
            <a:solidFill>
              <a:srgbClr val="34475C"/>
            </a:solidFill>
            <a:prstDash val="solid"/>
          </a:ln>
        </p:spPr>
      </p:sp>
      <p:sp>
        <p:nvSpPr>
          <p:cNvPr id="8" name="Text 6"/>
          <p:cNvSpPr txBox="1"/>
          <p:nvPr/>
        </p:nvSpPr>
        <p:spPr>
          <a:xfrm>
            <a:off x="731520" y="3822192"/>
            <a:ext cx="7772400" cy="45720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[Decision two]</a:t>
            </a:r>
            <a:endParaRPr lang="en-US" sz="2200" dirty="0"/>
          </a:p>
        </p:txBody>
      </p:sp>
      <p:sp>
        <p:nvSpPr>
          <p:cNvPr id="9" name="Text 7"/>
          <p:cNvSpPr txBox="1"/>
          <p:nvPr/>
        </p:nvSpPr>
        <p:spPr>
          <a:xfrm>
            <a:off x="8778240" y="3858768"/>
            <a:ext cx="2679192" cy="411480"/>
          </a:xfrm>
          <a:prstGeom prst="rect">
            <a:avLst/>
          </a:prstGeom>
          <a:noFill/>
          <a:ln/>
        </p:spPr>
        <p:txBody>
          <a:bodyPr wrap="square" lIns="0" tIns="0" rIns="0" bIns="0" rtlCol="0" anchor="t"/>
          <a:lstStyle/>
          <a:p>
            <a:pPr algn="r" indent="0" marL="0">
              <a:buNone/>
            </a:pPr>
            <a:r>
              <a:rPr lang="en-US" sz="1600" dirty="0">
                <a:solidFill>
                  <a:srgbClr val="C3CCD5"/>
                </a:solidFill>
                <a:latin typeface="Arial" pitchFamily="34" charset="0"/>
                <a:ea typeface="Arial" pitchFamily="34" charset="-122"/>
                <a:cs typeface="Arial" pitchFamily="34" charset="-120"/>
              </a:rPr>
              <a:t>[When]</a:t>
            </a:r>
            <a:endParaRPr lang="en-US" sz="1600" dirty="0"/>
          </a:p>
        </p:txBody>
      </p:sp>
      <p:sp>
        <p:nvSpPr>
          <p:cNvPr id="10" name="Shape 8"/>
          <p:cNvSpPr/>
          <p:nvPr/>
        </p:nvSpPr>
        <p:spPr>
          <a:xfrm>
            <a:off x="731520" y="4526280"/>
            <a:ext cx="10725912" cy="0"/>
          </a:xfrm>
          <a:prstGeom prst="line">
            <a:avLst/>
          </a:prstGeom>
          <a:noFill/>
          <a:ln w="9525">
            <a:solidFill>
              <a:srgbClr val="34475C"/>
            </a:solidFill>
            <a:prstDash val="solid"/>
          </a:ln>
        </p:spPr>
      </p:sp>
      <p:sp>
        <p:nvSpPr>
          <p:cNvPr id="11" name="Text 9"/>
          <p:cNvSpPr txBox="1"/>
          <p:nvPr/>
        </p:nvSpPr>
        <p:spPr>
          <a:xfrm>
            <a:off x="731520" y="4782312"/>
            <a:ext cx="7772400" cy="45720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[Decision three]</a:t>
            </a:r>
            <a:endParaRPr lang="en-US" sz="2200" dirty="0"/>
          </a:p>
        </p:txBody>
      </p:sp>
      <p:sp>
        <p:nvSpPr>
          <p:cNvPr id="12" name="Text 10"/>
          <p:cNvSpPr txBox="1"/>
          <p:nvPr/>
        </p:nvSpPr>
        <p:spPr>
          <a:xfrm>
            <a:off x="8778240" y="4818888"/>
            <a:ext cx="2679192" cy="411480"/>
          </a:xfrm>
          <a:prstGeom prst="rect">
            <a:avLst/>
          </a:prstGeom>
          <a:noFill/>
          <a:ln/>
        </p:spPr>
        <p:txBody>
          <a:bodyPr wrap="square" lIns="0" tIns="0" rIns="0" bIns="0" rtlCol="0" anchor="t"/>
          <a:lstStyle/>
          <a:p>
            <a:pPr algn="r" indent="0" marL="0">
              <a:buNone/>
            </a:pPr>
            <a:r>
              <a:rPr lang="en-US" sz="1600" dirty="0">
                <a:solidFill>
                  <a:srgbClr val="C3CCD5"/>
                </a:solidFill>
                <a:latin typeface="Arial" pitchFamily="34" charset="0"/>
                <a:ea typeface="Arial" pitchFamily="34" charset="-122"/>
                <a:cs typeface="Arial" pitchFamily="34" charset="-120"/>
              </a:rPr>
              <a:t>[When]</a:t>
            </a:r>
            <a:endParaRPr lang="en-US" sz="1600" dirty="0"/>
          </a:p>
        </p:txBody>
      </p:sp>
      <p:sp>
        <p:nvSpPr>
          <p:cNvPr id="13" name="Shape 11"/>
          <p:cNvSpPr/>
          <p:nvPr/>
        </p:nvSpPr>
        <p:spPr>
          <a:xfrm>
            <a:off x="731520" y="5486400"/>
            <a:ext cx="10725912" cy="0"/>
          </a:xfrm>
          <a:prstGeom prst="line">
            <a:avLst/>
          </a:prstGeom>
          <a:noFill/>
          <a:ln w="9525">
            <a:solidFill>
              <a:srgbClr val="34475C"/>
            </a:solidFill>
            <a:prstDash val="solid"/>
          </a:ln>
        </p:spPr>
      </p:sp>
      <p:sp>
        <p:nvSpPr>
          <p:cNvPr id="14" name="Text 12"/>
          <p:cNvSpPr txBox="1"/>
          <p:nvPr/>
        </p:nvSpPr>
        <p:spPr>
          <a:xfrm>
            <a:off x="731520" y="5806440"/>
            <a:ext cx="7315200" cy="365760"/>
          </a:xfrm>
          <a:prstGeom prst="rect">
            <a:avLst/>
          </a:prstGeom>
          <a:noFill/>
          <a:ln/>
        </p:spPr>
        <p:txBody>
          <a:bodyPr wrap="square" lIns="0" tIns="0" rIns="0" bIns="0" rtlCol="0" anchor="t"/>
          <a:lstStyle/>
          <a:p>
            <a:pPr indent="0" marL="0">
              <a:buNone/>
            </a:pPr>
            <a:r>
              <a:rPr lang="en-US" sz="1400" dirty="0">
                <a:solidFill>
                  <a:srgbClr val="C3CCD5"/>
                </a:solidFill>
                <a:latin typeface="Arial" pitchFamily="34" charset="0"/>
                <a:ea typeface="Arial" pitchFamily="34" charset="-122"/>
                <a:cs typeface="Arial" pitchFamily="34" charset="-120"/>
              </a:rPr>
              <a:t>Thank you. We welcome your questions.</a:t>
            </a:r>
            <a:endParaRPr lang="en-US" sz="1400" dirty="0"/>
          </a:p>
        </p:txBody>
      </p:sp>
      <p:sp>
        <p:nvSpPr>
          <p:cNvPr id="16" name="Text 0"/>
          <p:cNvSpPr/>
          <p:nvPr>
            <p:ph idx="100" type="title" hasCustomPrompt="1"/>
          </p:nvPr>
        </p:nvSpPr>
        <p:spPr>
          <a:xfrm>
            <a:off x="731520" y="2148840"/>
            <a:ext cx="10241280" cy="1280160"/>
          </a:xfrm>
          <a:prstGeom prst="rect">
            <a:avLst/>
          </a:prstGeom>
          <a:noFill/>
          <a:ln/>
        </p:spPr>
        <p:txBody>
          <a:bodyPr wrap="square" lIns="0" tIns="0" rIns="0" bIns="0" rtlCol="0" anchor="b"/>
          <a:lstStyle/>
          <a:p>
            <a:pPr algn="l" indent="0" marL="0">
              <a:buNone/>
            </a:pPr>
            <a:endParaRPr lang="en-US" sz="4600" dirty="0"/>
          </a:p>
        </p:txBody>
      </p:sp>
      <p:sp>
        <p:nvSpPr>
          <p:cNvPr id="17" name="Text 0"/>
          <p:cNvSpPr/>
          <p:nvPr>
            <p:ph idx="101" type="body" hasCustomPrompt="1"/>
          </p:nvPr>
        </p:nvSpPr>
        <p:spPr>
          <a:xfrm>
            <a:off x="731520" y="3611880"/>
            <a:ext cx="10241280" cy="64008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241280" cy="1280160"/>
          </a:xfrm>
          <a:prstGeom prst="rect">
            <a:avLst/>
          </a:prstGeom>
          <a:noFill/>
          <a:ln/>
        </p:spPr>
        <p:txBody>
          <a:bodyPr wrap="square" lIns="0" tIns="0" rIns="0" bIns="0" rtlCol="0" anchor="b"/>
          <a:lstStyle/>
          <a:p>
            <a:pPr algn="l" indent="0" marL="0">
              <a:buNone/>
            </a:pPr>
            <a:r>
              <a:rPr lang="en-US" sz="4600" dirty="0">
                <a:solidFill>
                  <a:srgbClr val="FFFFFF"/>
                </a:solidFill>
                <a:latin typeface="Georgia" pitchFamily="34" charset="0"/>
                <a:ea typeface="Georgia" pitchFamily="34" charset="-122"/>
                <a:cs typeface="Georgia" pitchFamily="34" charset="-120"/>
              </a:rPr>
              <a:t>Appendix</a:t>
            </a:r>
            <a:endParaRPr lang="en-US" sz="4600" dirty="0"/>
          </a:p>
        </p:txBody>
      </p:sp>
      <p:sp>
        <p:nvSpPr>
          <p:cNvPr id="3" name="Text 0"/>
          <p:cNvSpPr/>
          <p:nvPr>
            <p:ph idx="101" type="body" hasCustomPrompt="1"/>
          </p:nvPr>
        </p:nvSpPr>
        <p:spPr>
          <a:xfrm>
            <a:off x="731520" y="3611880"/>
            <a:ext cx="10241280" cy="640080"/>
          </a:xfrm>
          <a:prstGeom prst="rect">
            <a:avLst/>
          </a:prstGeom>
          <a:noFill/>
          <a:ln/>
        </p:spPr>
        <p:txBody>
          <a:bodyPr wrap="square" lIns="0" tIns="0" rIns="0" bIns="0" rtlCol="0" anchor="t"/>
          <a:lstStyle/>
          <a:p>
            <a:pPr algn="l" indent="0" marL="0">
              <a:buNone/>
            </a:pPr>
            <a:r>
              <a:rPr lang="en-US" sz="2000" dirty="0">
                <a:solidFill>
                  <a:srgbClr val="C3CCD5"/>
                </a:solidFill>
                <a:latin typeface="Arial" pitchFamily="34" charset="0"/>
                <a:ea typeface="Arial" pitchFamily="34" charset="-122"/>
                <a:cs typeface="Arial" pitchFamily="34" charset="-120"/>
              </a:rPr>
              <a:t>Backup for questions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A higher grid price moves the hybrid's cost most, and a 2-hour battery would cut it most</a:t>
            </a:r>
            <a:endParaRPr lang="en-US" sz="2400" dirty="0"/>
          </a:p>
        </p:txBody>
      </p:sp>
      <p:sp>
        <p:nvSpPr>
          <p:cNvPr id="3" name="Unit line"/>
          <p:cNvSpPr txBox="1"/>
          <p:nvPr/>
        </p:nvSpPr>
        <p:spPr>
          <a:xfrm>
            <a:off x="548640" y="1600200"/>
            <a:ext cx="10972800" cy="274320"/>
          </a:xfrm>
          <a:prstGeom prst="rect">
            <a:avLst/>
          </a:prstGeom>
          <a:noFill/>
          <a:ln/>
        </p:spPr>
        <p:txBody>
          <a:bodyPr wrap="square" lIns="0" tIns="0" rIns="0" bIns="0" rtlCol="0" anchor="t"/>
          <a:lstStyle/>
          <a:p>
            <a:pPr indent="0" marL="0">
              <a:buNone/>
            </a:pPr>
            <a:r>
              <a:rPr lang="en-US" sz="1200" dirty="0">
                <a:solidFill>
                  <a:srgbClr val="4F5B66"/>
                </a:solidFill>
                <a:latin typeface="Arial" pitchFamily="34" charset="0"/>
                <a:ea typeface="Arial" pitchFamily="34" charset="-122"/>
                <a:cs typeface="Arial" pitchFamily="34" charset="-120"/>
              </a:rPr>
              <a:t>Change in hybrid cost from $113.6 per MWh when one input moves to its low or high end, $ per MWh</a:t>
            </a:r>
            <a:endParaRPr lang="en-US" sz="1200" dirty="0"/>
          </a:p>
        </p:txBody>
      </p:sp>
      <p:sp>
        <p:nvSpPr>
          <p:cNvPr id="4" name="Shape 2"/>
          <p:cNvSpPr/>
          <p:nvPr/>
        </p:nvSpPr>
        <p:spPr>
          <a:xfrm>
            <a:off x="6949440" y="2011680"/>
            <a:ext cx="0" cy="3840480"/>
          </a:xfrm>
          <a:prstGeom prst="line">
            <a:avLst/>
          </a:prstGeom>
          <a:noFill/>
          <a:ln w="15875">
            <a:solidFill>
              <a:srgbClr val="1A2433"/>
            </a:solidFill>
            <a:prstDash val="solid"/>
          </a:ln>
        </p:spPr>
      </p:sp>
      <p:sp>
        <p:nvSpPr>
          <p:cNvPr id="5" name="Text 3"/>
          <p:cNvSpPr txBox="1"/>
          <p:nvPr/>
        </p:nvSpPr>
        <p:spPr>
          <a:xfrm>
            <a:off x="548640" y="2167128"/>
            <a:ext cx="393192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Grid price rises to $110.4</a:t>
            </a:r>
            <a:endParaRPr lang="en-US" sz="1300" dirty="0"/>
          </a:p>
        </p:txBody>
      </p:sp>
      <p:sp>
        <p:nvSpPr>
          <p:cNvPr id="6" name="Bar 1"/>
          <p:cNvSpPr/>
          <p:nvPr/>
        </p:nvSpPr>
        <p:spPr>
          <a:xfrm>
            <a:off x="6949440" y="2148840"/>
            <a:ext cx="2611526" cy="365760"/>
          </a:xfrm>
          <a:prstGeom prst="rect">
            <a:avLst/>
          </a:prstGeom>
          <a:solidFill>
            <a:srgbClr val="B4442F"/>
          </a:solidFill>
          <a:ln/>
        </p:spPr>
      </p:sp>
      <p:sp>
        <p:nvSpPr>
          <p:cNvPr id="7" name="Text 5"/>
          <p:cNvSpPr txBox="1"/>
          <p:nvPr/>
        </p:nvSpPr>
        <p:spPr>
          <a:xfrm>
            <a:off x="9652406" y="2185416"/>
            <a:ext cx="914400" cy="292608"/>
          </a:xfrm>
          <a:prstGeom prst="rect">
            <a:avLst/>
          </a:prstGeom>
          <a:noFill/>
          <a:ln/>
        </p:spPr>
        <p:txBody>
          <a:bodyPr wrap="square" lIns="0" tIns="0" rIns="0" bIns="0" rtlCol="0" anchor="t"/>
          <a:lstStyle/>
          <a:p>
            <a:pPr algn="l" indent="0" marL="0">
              <a:buNone/>
            </a:pPr>
            <a:r>
              <a:rPr lang="en-US" sz="1300" b="1" dirty="0">
                <a:solidFill>
                  <a:srgbClr val="1A2433"/>
                </a:solidFill>
                <a:latin typeface="Arial" pitchFamily="34" charset="0"/>
                <a:ea typeface="Arial" pitchFamily="34" charset="-122"/>
                <a:cs typeface="Arial" pitchFamily="34" charset="-120"/>
              </a:rPr>
              <a:t>+$16.8</a:t>
            </a:r>
            <a:endParaRPr lang="en-US" sz="1300" dirty="0"/>
          </a:p>
        </p:txBody>
      </p:sp>
      <p:sp>
        <p:nvSpPr>
          <p:cNvPr id="8" name="Text 6"/>
          <p:cNvSpPr txBox="1"/>
          <p:nvPr/>
        </p:nvSpPr>
        <p:spPr>
          <a:xfrm>
            <a:off x="548640" y="2788920"/>
            <a:ext cx="393192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Battery covers 2 hours instead of 4</a:t>
            </a:r>
            <a:endParaRPr lang="en-US" sz="1300" dirty="0"/>
          </a:p>
        </p:txBody>
      </p:sp>
      <p:sp>
        <p:nvSpPr>
          <p:cNvPr id="9" name="Bar 2"/>
          <p:cNvSpPr/>
          <p:nvPr/>
        </p:nvSpPr>
        <p:spPr>
          <a:xfrm>
            <a:off x="5099609" y="2770632"/>
            <a:ext cx="1849831" cy="365760"/>
          </a:xfrm>
          <a:prstGeom prst="rect">
            <a:avLst/>
          </a:prstGeom>
          <a:solidFill>
            <a:srgbClr val="2E7D5B"/>
          </a:solidFill>
          <a:ln/>
        </p:spPr>
      </p:sp>
      <p:sp>
        <p:nvSpPr>
          <p:cNvPr id="10" name="Text 8"/>
          <p:cNvSpPr txBox="1"/>
          <p:nvPr/>
        </p:nvSpPr>
        <p:spPr>
          <a:xfrm>
            <a:off x="4093769" y="2807208"/>
            <a:ext cx="914400" cy="292608"/>
          </a:xfrm>
          <a:prstGeom prst="rect">
            <a:avLst/>
          </a:prstGeom>
          <a:noFill/>
          <a:ln/>
        </p:spPr>
        <p:txBody>
          <a:bodyPr wrap="square" lIns="0" tIns="0" rIns="0" bIns="0" rtlCol="0" anchor="t"/>
          <a:lstStyle/>
          <a:p>
            <a:pPr algn="r" indent="0" marL="0">
              <a:buNone/>
            </a:pPr>
            <a:r>
              <a:rPr lang="en-US" sz="1300" b="1" dirty="0">
                <a:solidFill>
                  <a:srgbClr val="1A2433"/>
                </a:solidFill>
                <a:latin typeface="Arial" pitchFamily="34" charset="0"/>
                <a:ea typeface="Arial" pitchFamily="34" charset="-122"/>
                <a:cs typeface="Arial" pitchFamily="34" charset="-120"/>
              </a:rPr>
              <a:t>-$11.9</a:t>
            </a:r>
            <a:endParaRPr lang="en-US" sz="1300" dirty="0"/>
          </a:p>
        </p:txBody>
      </p:sp>
      <p:sp>
        <p:nvSpPr>
          <p:cNvPr id="11" name="Text 9"/>
          <p:cNvSpPr txBox="1"/>
          <p:nvPr/>
        </p:nvSpPr>
        <p:spPr>
          <a:xfrm>
            <a:off x="548640" y="3410712"/>
            <a:ext cx="393192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PPA price falls to $52.65</a:t>
            </a:r>
            <a:endParaRPr lang="en-US" sz="1300" dirty="0"/>
          </a:p>
        </p:txBody>
      </p:sp>
      <p:sp>
        <p:nvSpPr>
          <p:cNvPr id="12" name="Bar 3"/>
          <p:cNvSpPr/>
          <p:nvPr/>
        </p:nvSpPr>
        <p:spPr>
          <a:xfrm>
            <a:off x="5534863" y="3392424"/>
            <a:ext cx="1414577" cy="365760"/>
          </a:xfrm>
          <a:prstGeom prst="rect">
            <a:avLst/>
          </a:prstGeom>
          <a:solidFill>
            <a:srgbClr val="2E7D5B"/>
          </a:solidFill>
          <a:ln/>
        </p:spPr>
      </p:sp>
      <p:sp>
        <p:nvSpPr>
          <p:cNvPr id="13" name="Text 11"/>
          <p:cNvSpPr txBox="1"/>
          <p:nvPr/>
        </p:nvSpPr>
        <p:spPr>
          <a:xfrm>
            <a:off x="4529023" y="3429000"/>
            <a:ext cx="914400" cy="292608"/>
          </a:xfrm>
          <a:prstGeom prst="rect">
            <a:avLst/>
          </a:prstGeom>
          <a:noFill/>
          <a:ln/>
        </p:spPr>
        <p:txBody>
          <a:bodyPr wrap="square" lIns="0" tIns="0" rIns="0" bIns="0" rtlCol="0" anchor="t"/>
          <a:lstStyle/>
          <a:p>
            <a:pPr algn="r" indent="0" marL="0">
              <a:buNone/>
            </a:pPr>
            <a:r>
              <a:rPr lang="en-US" sz="1300" b="1" dirty="0">
                <a:solidFill>
                  <a:srgbClr val="1A2433"/>
                </a:solidFill>
                <a:latin typeface="Arial" pitchFamily="34" charset="0"/>
                <a:ea typeface="Arial" pitchFamily="34" charset="-122"/>
                <a:cs typeface="Arial" pitchFamily="34" charset="-120"/>
              </a:rPr>
              <a:t>-$9.1</a:t>
            </a:r>
            <a:endParaRPr lang="en-US" sz="1300" dirty="0"/>
          </a:p>
        </p:txBody>
      </p:sp>
      <p:sp>
        <p:nvSpPr>
          <p:cNvPr id="14" name="Text 12"/>
          <p:cNvSpPr txBox="1"/>
          <p:nvPr/>
        </p:nvSpPr>
        <p:spPr>
          <a:xfrm>
            <a:off x="548640" y="4032504"/>
            <a:ext cx="393192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Battery cost falls to $207 per kWh</a:t>
            </a:r>
            <a:endParaRPr lang="en-US" sz="1300" dirty="0"/>
          </a:p>
        </p:txBody>
      </p:sp>
      <p:sp>
        <p:nvSpPr>
          <p:cNvPr id="15" name="Bar 4"/>
          <p:cNvSpPr/>
          <p:nvPr/>
        </p:nvSpPr>
        <p:spPr>
          <a:xfrm>
            <a:off x="5534863" y="4014216"/>
            <a:ext cx="1414577" cy="365760"/>
          </a:xfrm>
          <a:prstGeom prst="rect">
            <a:avLst/>
          </a:prstGeom>
          <a:solidFill>
            <a:srgbClr val="2E7D5B"/>
          </a:solidFill>
          <a:ln/>
        </p:spPr>
      </p:sp>
      <p:sp>
        <p:nvSpPr>
          <p:cNvPr id="16" name="Text 14"/>
          <p:cNvSpPr txBox="1"/>
          <p:nvPr/>
        </p:nvSpPr>
        <p:spPr>
          <a:xfrm>
            <a:off x="4529023" y="4050792"/>
            <a:ext cx="914400" cy="292608"/>
          </a:xfrm>
          <a:prstGeom prst="rect">
            <a:avLst/>
          </a:prstGeom>
          <a:noFill/>
          <a:ln/>
        </p:spPr>
        <p:txBody>
          <a:bodyPr wrap="square" lIns="0" tIns="0" rIns="0" bIns="0" rtlCol="0" anchor="t"/>
          <a:lstStyle/>
          <a:p>
            <a:pPr algn="r" indent="0" marL="0">
              <a:buNone/>
            </a:pPr>
            <a:r>
              <a:rPr lang="en-US" sz="1300" b="1" dirty="0">
                <a:solidFill>
                  <a:srgbClr val="1A2433"/>
                </a:solidFill>
                <a:latin typeface="Arial" pitchFamily="34" charset="0"/>
                <a:ea typeface="Arial" pitchFamily="34" charset="-122"/>
                <a:cs typeface="Arial" pitchFamily="34" charset="-120"/>
              </a:rPr>
              <a:t>-$9.1</a:t>
            </a:r>
            <a:endParaRPr lang="en-US" sz="1300" dirty="0"/>
          </a:p>
        </p:txBody>
      </p:sp>
      <p:sp>
        <p:nvSpPr>
          <p:cNvPr id="17" name="Text 15"/>
          <p:cNvSpPr txBox="1"/>
          <p:nvPr/>
        </p:nvSpPr>
        <p:spPr>
          <a:xfrm>
            <a:off x="548640" y="4654296"/>
            <a:ext cx="393192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Wholesale price rises to $74.06</a:t>
            </a:r>
            <a:endParaRPr lang="en-US" sz="1300" dirty="0"/>
          </a:p>
        </p:txBody>
      </p:sp>
      <p:sp>
        <p:nvSpPr>
          <p:cNvPr id="18" name="Bar 5"/>
          <p:cNvSpPr/>
          <p:nvPr/>
        </p:nvSpPr>
        <p:spPr>
          <a:xfrm>
            <a:off x="5783580" y="4636008"/>
            <a:ext cx="1165860" cy="365760"/>
          </a:xfrm>
          <a:prstGeom prst="rect">
            <a:avLst/>
          </a:prstGeom>
          <a:solidFill>
            <a:srgbClr val="2E7D5B"/>
          </a:solidFill>
          <a:ln/>
        </p:spPr>
      </p:sp>
      <p:sp>
        <p:nvSpPr>
          <p:cNvPr id="19" name="Text 17"/>
          <p:cNvSpPr txBox="1"/>
          <p:nvPr/>
        </p:nvSpPr>
        <p:spPr>
          <a:xfrm>
            <a:off x="4777740" y="4672584"/>
            <a:ext cx="914400" cy="292608"/>
          </a:xfrm>
          <a:prstGeom prst="rect">
            <a:avLst/>
          </a:prstGeom>
          <a:noFill/>
          <a:ln/>
        </p:spPr>
        <p:txBody>
          <a:bodyPr wrap="square" lIns="0" tIns="0" rIns="0" bIns="0" rtlCol="0" anchor="t"/>
          <a:lstStyle/>
          <a:p>
            <a:pPr algn="r" indent="0" marL="0">
              <a:buNone/>
            </a:pPr>
            <a:r>
              <a:rPr lang="en-US" sz="1300" b="1" dirty="0">
                <a:solidFill>
                  <a:srgbClr val="1A2433"/>
                </a:solidFill>
                <a:latin typeface="Arial" pitchFamily="34" charset="0"/>
                <a:ea typeface="Arial" pitchFamily="34" charset="-122"/>
                <a:cs typeface="Arial" pitchFamily="34" charset="-120"/>
              </a:rPr>
              <a:t>-$7.5</a:t>
            </a:r>
            <a:endParaRPr lang="en-US" sz="1300" dirty="0"/>
          </a:p>
        </p:txBody>
      </p:sp>
      <p:sp>
        <p:nvSpPr>
          <p:cNvPr id="20" name="Text 18"/>
          <p:cNvSpPr txBox="1"/>
          <p:nvPr/>
        </p:nvSpPr>
        <p:spPr>
          <a:xfrm>
            <a:off x="548640" y="5276088"/>
            <a:ext cx="3931920" cy="320040"/>
          </a:xfrm>
          <a:prstGeom prst="rect">
            <a:avLst/>
          </a:prstGeom>
          <a:noFill/>
          <a:ln/>
        </p:spPr>
        <p:txBody>
          <a:bodyPr wrap="square" lIns="0" tIns="0" rIns="0" bIns="0" rtlCol="0" anchor="t"/>
          <a:lstStyle/>
          <a:p>
            <a:pPr indent="0" marL="0">
              <a:buNone/>
            </a:pPr>
            <a:r>
              <a:rPr lang="en-US" sz="1300" dirty="0">
                <a:solidFill>
                  <a:srgbClr val="1A2433"/>
                </a:solidFill>
                <a:latin typeface="Arial" pitchFamily="34" charset="0"/>
                <a:ea typeface="Arial" pitchFamily="34" charset="-122"/>
                <a:cs typeface="Arial" pitchFamily="34" charset="-120"/>
              </a:rPr>
              <a:t>Battery cost rises to $365 per kWh</a:t>
            </a:r>
            <a:endParaRPr lang="en-US" sz="1300" dirty="0"/>
          </a:p>
        </p:txBody>
      </p:sp>
      <p:sp>
        <p:nvSpPr>
          <p:cNvPr id="21" name="Bar 6"/>
          <p:cNvSpPr/>
          <p:nvPr/>
        </p:nvSpPr>
        <p:spPr>
          <a:xfrm>
            <a:off x="6949440" y="5257800"/>
            <a:ext cx="341986" cy="365760"/>
          </a:xfrm>
          <a:prstGeom prst="rect">
            <a:avLst/>
          </a:prstGeom>
          <a:solidFill>
            <a:srgbClr val="B4442F"/>
          </a:solidFill>
          <a:ln/>
        </p:spPr>
      </p:sp>
      <p:sp>
        <p:nvSpPr>
          <p:cNvPr id="22" name="Text 20"/>
          <p:cNvSpPr txBox="1"/>
          <p:nvPr/>
        </p:nvSpPr>
        <p:spPr>
          <a:xfrm>
            <a:off x="7382866" y="5294376"/>
            <a:ext cx="914400" cy="292608"/>
          </a:xfrm>
          <a:prstGeom prst="rect">
            <a:avLst/>
          </a:prstGeom>
          <a:noFill/>
          <a:ln/>
        </p:spPr>
        <p:txBody>
          <a:bodyPr wrap="square" lIns="0" tIns="0" rIns="0" bIns="0" rtlCol="0" anchor="t"/>
          <a:lstStyle/>
          <a:p>
            <a:pPr algn="l" indent="0" marL="0">
              <a:buNone/>
            </a:pPr>
            <a:r>
              <a:rPr lang="en-US" sz="1300" b="1" dirty="0">
                <a:solidFill>
                  <a:srgbClr val="1A2433"/>
                </a:solidFill>
                <a:latin typeface="Arial" pitchFamily="34" charset="0"/>
                <a:ea typeface="Arial" pitchFamily="34" charset="-122"/>
                <a:cs typeface="Arial" pitchFamily="34" charset="-120"/>
              </a:rPr>
              <a:t>+$2.2</a:t>
            </a:r>
            <a:endParaRPr lang="en-US" sz="1300" dirty="0"/>
          </a:p>
        </p:txBody>
      </p:sp>
      <p:sp>
        <p:nvSpPr>
          <p:cNvPr id="23" name="Text 21"/>
          <p:cNvSpPr txBox="1"/>
          <p:nvPr/>
        </p:nvSpPr>
        <p:spPr>
          <a:xfrm>
            <a:off x="5486400" y="5806440"/>
            <a:ext cx="1325880" cy="228600"/>
          </a:xfrm>
          <a:prstGeom prst="rect">
            <a:avLst/>
          </a:prstGeom>
          <a:noFill/>
          <a:ln/>
        </p:spPr>
        <p:txBody>
          <a:bodyPr wrap="square" lIns="0" tIns="0" rIns="0" bIns="0" rtlCol="0" anchor="t"/>
          <a:lstStyle/>
          <a:p>
            <a:pPr algn="r" indent="0" marL="0">
              <a:buNone/>
            </a:pPr>
            <a:r>
              <a:rPr lang="en-US" sz="1100" dirty="0">
                <a:solidFill>
                  <a:srgbClr val="4F5B66"/>
                </a:solidFill>
                <a:latin typeface="Arial" pitchFamily="34" charset="0"/>
                <a:ea typeface="Arial" pitchFamily="34" charset="-122"/>
                <a:cs typeface="Arial" pitchFamily="34" charset="-120"/>
              </a:rPr>
              <a:t>Cheaper</a:t>
            </a:r>
            <a:endParaRPr lang="en-US" sz="1100" dirty="0"/>
          </a:p>
        </p:txBody>
      </p:sp>
      <p:sp>
        <p:nvSpPr>
          <p:cNvPr id="24" name="Text 22"/>
          <p:cNvSpPr txBox="1"/>
          <p:nvPr/>
        </p:nvSpPr>
        <p:spPr>
          <a:xfrm>
            <a:off x="7086600" y="5806440"/>
            <a:ext cx="1371600" cy="228600"/>
          </a:xfrm>
          <a:prstGeom prst="rect">
            <a:avLst/>
          </a:prstGeom>
          <a:noFill/>
          <a:ln/>
        </p:spPr>
        <p:txBody>
          <a:bodyPr wrap="square" lIns="0" tIns="0" rIns="0" bIns="0" rtlCol="0" anchor="t"/>
          <a:lstStyle/>
          <a:p>
            <a:pPr indent="0" marL="0">
              <a:buNone/>
            </a:pPr>
            <a:r>
              <a:rPr lang="en-US" sz="1100" dirty="0">
                <a:solidFill>
                  <a:srgbClr val="4F5B66"/>
                </a:solidFill>
                <a:latin typeface="Arial" pitchFamily="34" charset="0"/>
                <a:ea typeface="Arial" pitchFamily="34" charset="-122"/>
                <a:cs typeface="Arial" pitchFamily="34" charset="-120"/>
              </a:rPr>
              <a:t>Costlier</a:t>
            </a:r>
            <a:endParaRPr lang="en-US" sz="1100" dirty="0"/>
          </a:p>
        </p:txBody>
      </p:sp>
      <p:sp>
        <p:nvSpPr>
          <p:cNvPr id="25"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C959D"/>
                </a:solidFill>
                <a:latin typeface="Arial" pitchFamily="34" charset="0"/>
                <a:ea typeface="Arial" pitchFamily="34" charset="-122"/>
                <a:cs typeface="Arial" pitchFamily="34" charset="-120"/>
              </a:rPr>
              <a:t>Source: SLAM analysis, Ironwood energy snapshot, 19 October 2026</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400" dirty="0">
                <a:solidFill>
                  <a:srgbClr val="1A2433"/>
                </a:solidFill>
                <a:latin typeface="Georgia" pitchFamily="34" charset="0"/>
                <a:ea typeface="Georgia" pitchFamily="34" charset="-122"/>
                <a:cs typeface="Georgia" pitchFamily="34" charset="-120"/>
              </a:rPr>
              <a:t>Sources</a:t>
            </a:r>
            <a:endParaRPr lang="en-US" sz="2400" dirty="0"/>
          </a:p>
        </p:txBody>
      </p:sp>
      <p:sp>
        <p:nvSpPr>
          <p:cNvPr id="3" name="Text 1"/>
          <p:cNvSpPr txBox="1"/>
          <p:nvPr/>
        </p:nvSpPr>
        <p:spPr>
          <a:xfrm>
            <a:off x="548640" y="1645920"/>
            <a:ext cx="53035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PJM, 2028/2029 Base Residual Auction report</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PJM Independent Market Monitor, 27 July 2026</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PJM, 2025 State of the Market report</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EPA, eGRID2023 summary tables</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Duke University, Rethinking Load Growth</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PJM Board letter on large load additions, 16 January 2026</a:t>
            </a:r>
            <a:endParaRPr lang="en-US" sz="1400" dirty="0"/>
          </a:p>
        </p:txBody>
      </p:sp>
      <p:sp>
        <p:nvSpPr>
          <p:cNvPr id="4" name="Text 2"/>
          <p:cNvSpPr txBox="1"/>
          <p:nvPr/>
        </p:nvSpPr>
        <p:spPr>
          <a:xfrm>
            <a:off x="6336792" y="1645920"/>
            <a:ext cx="53035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Pennsylvania DCED, GRID Standards</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EIA, capital cost report (AEO2020)</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EIA, Short-Term Energy Outlook</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NREL, 2025 battery cost update</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LevelTen PPA price index, Q4 2025</a:t>
            </a:r>
            <a:endParaRPr lang="en-US" sz="1400" dirty="0"/>
          </a:p>
          <a:p>
            <a:pPr marL="177800" indent="-177800">
              <a:spcAft>
                <a:spcPts val="1000"/>
              </a:spcAft>
              <a:buSzPct val="100000"/>
              <a:buChar char="•"/>
            </a:pPr>
            <a:r>
              <a:rPr lang="en-US" sz="1400" dirty="0">
                <a:solidFill>
                  <a:srgbClr val="4F5B66"/>
                </a:solidFill>
                <a:latin typeface="Arial" pitchFamily="34" charset="0"/>
                <a:ea typeface="Arial" pitchFamily="34" charset="-122"/>
                <a:cs typeface="Arial" pitchFamily="34" charset="-120"/>
              </a:rPr>
              <a:t>[Add team sources]</a:t>
            </a:r>
            <a:endParaRPr lang="en-US" sz="14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959D"/>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SLAM Consulting">
  <a:themeElements>
    <a:clrScheme name="SLAM Consulting">
      <a:dk1>
        <a:srgbClr val="1A2433"/>
      </a:dk1>
      <a:lt1>
        <a:srgbClr val="FFFFFF"/>
      </a:lt1>
      <a:dk2>
        <a:srgbClr val="0E2238"/>
      </a:dk2>
      <a:lt2>
        <a:srgbClr val="F1EEE7"/>
      </a:lt2>
      <a:accent1>
        <a:srgbClr val="0E2238"/>
      </a:accent1>
      <a:accent2>
        <a:srgbClr val="E3A21A"/>
      </a:accent2>
      <a:accent3>
        <a:srgbClr val="A3ABB2"/>
      </a:accent3>
      <a:accent4>
        <a:srgbClr val="2E7D5B"/>
      </a:accent4>
      <a:accent5>
        <a:srgbClr val="B4442F"/>
      </a:accent5>
      <a:accent6>
        <a:srgbClr val="4F5B66"/>
      </a:accent6>
      <a:hlink>
        <a:srgbClr val="0E2238"/>
      </a:hlink>
      <a:folHlink>
        <a:srgbClr val="4F5B66"/>
      </a:folHlink>
    </a:clrScheme>
    <a:fontScheme name="SLAM Consulting">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Ironwood Data Center | SLAM Consulting</dc:title>
  <dc:subject>PptxGenJS Presentation</dc:subject>
  <dc:creator>SLAM Consulting</dc:creator>
  <cp:lastModifiedBy>SLAM Consulting</cp:lastModifiedBy>
  <cp:revision>1</cp:revision>
  <dcterms:created xsi:type="dcterms:W3CDTF">2026-10-21T22:51:20Z</dcterms:created>
  <dcterms:modified xsi:type="dcterms:W3CDTF">2026-10-21T22:51:20Z</dcterms:modified>
</cp:coreProperties>
</file>